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Lst>
  <p:notesMasterIdLst>
    <p:notesMasterId r:id="rId42"/>
  </p:notesMasterIdLst>
  <p:sldIdLst>
    <p:sldId id="2147469691" r:id="rId5"/>
    <p:sldId id="2147469859" r:id="rId6"/>
    <p:sldId id="2147479205" r:id="rId7"/>
    <p:sldId id="2147479206" r:id="rId8"/>
    <p:sldId id="2147479250" r:id="rId9"/>
    <p:sldId id="2147479209" r:id="rId10"/>
    <p:sldId id="2147479251" r:id="rId11"/>
    <p:sldId id="2147479252" r:id="rId12"/>
    <p:sldId id="2147479253" r:id="rId13"/>
    <p:sldId id="2147479254" r:id="rId14"/>
    <p:sldId id="2147479255" r:id="rId15"/>
    <p:sldId id="2147479259" r:id="rId16"/>
    <p:sldId id="2147479260" r:id="rId17"/>
    <p:sldId id="2147479217" r:id="rId18"/>
    <p:sldId id="258" r:id="rId19"/>
    <p:sldId id="259" r:id="rId20"/>
    <p:sldId id="260" r:id="rId21"/>
    <p:sldId id="261" r:id="rId22"/>
    <p:sldId id="262" r:id="rId23"/>
    <p:sldId id="263" r:id="rId24"/>
    <p:sldId id="264" r:id="rId25"/>
    <p:sldId id="265" r:id="rId26"/>
    <p:sldId id="266" r:id="rId27"/>
    <p:sldId id="273" r:id="rId28"/>
    <p:sldId id="274" r:id="rId29"/>
    <p:sldId id="275" r:id="rId30"/>
    <p:sldId id="276" r:id="rId31"/>
    <p:sldId id="277" r:id="rId32"/>
    <p:sldId id="278" r:id="rId33"/>
    <p:sldId id="2147479262" r:id="rId34"/>
    <p:sldId id="2147479263" r:id="rId35"/>
    <p:sldId id="2147479264" r:id="rId36"/>
    <p:sldId id="2147479203" r:id="rId37"/>
    <p:sldId id="2147479222" r:id="rId38"/>
    <p:sldId id="2147479224" r:id="rId39"/>
    <p:sldId id="2147479261" r:id="rId40"/>
    <p:sldId id="214747005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71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2B1B18-769A-4BE9-9A9E-F0BB4AAA8101}" v="11" dt="2026-03-17T01:38:25.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9" autoAdjust="0"/>
    <p:restoredTop sz="71751" autoAdjust="0"/>
  </p:normalViewPr>
  <p:slideViewPr>
    <p:cSldViewPr snapToGrid="0">
      <p:cViewPr varScale="1">
        <p:scale>
          <a:sx n="60" d="100"/>
          <a:sy n="60" d="100"/>
        </p:scale>
        <p:origin x="1445"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Jayaraman" userId="db2952f691cb49be" providerId="LiveId" clId="{E9C71306-6312-4CBE-9F61-A20E8FDA921D}"/>
    <pc:docChg chg="undo custSel addSld delSld modSld">
      <pc:chgData name="Anand Jayaraman" userId="db2952f691cb49be" providerId="LiveId" clId="{E9C71306-6312-4CBE-9F61-A20E8FDA921D}" dt="2026-03-17T01:56:58.399" v="220" actId="20577"/>
      <pc:docMkLst>
        <pc:docMk/>
      </pc:docMkLst>
      <pc:sldChg chg="delSp modSp add del mod setBg">
        <pc:chgData name="Anand Jayaraman" userId="db2952f691cb49be" providerId="LiveId" clId="{E9C71306-6312-4CBE-9F61-A20E8FDA921D}" dt="2026-03-17T01:38:30.765" v="138" actId="47"/>
        <pc:sldMkLst>
          <pc:docMk/>
          <pc:sldMk cId="0" sldId="256"/>
        </pc:sldMkLst>
        <pc:spChg chg="del">
          <ac:chgData name="Anand Jayaraman" userId="db2952f691cb49be" providerId="LiveId" clId="{E9C71306-6312-4CBE-9F61-A20E8FDA921D}" dt="2026-03-16T17:06:16.593" v="39" actId="478"/>
          <ac:spMkLst>
            <pc:docMk/>
            <pc:sldMk cId="0" sldId="256"/>
            <ac:spMk id="2" creationId="{00000000-0000-0000-0000-000000000000}"/>
          </ac:spMkLst>
        </pc:spChg>
        <pc:spChg chg="mod">
          <ac:chgData name="Anand Jayaraman" userId="db2952f691cb49be" providerId="LiveId" clId="{E9C71306-6312-4CBE-9F61-A20E8FDA921D}" dt="2026-03-16T17:06:26.145" v="44" actId="403"/>
          <ac:spMkLst>
            <pc:docMk/>
            <pc:sldMk cId="0" sldId="256"/>
            <ac:spMk id="3" creationId="{00000000-0000-0000-0000-000000000000}"/>
          </ac:spMkLst>
        </pc:spChg>
        <pc:spChg chg="del">
          <ac:chgData name="Anand Jayaraman" userId="db2952f691cb49be" providerId="LiveId" clId="{E9C71306-6312-4CBE-9F61-A20E8FDA921D}" dt="2026-03-16T17:06:03.332" v="36" actId="478"/>
          <ac:spMkLst>
            <pc:docMk/>
            <pc:sldMk cId="0" sldId="256"/>
            <ac:spMk id="4" creationId="{00000000-0000-0000-0000-000000000000}"/>
          </ac:spMkLst>
        </pc:spChg>
        <pc:spChg chg="del">
          <ac:chgData name="Anand Jayaraman" userId="db2952f691cb49be" providerId="LiveId" clId="{E9C71306-6312-4CBE-9F61-A20E8FDA921D}" dt="2026-03-16T17:06:07.276" v="37" actId="478"/>
          <ac:spMkLst>
            <pc:docMk/>
            <pc:sldMk cId="0" sldId="256"/>
            <ac:spMk id="5" creationId="{00000000-0000-0000-0000-000000000000}"/>
          </ac:spMkLst>
        </pc:spChg>
        <pc:spChg chg="del">
          <ac:chgData name="Anand Jayaraman" userId="db2952f691cb49be" providerId="LiveId" clId="{E9C71306-6312-4CBE-9F61-A20E8FDA921D}" dt="2026-03-16T17:07:17.568" v="45" actId="478"/>
          <ac:spMkLst>
            <pc:docMk/>
            <pc:sldMk cId="0" sldId="256"/>
            <ac:spMk id="6" creationId="{00000000-0000-0000-0000-000000000000}"/>
          </ac:spMkLst>
        </pc:spChg>
      </pc:sldChg>
      <pc:sldChg chg="add setBg modNotesTx">
        <pc:chgData name="Anand Jayaraman" userId="db2952f691cb49be" providerId="LiveId" clId="{E9C71306-6312-4CBE-9F61-A20E8FDA921D}" dt="2026-03-17T01:52:07.103" v="178" actId="20577"/>
        <pc:sldMkLst>
          <pc:docMk/>
          <pc:sldMk cId="0" sldId="258"/>
        </pc:sldMkLst>
      </pc:sldChg>
      <pc:sldChg chg="delSp modSp add mod setBg modNotesTx">
        <pc:chgData name="Anand Jayaraman" userId="db2952f691cb49be" providerId="LiveId" clId="{E9C71306-6312-4CBE-9F61-A20E8FDA921D}" dt="2026-03-17T01:52:12.421" v="179" actId="20577"/>
        <pc:sldMkLst>
          <pc:docMk/>
          <pc:sldMk cId="0" sldId="259"/>
        </pc:sldMkLst>
        <pc:spChg chg="del">
          <ac:chgData name="Anand Jayaraman" userId="db2952f691cb49be" providerId="LiveId" clId="{E9C71306-6312-4CBE-9F61-A20E8FDA921D}" dt="2026-03-17T01:46:22.251" v="155" actId="478"/>
          <ac:spMkLst>
            <pc:docMk/>
            <pc:sldMk cId="0" sldId="259"/>
            <ac:spMk id="4" creationId="{00000000-0000-0000-0000-000000000000}"/>
          </ac:spMkLst>
        </pc:spChg>
        <pc:spChg chg="del">
          <ac:chgData name="Anand Jayaraman" userId="db2952f691cb49be" providerId="LiveId" clId="{E9C71306-6312-4CBE-9F61-A20E8FDA921D}" dt="2026-03-17T01:46:26.257" v="156" actId="478"/>
          <ac:spMkLst>
            <pc:docMk/>
            <pc:sldMk cId="0" sldId="259"/>
            <ac:spMk id="5" creationId="{00000000-0000-0000-0000-000000000000}"/>
          </ac:spMkLst>
        </pc:spChg>
        <pc:spChg chg="mod">
          <ac:chgData name="Anand Jayaraman" userId="db2952f691cb49be" providerId="LiveId" clId="{E9C71306-6312-4CBE-9F61-A20E8FDA921D}" dt="2026-03-17T01:45:59.543" v="151" actId="20577"/>
          <ac:spMkLst>
            <pc:docMk/>
            <pc:sldMk cId="0" sldId="259"/>
            <ac:spMk id="27" creationId="{00000000-0000-0000-0000-000000000000}"/>
          </ac:spMkLst>
        </pc:spChg>
        <pc:spChg chg="mod">
          <ac:chgData name="Anand Jayaraman" userId="db2952f691cb49be" providerId="LiveId" clId="{E9C71306-6312-4CBE-9F61-A20E8FDA921D}" dt="2026-03-17T01:46:09.898" v="154" actId="20577"/>
          <ac:spMkLst>
            <pc:docMk/>
            <pc:sldMk cId="0" sldId="259"/>
            <ac:spMk id="31" creationId="{00000000-0000-0000-0000-000000000000}"/>
          </ac:spMkLst>
        </pc:spChg>
      </pc:sldChg>
      <pc:sldChg chg="delSp add mod setBg modNotesTx">
        <pc:chgData name="Anand Jayaraman" userId="db2952f691cb49be" providerId="LiveId" clId="{E9C71306-6312-4CBE-9F61-A20E8FDA921D}" dt="2026-03-17T01:52:17.726" v="180" actId="20577"/>
        <pc:sldMkLst>
          <pc:docMk/>
          <pc:sldMk cId="0" sldId="260"/>
        </pc:sldMkLst>
        <pc:spChg chg="del">
          <ac:chgData name="Anand Jayaraman" userId="db2952f691cb49be" providerId="LiveId" clId="{E9C71306-6312-4CBE-9F61-A20E8FDA921D}" dt="2026-03-17T01:46:38.345" v="158" actId="478"/>
          <ac:spMkLst>
            <pc:docMk/>
            <pc:sldMk cId="0" sldId="260"/>
            <ac:spMk id="4" creationId="{00000000-0000-0000-0000-000000000000}"/>
          </ac:spMkLst>
        </pc:spChg>
        <pc:spChg chg="del">
          <ac:chgData name="Anand Jayaraman" userId="db2952f691cb49be" providerId="LiveId" clId="{E9C71306-6312-4CBE-9F61-A20E8FDA921D}" dt="2026-03-17T01:46:36.753" v="157" actId="478"/>
          <ac:spMkLst>
            <pc:docMk/>
            <pc:sldMk cId="0" sldId="260"/>
            <ac:spMk id="5" creationId="{00000000-0000-0000-0000-000000000000}"/>
          </ac:spMkLst>
        </pc:spChg>
      </pc:sldChg>
      <pc:sldChg chg="delSp add mod setBg modNotesTx">
        <pc:chgData name="Anand Jayaraman" userId="db2952f691cb49be" providerId="LiveId" clId="{E9C71306-6312-4CBE-9F61-A20E8FDA921D}" dt="2026-03-17T01:52:22.410" v="181" actId="20577"/>
        <pc:sldMkLst>
          <pc:docMk/>
          <pc:sldMk cId="0" sldId="261"/>
        </pc:sldMkLst>
        <pc:spChg chg="del">
          <ac:chgData name="Anand Jayaraman" userId="db2952f691cb49be" providerId="LiveId" clId="{E9C71306-6312-4CBE-9F61-A20E8FDA921D}" dt="2026-03-17T01:47:45.352" v="160" actId="478"/>
          <ac:spMkLst>
            <pc:docMk/>
            <pc:sldMk cId="0" sldId="261"/>
            <ac:spMk id="4" creationId="{00000000-0000-0000-0000-000000000000}"/>
          </ac:spMkLst>
        </pc:spChg>
        <pc:spChg chg="del">
          <ac:chgData name="Anand Jayaraman" userId="db2952f691cb49be" providerId="LiveId" clId="{E9C71306-6312-4CBE-9F61-A20E8FDA921D}" dt="2026-03-17T01:47:43.601" v="159" actId="478"/>
          <ac:spMkLst>
            <pc:docMk/>
            <pc:sldMk cId="0" sldId="261"/>
            <ac:spMk id="5" creationId="{00000000-0000-0000-0000-000000000000}"/>
          </ac:spMkLst>
        </pc:spChg>
        <pc:spChg chg="del">
          <ac:chgData name="Anand Jayaraman" userId="db2952f691cb49be" providerId="LiveId" clId="{E9C71306-6312-4CBE-9F61-A20E8FDA921D}" dt="2026-03-17T01:47:58.531" v="161" actId="478"/>
          <ac:spMkLst>
            <pc:docMk/>
            <pc:sldMk cId="0" sldId="261"/>
            <ac:spMk id="15" creationId="{00000000-0000-0000-0000-000000000000}"/>
          </ac:spMkLst>
        </pc:spChg>
      </pc:sldChg>
      <pc:sldChg chg="delSp add mod setBg modNotesTx">
        <pc:chgData name="Anand Jayaraman" userId="db2952f691cb49be" providerId="LiveId" clId="{E9C71306-6312-4CBE-9F61-A20E8FDA921D}" dt="2026-03-17T01:52:28.182" v="182" actId="20577"/>
        <pc:sldMkLst>
          <pc:docMk/>
          <pc:sldMk cId="0" sldId="262"/>
        </pc:sldMkLst>
        <pc:spChg chg="del">
          <ac:chgData name="Anand Jayaraman" userId="db2952f691cb49be" providerId="LiveId" clId="{E9C71306-6312-4CBE-9F61-A20E8FDA921D}" dt="2026-03-17T01:48:10.222" v="163" actId="478"/>
          <ac:spMkLst>
            <pc:docMk/>
            <pc:sldMk cId="0" sldId="262"/>
            <ac:spMk id="4" creationId="{00000000-0000-0000-0000-000000000000}"/>
          </ac:spMkLst>
        </pc:spChg>
        <pc:spChg chg="del">
          <ac:chgData name="Anand Jayaraman" userId="db2952f691cb49be" providerId="LiveId" clId="{E9C71306-6312-4CBE-9F61-A20E8FDA921D}" dt="2026-03-17T01:48:08.763" v="162" actId="478"/>
          <ac:spMkLst>
            <pc:docMk/>
            <pc:sldMk cId="0" sldId="262"/>
            <ac:spMk id="5" creationId="{00000000-0000-0000-0000-000000000000}"/>
          </ac:spMkLst>
        </pc:spChg>
      </pc:sldChg>
      <pc:sldChg chg="delSp add del mod setBg modNotesTx">
        <pc:chgData name="Anand Jayaraman" userId="db2952f691cb49be" providerId="LiveId" clId="{E9C71306-6312-4CBE-9F61-A20E8FDA921D}" dt="2026-03-17T01:52:33.312" v="183" actId="20577"/>
        <pc:sldMkLst>
          <pc:docMk/>
          <pc:sldMk cId="0" sldId="263"/>
        </pc:sldMkLst>
        <pc:spChg chg="del">
          <ac:chgData name="Anand Jayaraman" userId="db2952f691cb49be" providerId="LiveId" clId="{E9C71306-6312-4CBE-9F61-A20E8FDA921D}" dt="2026-03-17T01:50:19.225" v="177" actId="478"/>
          <ac:spMkLst>
            <pc:docMk/>
            <pc:sldMk cId="0" sldId="263"/>
            <ac:spMk id="4" creationId="{00000000-0000-0000-0000-000000000000}"/>
          </ac:spMkLst>
        </pc:spChg>
        <pc:spChg chg="del">
          <ac:chgData name="Anand Jayaraman" userId="db2952f691cb49be" providerId="LiveId" clId="{E9C71306-6312-4CBE-9F61-A20E8FDA921D}" dt="2026-03-17T01:50:17.536" v="176" actId="478"/>
          <ac:spMkLst>
            <pc:docMk/>
            <pc:sldMk cId="0" sldId="263"/>
            <ac:spMk id="5" creationId="{00000000-0000-0000-0000-000000000000}"/>
          </ac:spMkLst>
        </pc:spChg>
      </pc:sldChg>
      <pc:sldChg chg="delSp modSp add mod setBg modNotesTx">
        <pc:chgData name="Anand Jayaraman" userId="db2952f691cb49be" providerId="LiveId" clId="{E9C71306-6312-4CBE-9F61-A20E8FDA921D}" dt="2026-03-17T01:52:40.956" v="184" actId="20577"/>
        <pc:sldMkLst>
          <pc:docMk/>
          <pc:sldMk cId="0" sldId="264"/>
        </pc:sldMkLst>
        <pc:spChg chg="del">
          <ac:chgData name="Anand Jayaraman" userId="db2952f691cb49be" providerId="LiveId" clId="{E9C71306-6312-4CBE-9F61-A20E8FDA921D}" dt="2026-03-16T17:58:23.158" v="128" actId="478"/>
          <ac:spMkLst>
            <pc:docMk/>
            <pc:sldMk cId="0" sldId="264"/>
            <ac:spMk id="4" creationId="{00000000-0000-0000-0000-000000000000}"/>
          </ac:spMkLst>
        </pc:spChg>
        <pc:spChg chg="del mod">
          <ac:chgData name="Anand Jayaraman" userId="db2952f691cb49be" providerId="LiveId" clId="{E9C71306-6312-4CBE-9F61-A20E8FDA921D}" dt="2026-03-16T17:58:21.447" v="127" actId="478"/>
          <ac:spMkLst>
            <pc:docMk/>
            <pc:sldMk cId="0" sldId="264"/>
            <ac:spMk id="5" creationId="{00000000-0000-0000-0000-000000000000}"/>
          </ac:spMkLst>
        </pc:spChg>
      </pc:sldChg>
      <pc:sldChg chg="delSp add mod setBg modNotesTx">
        <pc:chgData name="Anand Jayaraman" userId="db2952f691cb49be" providerId="LiveId" clId="{E9C71306-6312-4CBE-9F61-A20E8FDA921D}" dt="2026-03-17T01:53:25.550" v="185" actId="20577"/>
        <pc:sldMkLst>
          <pc:docMk/>
          <pc:sldMk cId="0" sldId="265"/>
        </pc:sldMkLst>
        <pc:spChg chg="del">
          <ac:chgData name="Anand Jayaraman" userId="db2952f691cb49be" providerId="LiveId" clId="{E9C71306-6312-4CBE-9F61-A20E8FDA921D}" dt="2026-03-16T17:58:32.173" v="129" actId="478"/>
          <ac:spMkLst>
            <pc:docMk/>
            <pc:sldMk cId="0" sldId="265"/>
            <ac:spMk id="4" creationId="{00000000-0000-0000-0000-000000000000}"/>
          </ac:spMkLst>
        </pc:spChg>
        <pc:spChg chg="del">
          <ac:chgData name="Anand Jayaraman" userId="db2952f691cb49be" providerId="LiveId" clId="{E9C71306-6312-4CBE-9F61-A20E8FDA921D}" dt="2026-03-16T17:58:33.787" v="130" actId="478"/>
          <ac:spMkLst>
            <pc:docMk/>
            <pc:sldMk cId="0" sldId="265"/>
            <ac:spMk id="5" creationId="{00000000-0000-0000-0000-000000000000}"/>
          </ac:spMkLst>
        </pc:spChg>
      </pc:sldChg>
      <pc:sldChg chg="delSp add mod setBg modNotesTx">
        <pc:chgData name="Anand Jayaraman" userId="db2952f691cb49be" providerId="LiveId" clId="{E9C71306-6312-4CBE-9F61-A20E8FDA921D}" dt="2026-03-17T01:54:00.080" v="186" actId="20577"/>
        <pc:sldMkLst>
          <pc:docMk/>
          <pc:sldMk cId="0" sldId="266"/>
        </pc:sldMkLst>
        <pc:spChg chg="del">
          <ac:chgData name="Anand Jayaraman" userId="db2952f691cb49be" providerId="LiveId" clId="{E9C71306-6312-4CBE-9F61-A20E8FDA921D}" dt="2026-03-16T17:58:13.553" v="125" actId="478"/>
          <ac:spMkLst>
            <pc:docMk/>
            <pc:sldMk cId="0" sldId="266"/>
            <ac:spMk id="4" creationId="{00000000-0000-0000-0000-000000000000}"/>
          </ac:spMkLst>
        </pc:spChg>
        <pc:spChg chg="del">
          <ac:chgData name="Anand Jayaraman" userId="db2952f691cb49be" providerId="LiveId" clId="{E9C71306-6312-4CBE-9F61-A20E8FDA921D}" dt="2026-03-16T17:58:12.090" v="124" actId="478"/>
          <ac:spMkLst>
            <pc:docMk/>
            <pc:sldMk cId="0" sldId="266"/>
            <ac:spMk id="5" creationId="{00000000-0000-0000-0000-000000000000}"/>
          </ac:spMkLst>
        </pc:spChg>
      </pc:sldChg>
      <pc:sldChg chg="delSp add mod setBg modNotesTx">
        <pc:chgData name="Anand Jayaraman" userId="db2952f691cb49be" providerId="LiveId" clId="{E9C71306-6312-4CBE-9F61-A20E8FDA921D}" dt="2026-03-17T01:54:41.948" v="188" actId="20577"/>
        <pc:sldMkLst>
          <pc:docMk/>
          <pc:sldMk cId="0" sldId="274"/>
        </pc:sldMkLst>
        <pc:spChg chg="del">
          <ac:chgData name="Anand Jayaraman" userId="db2952f691cb49be" providerId="LiveId" clId="{E9C71306-6312-4CBE-9F61-A20E8FDA921D}" dt="2026-03-16T17:58:46.088" v="132" actId="478"/>
          <ac:spMkLst>
            <pc:docMk/>
            <pc:sldMk cId="0" sldId="274"/>
            <ac:spMk id="4" creationId="{00000000-0000-0000-0000-000000000000}"/>
          </ac:spMkLst>
        </pc:spChg>
        <pc:spChg chg="del">
          <ac:chgData name="Anand Jayaraman" userId="db2952f691cb49be" providerId="LiveId" clId="{E9C71306-6312-4CBE-9F61-A20E8FDA921D}" dt="2026-03-16T17:58:44.774" v="131" actId="478"/>
          <ac:spMkLst>
            <pc:docMk/>
            <pc:sldMk cId="0" sldId="274"/>
            <ac:spMk id="5" creationId="{00000000-0000-0000-0000-000000000000}"/>
          </ac:spMkLst>
        </pc:spChg>
      </pc:sldChg>
      <pc:sldChg chg="delSp add mod setBg modNotesTx">
        <pc:chgData name="Anand Jayaraman" userId="db2952f691cb49be" providerId="LiveId" clId="{E9C71306-6312-4CBE-9F61-A20E8FDA921D}" dt="2026-03-17T01:54:59.561" v="189" actId="20577"/>
        <pc:sldMkLst>
          <pc:docMk/>
          <pc:sldMk cId="0" sldId="275"/>
        </pc:sldMkLst>
        <pc:spChg chg="del">
          <ac:chgData name="Anand Jayaraman" userId="db2952f691cb49be" providerId="LiveId" clId="{E9C71306-6312-4CBE-9F61-A20E8FDA921D}" dt="2026-03-16T17:58:05.436" v="123" actId="478"/>
          <ac:spMkLst>
            <pc:docMk/>
            <pc:sldMk cId="0" sldId="275"/>
            <ac:spMk id="4" creationId="{00000000-0000-0000-0000-000000000000}"/>
          </ac:spMkLst>
        </pc:spChg>
        <pc:spChg chg="del">
          <ac:chgData name="Anand Jayaraman" userId="db2952f691cb49be" providerId="LiveId" clId="{E9C71306-6312-4CBE-9F61-A20E8FDA921D}" dt="2026-03-16T17:58:03.405" v="122" actId="478"/>
          <ac:spMkLst>
            <pc:docMk/>
            <pc:sldMk cId="0" sldId="275"/>
            <ac:spMk id="5" creationId="{00000000-0000-0000-0000-000000000000}"/>
          </ac:spMkLst>
        </pc:spChg>
      </pc:sldChg>
      <pc:sldChg chg="delSp add mod setBg modNotesTx">
        <pc:chgData name="Anand Jayaraman" userId="db2952f691cb49be" providerId="LiveId" clId="{E9C71306-6312-4CBE-9F61-A20E8FDA921D}" dt="2026-03-17T01:55:40.595" v="214" actId="20577"/>
        <pc:sldMkLst>
          <pc:docMk/>
          <pc:sldMk cId="0" sldId="276"/>
        </pc:sldMkLst>
        <pc:spChg chg="del">
          <ac:chgData name="Anand Jayaraman" userId="db2952f691cb49be" providerId="LiveId" clId="{E9C71306-6312-4CBE-9F61-A20E8FDA921D}" dt="2026-03-16T17:57:54.661" v="120" actId="478"/>
          <ac:spMkLst>
            <pc:docMk/>
            <pc:sldMk cId="0" sldId="276"/>
            <ac:spMk id="4" creationId="{00000000-0000-0000-0000-000000000000}"/>
          </ac:spMkLst>
        </pc:spChg>
        <pc:spChg chg="del">
          <ac:chgData name="Anand Jayaraman" userId="db2952f691cb49be" providerId="LiveId" clId="{E9C71306-6312-4CBE-9F61-A20E8FDA921D}" dt="2026-03-16T17:57:57.888" v="121" actId="478"/>
          <ac:spMkLst>
            <pc:docMk/>
            <pc:sldMk cId="0" sldId="276"/>
            <ac:spMk id="5" creationId="{00000000-0000-0000-0000-000000000000}"/>
          </ac:spMkLst>
        </pc:spChg>
      </pc:sldChg>
      <pc:sldChg chg="delSp add mod setBg modNotesTx">
        <pc:chgData name="Anand Jayaraman" userId="db2952f691cb49be" providerId="LiveId" clId="{E9C71306-6312-4CBE-9F61-A20E8FDA921D}" dt="2026-03-17T01:56:15.572" v="218" actId="20577"/>
        <pc:sldMkLst>
          <pc:docMk/>
          <pc:sldMk cId="0" sldId="277"/>
        </pc:sldMkLst>
        <pc:spChg chg="del">
          <ac:chgData name="Anand Jayaraman" userId="db2952f691cb49be" providerId="LiveId" clId="{E9C71306-6312-4CBE-9F61-A20E8FDA921D}" dt="2026-03-16T17:59:02.620" v="134" actId="478"/>
          <ac:spMkLst>
            <pc:docMk/>
            <pc:sldMk cId="0" sldId="277"/>
            <ac:spMk id="4" creationId="{00000000-0000-0000-0000-000000000000}"/>
          </ac:spMkLst>
        </pc:spChg>
        <pc:spChg chg="del">
          <ac:chgData name="Anand Jayaraman" userId="db2952f691cb49be" providerId="LiveId" clId="{E9C71306-6312-4CBE-9F61-A20E8FDA921D}" dt="2026-03-16T17:59:00.472" v="133" actId="478"/>
          <ac:spMkLst>
            <pc:docMk/>
            <pc:sldMk cId="0" sldId="277"/>
            <ac:spMk id="5" creationId="{00000000-0000-0000-0000-000000000000}"/>
          </ac:spMkLst>
        </pc:spChg>
      </pc:sldChg>
      <pc:sldChg chg="delSp add mod setBg modNotesTx">
        <pc:chgData name="Anand Jayaraman" userId="db2952f691cb49be" providerId="LiveId" clId="{E9C71306-6312-4CBE-9F61-A20E8FDA921D}" dt="2026-03-17T01:56:58.399" v="220" actId="20577"/>
        <pc:sldMkLst>
          <pc:docMk/>
          <pc:sldMk cId="0" sldId="278"/>
        </pc:sldMkLst>
        <pc:spChg chg="del">
          <ac:chgData name="Anand Jayaraman" userId="db2952f691cb49be" providerId="LiveId" clId="{E9C71306-6312-4CBE-9F61-A20E8FDA921D}" dt="2026-03-16T17:59:32.547" v="136" actId="478"/>
          <ac:spMkLst>
            <pc:docMk/>
            <pc:sldMk cId="0" sldId="278"/>
            <ac:spMk id="4" creationId="{00000000-0000-0000-0000-000000000000}"/>
          </ac:spMkLst>
        </pc:spChg>
        <pc:spChg chg="del">
          <ac:chgData name="Anand Jayaraman" userId="db2952f691cb49be" providerId="LiveId" clId="{E9C71306-6312-4CBE-9F61-A20E8FDA921D}" dt="2026-03-16T17:59:30.920" v="135" actId="478"/>
          <ac:spMkLst>
            <pc:docMk/>
            <pc:sldMk cId="0" sldId="278"/>
            <ac:spMk id="5" creationId="{00000000-0000-0000-0000-000000000000}"/>
          </ac:spMkLst>
        </pc:spChg>
      </pc:sldChg>
      <pc:sldChg chg="del">
        <pc:chgData name="Anand Jayaraman" userId="db2952f691cb49be" providerId="LiveId" clId="{E9C71306-6312-4CBE-9F61-A20E8FDA921D}" dt="2026-03-16T16:41:41.160" v="33" actId="47"/>
        <pc:sldMkLst>
          <pc:docMk/>
          <pc:sldMk cId="2144631137" sldId="332"/>
        </pc:sldMkLst>
      </pc:sldChg>
      <pc:sldChg chg="del">
        <pc:chgData name="Anand Jayaraman" userId="db2952f691cb49be" providerId="LiveId" clId="{E9C71306-6312-4CBE-9F61-A20E8FDA921D}" dt="2026-03-16T16:41:41.160" v="33" actId="47"/>
        <pc:sldMkLst>
          <pc:docMk/>
          <pc:sldMk cId="728478850" sldId="2147469853"/>
        </pc:sldMkLst>
      </pc:sldChg>
      <pc:sldChg chg="del">
        <pc:chgData name="Anand Jayaraman" userId="db2952f691cb49be" providerId="LiveId" clId="{E9C71306-6312-4CBE-9F61-A20E8FDA921D}" dt="2026-03-16T16:42:59.535" v="34" actId="47"/>
        <pc:sldMkLst>
          <pc:docMk/>
          <pc:sldMk cId="2544052663" sldId="2147479208"/>
        </pc:sldMkLst>
      </pc:sldChg>
      <pc:sldChg chg="del">
        <pc:chgData name="Anand Jayaraman" userId="db2952f691cb49be" providerId="LiveId" clId="{E9C71306-6312-4CBE-9F61-A20E8FDA921D}" dt="2026-03-16T16:39:27.127" v="28" actId="47"/>
        <pc:sldMkLst>
          <pc:docMk/>
          <pc:sldMk cId="4023184588" sldId="2147479218"/>
        </pc:sldMkLst>
      </pc:sldChg>
      <pc:sldChg chg="del">
        <pc:chgData name="Anand Jayaraman" userId="db2952f691cb49be" providerId="LiveId" clId="{E9C71306-6312-4CBE-9F61-A20E8FDA921D}" dt="2026-03-16T16:40:46.854" v="30" actId="47"/>
        <pc:sldMkLst>
          <pc:docMk/>
          <pc:sldMk cId="1670959487" sldId="2147479219"/>
        </pc:sldMkLst>
      </pc:sldChg>
      <pc:sldChg chg="del">
        <pc:chgData name="Anand Jayaraman" userId="db2952f691cb49be" providerId="LiveId" clId="{E9C71306-6312-4CBE-9F61-A20E8FDA921D}" dt="2026-03-16T16:40:47.815" v="31" actId="47"/>
        <pc:sldMkLst>
          <pc:docMk/>
          <pc:sldMk cId="3279603876" sldId="2147479220"/>
        </pc:sldMkLst>
      </pc:sldChg>
      <pc:sldChg chg="del">
        <pc:chgData name="Anand Jayaraman" userId="db2952f691cb49be" providerId="LiveId" clId="{E9C71306-6312-4CBE-9F61-A20E8FDA921D}" dt="2026-03-16T17:08:56.760" v="48" actId="47"/>
        <pc:sldMkLst>
          <pc:docMk/>
          <pc:sldMk cId="2261572896" sldId="2147479225"/>
        </pc:sldMkLst>
      </pc:sldChg>
      <pc:sldChg chg="addSp delSp modSp add mod setBg">
        <pc:chgData name="Anand Jayaraman" userId="db2952f691cb49be" providerId="LiveId" clId="{E9C71306-6312-4CBE-9F61-A20E8FDA921D}" dt="2026-03-16T17:11:29.831" v="69" actId="1076"/>
        <pc:sldMkLst>
          <pc:docMk/>
          <pc:sldMk cId="0" sldId="2147479261"/>
        </pc:sldMkLst>
        <pc:spChg chg="del">
          <ac:chgData name="Anand Jayaraman" userId="db2952f691cb49be" providerId="LiveId" clId="{E9C71306-6312-4CBE-9F61-A20E8FDA921D}" dt="2026-03-16T17:09:13.861" v="56" actId="478"/>
          <ac:spMkLst>
            <pc:docMk/>
            <pc:sldMk cId="0" sldId="2147479261"/>
            <ac:spMk id="2" creationId="{00000000-0000-0000-0000-000000000000}"/>
          </ac:spMkLst>
        </pc:spChg>
        <pc:spChg chg="mod">
          <ac:chgData name="Anand Jayaraman" userId="db2952f691cb49be" providerId="LiveId" clId="{E9C71306-6312-4CBE-9F61-A20E8FDA921D}" dt="2026-03-16T17:09:10.272" v="55" actId="403"/>
          <ac:spMkLst>
            <pc:docMk/>
            <pc:sldMk cId="0" sldId="2147479261"/>
            <ac:spMk id="3" creationId="{00000000-0000-0000-0000-000000000000}"/>
          </ac:spMkLst>
        </pc:spChg>
        <pc:spChg chg="del">
          <ac:chgData name="Anand Jayaraman" userId="db2952f691cb49be" providerId="LiveId" clId="{E9C71306-6312-4CBE-9F61-A20E8FDA921D}" dt="2026-03-16T17:09:17.033" v="57" actId="478"/>
          <ac:spMkLst>
            <pc:docMk/>
            <pc:sldMk cId="0" sldId="2147479261"/>
            <ac:spMk id="4" creationId="{00000000-0000-0000-0000-000000000000}"/>
          </ac:spMkLst>
        </pc:spChg>
        <pc:spChg chg="del mod">
          <ac:chgData name="Anand Jayaraman" userId="db2952f691cb49be" providerId="LiveId" clId="{E9C71306-6312-4CBE-9F61-A20E8FDA921D}" dt="2026-03-16T17:09:24.205" v="59" actId="478"/>
          <ac:spMkLst>
            <pc:docMk/>
            <pc:sldMk cId="0" sldId="2147479261"/>
            <ac:spMk id="5" creationId="{00000000-0000-0000-0000-000000000000}"/>
          </ac:spMkLst>
        </pc:spChg>
        <pc:spChg chg="mod">
          <ac:chgData name="Anand Jayaraman" userId="db2952f691cb49be" providerId="LiveId" clId="{E9C71306-6312-4CBE-9F61-A20E8FDA921D}" dt="2026-03-16T17:11:29.831" v="69" actId="1076"/>
          <ac:spMkLst>
            <pc:docMk/>
            <pc:sldMk cId="0" sldId="2147479261"/>
            <ac:spMk id="6" creationId="{00000000-0000-0000-0000-000000000000}"/>
          </ac:spMkLst>
        </pc:spChg>
        <pc:spChg chg="mod">
          <ac:chgData name="Anand Jayaraman" userId="db2952f691cb49be" providerId="LiveId" clId="{E9C71306-6312-4CBE-9F61-A20E8FDA921D}" dt="2026-03-16T17:11:17.127" v="66" actId="164"/>
          <ac:spMkLst>
            <pc:docMk/>
            <pc:sldMk cId="0" sldId="2147479261"/>
            <ac:spMk id="34" creationId="{00000000-0000-0000-0000-000000000000}"/>
          </ac:spMkLst>
        </pc:spChg>
        <pc:spChg chg="mod">
          <ac:chgData name="Anand Jayaraman" userId="db2952f691cb49be" providerId="LiveId" clId="{E9C71306-6312-4CBE-9F61-A20E8FDA921D}" dt="2026-03-16T17:10:31.870" v="61" actId="164"/>
          <ac:spMkLst>
            <pc:docMk/>
            <pc:sldMk cId="0" sldId="2147479261"/>
            <ac:spMk id="35" creationId="{00000000-0000-0000-0000-000000000000}"/>
          </ac:spMkLst>
        </pc:spChg>
        <pc:spChg chg="mod">
          <ac:chgData name="Anand Jayaraman" userId="db2952f691cb49be" providerId="LiveId" clId="{E9C71306-6312-4CBE-9F61-A20E8FDA921D}" dt="2026-03-16T17:10:31.870" v="61" actId="164"/>
          <ac:spMkLst>
            <pc:docMk/>
            <pc:sldMk cId="0" sldId="2147479261"/>
            <ac:spMk id="43" creationId="{00000000-0000-0000-0000-000000000000}"/>
          </ac:spMkLst>
        </pc:spChg>
        <pc:spChg chg="mod">
          <ac:chgData name="Anand Jayaraman" userId="db2952f691cb49be" providerId="LiveId" clId="{E9C71306-6312-4CBE-9F61-A20E8FDA921D}" dt="2026-03-16T17:10:31.870" v="61" actId="164"/>
          <ac:spMkLst>
            <pc:docMk/>
            <pc:sldMk cId="0" sldId="2147479261"/>
            <ac:spMk id="46" creationId="{00000000-0000-0000-0000-000000000000}"/>
          </ac:spMkLst>
        </pc:spChg>
        <pc:spChg chg="mod">
          <ac:chgData name="Anand Jayaraman" userId="db2952f691cb49be" providerId="LiveId" clId="{E9C71306-6312-4CBE-9F61-A20E8FDA921D}" dt="2026-03-16T17:10:31.870" v="61" actId="164"/>
          <ac:spMkLst>
            <pc:docMk/>
            <pc:sldMk cId="0" sldId="2147479261"/>
            <ac:spMk id="47" creationId="{00000000-0000-0000-0000-000000000000}"/>
          </ac:spMkLst>
        </pc:spChg>
        <pc:spChg chg="mod">
          <ac:chgData name="Anand Jayaraman" userId="db2952f691cb49be" providerId="LiveId" clId="{E9C71306-6312-4CBE-9F61-A20E8FDA921D}" dt="2026-03-16T17:10:31.870" v="61" actId="164"/>
          <ac:spMkLst>
            <pc:docMk/>
            <pc:sldMk cId="0" sldId="2147479261"/>
            <ac:spMk id="50" creationId="{00000000-0000-0000-0000-000000000000}"/>
          </ac:spMkLst>
        </pc:spChg>
        <pc:spChg chg="mod">
          <ac:chgData name="Anand Jayaraman" userId="db2952f691cb49be" providerId="LiveId" clId="{E9C71306-6312-4CBE-9F61-A20E8FDA921D}" dt="2026-03-16T17:10:31.870" v="61" actId="164"/>
          <ac:spMkLst>
            <pc:docMk/>
            <pc:sldMk cId="0" sldId="2147479261"/>
            <ac:spMk id="51" creationId="{00000000-0000-0000-0000-000000000000}"/>
          </ac:spMkLst>
        </pc:spChg>
        <pc:spChg chg="mod">
          <ac:chgData name="Anand Jayaraman" userId="db2952f691cb49be" providerId="LiveId" clId="{E9C71306-6312-4CBE-9F61-A20E8FDA921D}" dt="2026-03-16T17:10:31.870" v="61" actId="164"/>
          <ac:spMkLst>
            <pc:docMk/>
            <pc:sldMk cId="0" sldId="2147479261"/>
            <ac:spMk id="56" creationId="{00000000-0000-0000-0000-000000000000}"/>
          </ac:spMkLst>
        </pc:spChg>
        <pc:spChg chg="mod">
          <ac:chgData name="Anand Jayaraman" userId="db2952f691cb49be" providerId="LiveId" clId="{E9C71306-6312-4CBE-9F61-A20E8FDA921D}" dt="2026-03-16T17:10:31.870" v="61" actId="164"/>
          <ac:spMkLst>
            <pc:docMk/>
            <pc:sldMk cId="0" sldId="2147479261"/>
            <ac:spMk id="58" creationId="{00000000-0000-0000-0000-000000000000}"/>
          </ac:spMkLst>
        </pc:spChg>
        <pc:spChg chg="mod">
          <ac:chgData name="Anand Jayaraman" userId="db2952f691cb49be" providerId="LiveId" clId="{E9C71306-6312-4CBE-9F61-A20E8FDA921D}" dt="2026-03-16T17:10:31.870" v="61" actId="164"/>
          <ac:spMkLst>
            <pc:docMk/>
            <pc:sldMk cId="0" sldId="2147479261"/>
            <ac:spMk id="59" creationId="{00000000-0000-0000-0000-000000000000}"/>
          </ac:spMkLst>
        </pc:spChg>
        <pc:spChg chg="mod">
          <ac:chgData name="Anand Jayaraman" userId="db2952f691cb49be" providerId="LiveId" clId="{E9C71306-6312-4CBE-9F61-A20E8FDA921D}" dt="2026-03-16T17:10:31.870" v="61" actId="164"/>
          <ac:spMkLst>
            <pc:docMk/>
            <pc:sldMk cId="0" sldId="2147479261"/>
            <ac:spMk id="60" creationId="{00000000-0000-0000-0000-000000000000}"/>
          </ac:spMkLst>
        </pc:spChg>
        <pc:grpChg chg="mod">
          <ac:chgData name="Anand Jayaraman" userId="db2952f691cb49be" providerId="LiveId" clId="{E9C71306-6312-4CBE-9F61-A20E8FDA921D}" dt="2026-03-16T17:11:17.127" v="66" actId="164"/>
          <ac:grpSpMkLst>
            <pc:docMk/>
            <pc:sldMk cId="0" sldId="2147479261"/>
            <ac:grpSpMk id="61" creationId="{5B2D082D-5989-B8E8-7EEB-F7E955EC64A0}"/>
          </ac:grpSpMkLst>
        </pc:grpChg>
        <pc:grpChg chg="add mod">
          <ac:chgData name="Anand Jayaraman" userId="db2952f691cb49be" providerId="LiveId" clId="{E9C71306-6312-4CBE-9F61-A20E8FDA921D}" dt="2026-03-16T17:11:19.716" v="67" actId="1076"/>
          <ac:grpSpMkLst>
            <pc:docMk/>
            <pc:sldMk cId="0" sldId="2147479261"/>
            <ac:grpSpMk id="62" creationId="{46AB2DDC-394A-B0E1-9681-72E5A692B7C5}"/>
          </ac:grpSpMkLst>
        </pc:grpChg>
      </pc:sldChg>
      <pc:sldChg chg="del">
        <pc:chgData name="Anand Jayaraman" userId="db2952f691cb49be" providerId="LiveId" clId="{E9C71306-6312-4CBE-9F61-A20E8FDA921D}" dt="2026-03-16T17:07:28.039" v="46" actId="47"/>
        <pc:sldMkLst>
          <pc:docMk/>
          <pc:sldMk cId="986582355" sldId="2147479261"/>
        </pc:sldMkLst>
      </pc:sldChg>
      <pc:sldChg chg="addSp delSp modSp new mod modClrScheme modAnim chgLayout">
        <pc:chgData name="Anand Jayaraman" userId="db2952f691cb49be" providerId="LiveId" clId="{E9C71306-6312-4CBE-9F61-A20E8FDA921D}" dt="2026-03-16T17:27:06.303" v="117"/>
        <pc:sldMkLst>
          <pc:docMk/>
          <pc:sldMk cId="1320475750" sldId="2147479262"/>
        </pc:sldMkLst>
        <pc:spChg chg="add mod">
          <ac:chgData name="Anand Jayaraman" userId="db2952f691cb49be" providerId="LiveId" clId="{E9C71306-6312-4CBE-9F61-A20E8FDA921D}" dt="2026-03-16T17:18:21.544" v="101" actId="20577"/>
          <ac:spMkLst>
            <pc:docMk/>
            <pc:sldMk cId="1320475750" sldId="2147479262"/>
            <ac:spMk id="2" creationId="{5846C6EA-8111-0F2D-C10B-632508E7DBA6}"/>
          </ac:spMkLst>
        </pc:spChg>
        <pc:spChg chg="add del mod">
          <ac:chgData name="Anand Jayaraman" userId="db2952f691cb49be" providerId="LiveId" clId="{E9C71306-6312-4CBE-9F61-A20E8FDA921D}" dt="2026-03-16T17:18:26.113" v="102" actId="478"/>
          <ac:spMkLst>
            <pc:docMk/>
            <pc:sldMk cId="1320475750" sldId="2147479262"/>
            <ac:spMk id="3" creationId="{8F89AEFA-CAAE-475E-B604-2D845A2C01AE}"/>
          </ac:spMkLst>
        </pc:spChg>
        <pc:picChg chg="add mod">
          <ac:chgData name="Anand Jayaraman" userId="db2952f691cb49be" providerId="LiveId" clId="{E9C71306-6312-4CBE-9F61-A20E8FDA921D}" dt="2026-03-16T17:25:18.441" v="107" actId="1076"/>
          <ac:picMkLst>
            <pc:docMk/>
            <pc:sldMk cId="1320475750" sldId="2147479262"/>
            <ac:picMk id="5" creationId="{5442B34E-14DD-02EC-6741-7FFE3FD4867E}"/>
          </ac:picMkLst>
        </pc:picChg>
        <pc:picChg chg="add mod">
          <ac:chgData name="Anand Jayaraman" userId="db2952f691cb49be" providerId="LiveId" clId="{E9C71306-6312-4CBE-9F61-A20E8FDA921D}" dt="2026-03-16T17:26:28.186" v="113" actId="14100"/>
          <ac:picMkLst>
            <pc:docMk/>
            <pc:sldMk cId="1320475750" sldId="2147479262"/>
            <ac:picMk id="7" creationId="{5550FB53-85FF-1CE8-5105-FE0BDDB6923A}"/>
          </ac:picMkLst>
        </pc:picChg>
        <pc:picChg chg="add mod">
          <ac:chgData name="Anand Jayaraman" userId="db2952f691cb49be" providerId="LiveId" clId="{E9C71306-6312-4CBE-9F61-A20E8FDA921D}" dt="2026-03-16T17:27:02.809" v="116" actId="1076"/>
          <ac:picMkLst>
            <pc:docMk/>
            <pc:sldMk cId="1320475750" sldId="2147479262"/>
            <ac:picMk id="9" creationId="{BB6E155F-F0D9-CE55-8B49-5FBA3D480C87}"/>
          </ac:picMkLst>
        </pc:picChg>
      </pc:sldChg>
      <pc:sldChg chg="addSp new mod">
        <pc:chgData name="Anand Jayaraman" userId="db2952f691cb49be" providerId="LiveId" clId="{E9C71306-6312-4CBE-9F61-A20E8FDA921D}" dt="2026-03-16T17:56:44.011" v="119" actId="22"/>
        <pc:sldMkLst>
          <pc:docMk/>
          <pc:sldMk cId="3421013407" sldId="2147479263"/>
        </pc:sldMkLst>
        <pc:picChg chg="add">
          <ac:chgData name="Anand Jayaraman" userId="db2952f691cb49be" providerId="LiveId" clId="{E9C71306-6312-4CBE-9F61-A20E8FDA921D}" dt="2026-03-16T17:56:44.011" v="119" actId="22"/>
          <ac:picMkLst>
            <pc:docMk/>
            <pc:sldMk cId="3421013407" sldId="2147479263"/>
            <ac:picMk id="5" creationId="{1820FDB4-1336-B0C8-9CD9-32FFBA34489C}"/>
          </ac:picMkLst>
        </pc:picChg>
      </pc:sldChg>
      <pc:sldChg chg="add setBg">
        <pc:chgData name="Anand Jayaraman" userId="db2952f691cb49be" providerId="LiveId" clId="{E9C71306-6312-4CBE-9F61-A20E8FDA921D}" dt="2026-03-17T01:38:25.371" v="137"/>
        <pc:sldMkLst>
          <pc:docMk/>
          <pc:sldMk cId="0" sldId="2147479264"/>
        </pc:sldMkLst>
      </pc:sldChg>
      <pc:sldMasterChg chg="delSldLayout">
        <pc:chgData name="Anand Jayaraman" userId="db2952f691cb49be" providerId="LiveId" clId="{E9C71306-6312-4CBE-9F61-A20E8FDA921D}" dt="2026-03-16T16:41:41.160" v="33" actId="47"/>
        <pc:sldMasterMkLst>
          <pc:docMk/>
          <pc:sldMasterMk cId="1207108490" sldId="2147483693"/>
        </pc:sldMasterMkLst>
        <pc:sldLayoutChg chg="del">
          <pc:chgData name="Anand Jayaraman" userId="db2952f691cb49be" providerId="LiveId" clId="{E9C71306-6312-4CBE-9F61-A20E8FDA921D}" dt="2026-03-16T16:41:41.160" v="33" actId="47"/>
          <pc:sldLayoutMkLst>
            <pc:docMk/>
            <pc:sldMasterMk cId="1207108490" sldId="2147483693"/>
            <pc:sldLayoutMk cId="1275933080" sldId="2147483706"/>
          </pc:sldLayoutMkLst>
        </pc:sldLayoutChg>
        <pc:sldLayoutChg chg="del">
          <pc:chgData name="Anand Jayaraman" userId="db2952f691cb49be" providerId="LiveId" clId="{E9C71306-6312-4CBE-9F61-A20E8FDA921D}" dt="2026-03-16T16:41:41.160" v="33" actId="47"/>
          <pc:sldLayoutMkLst>
            <pc:docMk/>
            <pc:sldMasterMk cId="1207108490" sldId="2147483693"/>
            <pc:sldLayoutMk cId="4275301638" sldId="214748370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Roboto" panose="02000000000000000000" pitchFamily="2" charset="0"/>
              </a:defRPr>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Roboto" panose="02000000000000000000" pitchFamily="2" charset="0"/>
              </a:defRPr>
            </a:lvl1pPr>
          </a:lstStyle>
          <a:p>
            <a:fld id="{BF0B0B1F-9786-4D5F-AE97-037DCD30C3F3}" type="datetimeFigureOut">
              <a:rPr lang="en-IN" smtClean="0"/>
              <a:pPr/>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Roboto" panose="02000000000000000000" pitchFamily="2" charset="0"/>
              </a:defRPr>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Roboto" panose="02000000000000000000" pitchFamily="2" charset="0"/>
              </a:defRPr>
            </a:lvl1pPr>
          </a:lstStyle>
          <a:p>
            <a:fld id="{C411814F-98E4-4559-B17F-F724D1F120C3}" type="slidenum">
              <a:rPr lang="en-IN" smtClean="0"/>
              <a:pPr/>
              <a:t>‹#›</a:t>
            </a:fld>
            <a:endParaRPr lang="en-IN"/>
          </a:p>
        </p:txBody>
      </p:sp>
    </p:spTree>
    <p:extLst>
      <p:ext uri="{BB962C8B-B14F-4D97-AF65-F5344CB8AC3E}">
        <p14:creationId xmlns:p14="http://schemas.microsoft.com/office/powerpoint/2010/main" val="3809430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Roboto" panose="02000000000000000000" pitchFamily="2" charset="0"/>
        <a:ea typeface="+mn-ea"/>
        <a:cs typeface="+mn-cs"/>
      </a:defRPr>
    </a:lvl1pPr>
    <a:lvl2pPr marL="457200" algn="l" defTabSz="914400" rtl="0" eaLnBrk="1" latinLnBrk="0" hangingPunct="1">
      <a:defRPr sz="1200" kern="1200">
        <a:solidFill>
          <a:schemeClr val="tx1"/>
        </a:solidFill>
        <a:latin typeface="Roboto" panose="02000000000000000000" pitchFamily="2" charset="0"/>
        <a:ea typeface="+mn-ea"/>
        <a:cs typeface="+mn-cs"/>
      </a:defRPr>
    </a:lvl2pPr>
    <a:lvl3pPr marL="914400" algn="l" defTabSz="914400" rtl="0" eaLnBrk="1" latinLnBrk="0" hangingPunct="1">
      <a:defRPr sz="1200" kern="1200">
        <a:solidFill>
          <a:schemeClr val="tx1"/>
        </a:solidFill>
        <a:latin typeface="Roboto" panose="02000000000000000000" pitchFamily="2" charset="0"/>
        <a:ea typeface="+mn-ea"/>
        <a:cs typeface="+mn-cs"/>
      </a:defRPr>
    </a:lvl3pPr>
    <a:lvl4pPr marL="1371600" algn="l" defTabSz="914400" rtl="0" eaLnBrk="1" latinLnBrk="0" hangingPunct="1">
      <a:defRPr sz="1200" kern="1200">
        <a:solidFill>
          <a:schemeClr val="tx1"/>
        </a:solidFill>
        <a:latin typeface="Roboto" panose="02000000000000000000" pitchFamily="2" charset="0"/>
        <a:ea typeface="+mn-ea"/>
        <a:cs typeface="+mn-cs"/>
      </a:defRPr>
    </a:lvl4pPr>
    <a:lvl5pPr marL="1828800" algn="l" defTabSz="914400" rtl="0" eaLnBrk="1" latinLnBrk="0" hangingPunct="1">
      <a:defRPr sz="1200" kern="1200">
        <a:solidFill>
          <a:schemeClr val="tx1"/>
        </a:solidFill>
        <a:latin typeface="Roboto"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1ad1b63a0d_0_5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79" name="Google Shape;379;g31ad1b63a0d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traditional </a:t>
            </a:r>
            <a:r>
              <a:rPr lang="en-US" i="1" dirty="0"/>
              <a:t>workflow automation</a:t>
            </a:r>
            <a:r>
              <a:rPr lang="en-US" dirty="0"/>
              <a:t> can maybe send alerts or generate a report.</a:t>
            </a:r>
            <a:br>
              <a:rPr lang="en-US" dirty="0"/>
            </a:br>
            <a:r>
              <a:rPr lang="en-US" dirty="0"/>
              <a:t>But it can’t </a:t>
            </a:r>
            <a:r>
              <a:rPr lang="en-US" i="1" dirty="0"/>
              <a:t>reason</a:t>
            </a:r>
            <a:r>
              <a:rPr lang="en-US" dirty="0"/>
              <a:t> about context — it doesn’t know which recall policy applies, or whether inventory data is outdated, or what tone the customer email should have.</a:t>
            </a:r>
          </a:p>
          <a:p>
            <a:r>
              <a:rPr lang="en-US" dirty="0"/>
              <a:t>That’s where the next generation of AI systems comes in — </a:t>
            </a:r>
            <a:r>
              <a:rPr lang="en-US" i="1" dirty="0"/>
              <a:t>Agentic AI</a:t>
            </a:r>
            <a:r>
              <a:rPr lang="en-US" dirty="0"/>
              <a:t>.</a:t>
            </a:r>
            <a:br>
              <a:rPr lang="en-US" dirty="0"/>
            </a:br>
            <a:r>
              <a:rPr lang="en-US" dirty="0"/>
              <a:t>Agents don’t just follow instructions; they think, decide, and adapt like digital colleagues</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5651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World
"This is real code from a CrewAI financial agent. Look what's happening — importing tools directly, hardcoding them in, passing them to each agent by hand."
"This works. But look at what it means:"
- "These tools are LOCKED here. The quant team builds a better tool tomorrow — your agent doesn't know."
- "Every team reimplements the same Yahoo Finance integration from scratch."
- "Each tool has its own auth, error format — you're writing glue code forever."
- "Your agent must know at BUILD TIME what tools exist. No runtime flexibility."
"MCP changes all of this."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"Let me be precise about where things sit. The LLM is on the far left — stateless text processor. Text in, text out. No memory, no network access."
"Agent Code sits next to it — the orchestration loop you write."
"MCP Client is a library inside your agent code — handles the protocol, HTTP, JSON-RPC, session management."
"MCP Server is where capabilities live — tools, resources, auth, session state."
Point to the red warning — say carefully:
"MCP NEVER talks to the LLM directly. The MCP server advertises capabilities to your agent CODE. Agent code reformats those capabilities and injects them into the LLM's prompt. The LLM only ever sees text. It has no idea MCP exists."
"This becomes very concrete in a few slides when we look at the actual code."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Example
"One question: Should I buy more HDFC Bank today?"
RESOURCES: "Data the agent needs to READ — current price, what you own, what analysts think, how much cash you have. None of this is in the LLM."
TOOLS: "Actions the agent needs to TAKE — place an order, set a stop-loss, log the rationale for compliance, notify you."
"The next few slides show exactly how the agent discovers these, fetches data, and decides what to 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Discovery — The Wire
The agent's very first move is to ask the MCP server: what can you do?
It sends a single GET request to the capabilities endpoint. Back comes a JSON payload — here are my tools, here are my resources, and a plain-English description of each one.
 Notice the descriptions — 'Place a buy/sell order on NSE/BSE.' Written in plain English deliberately — because this text is going to end up in the LLM's context window. The next slide shows exactly how that happens.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Discovery — What It Means
Point to the first implication: "Runtime discovery. You don't hardcode tools at deploy time. The agent asks every time it runs. This is what makes the system adaptable."
"This is the most misunderstood thing about MCP. The JSON goes to your AGENT CODE — not to the LLM. The LLM is a stateless text processor. It has no awareness of MCP at all. Your agent code is the bridge. It takes this JSON, reformats it, and injects it into the system prompt. 
Point to the third: "Swap the server, the agent adapts. Because the prompt is reconstructed from the capabilities response every time — not hardcoded."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Fetch
"Now the LLM has the capabilities list in its prompt — injected by agent code. The agent sends the user's question and asks: what do you need?"
Point to the yellow reasoning box: "The LLM looks at available resources and says — I need portfolio, price, and margin. All three."
"The agent makes three resource requests to the MCP server. Server handles actual API calls to Zerodha."
Walk through results: "150 shares at ₹1,580 average. Current price ₹1,642 — up 4%. Available cash ₹85,400 — enough for ~52 more shares."
"But how does the LLM actually make this decision loop? How does it remember what it already fetched? That's the next section."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Invocation
"Armed with all three resource responses, the LLM reasons about what to do. It comes back with a structured tool call — not prose. It says: call this tool, with these exact parameters, here is the rationale."
Point to agent execution list: "Your agent code takes over — validates, double-checks margin, posts to Zerodha, chains stop-loss and notification calls."
Point to the red box:
"The LLM does NOT execute the trade. It returns a recommendation. YOUR code decides whether to pull the trigger. This is where your guardrails live — spend limits, human approval, compliance checks."
"We've watched what happens. We haven't explained the mechanism yet — the actual loop the agent runs. That's now."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Loop
"We've watched the agent do three things. But what's actually running underneath? This loop. ReAct — Reasoning plus Acting."
THINK: "LLM is called. It reads everything in the conversation so far. Decides: what do I do next? Returns either an action request or a final answer."
ACT: "Agent code reads LLM output. If it's an action — calls MCP, gets the result back."
OBSERVE: "Result appended to conversation history. Back to THINK. LLM gets called again, now with the new result in context."
EXIT: "Loop runs until THINK produces a final answer. That goes back to the user."
Trace: "For our Zerodha example — roughly 4 to 5 THINK steps. Each one is an LLM call. That matters for cost and latency —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Call Accounting
"Let's count LLM calls honestly. This affects your architecture decisions — cost, latency, how you design the agent."
Walk through each row:
"Call 1 is the planning call. User question plus capabilities list. LLM says: I need portfolio, market data, margin. One call."
"Calls 2, 3, 4 — in a fully dynamic ReAct loop, each resource fetch triggers its own LLM call. LLM sees the new result, decides what to do next."
"Call 5 is optional — some agents ask the LLM to confirm before an irreversible action like a trade."
"Fully dynamic: 4 to 5 LLM calls for a straightforward question. Real cost, real latency."
Point to design principle:
"Don't make everything dynamic. For a trading agent, you KNOW you always need portfolio, price, margin. Pre-fetch them in parallel before the first LLM call. Use dynamic only for the action phase — because that genuinely depends on what the data says."
"Static for data you always need. Dynamic where the decision depends on what you find. That one principle saves you 2-3 LLM calls per query."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Code
"Server side — decorated functions. The docstring becomes the description that get_capabilities() returns. That description ends up in the system prompt via the for-loop we saw in slide 12a. That's the full chain."
"Client side — connect once, get_capabilities(), inject into prompt. Then call resources and tools based on what the LLM asks for in the ReAct loop."
"The comment says exactly what happens: formatted and injected into prompt, LLM reads formatted text. Not magic — the four-step process we saw in slides 12a and 12b."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Pivot
"So far MCP has served us beautifully. One question, one agent, the right tools, the ReAct loop. Done."
"But now the client calls and says: rebalance my entire portfolio for a market downturn."
Let the audience read the task list. Pause.
"This is a different problem. Too much context for one window. Different tasks need different expertise. Some can run in parallel. We solved the tool problem with MCP. Now we have a coordination problem. That's where A2A comes 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A2A Is
"A2A was developed by Google with partners. Idea: what if agents could be services that other agents call?"
Supervisor: "Receives the big request and delegates — doesn't try to do everything itself."
Each sub-agent: "Independent service. Its own LLM. Its own ReAct loop. Its own MCP tools. They don't share memory — they communicate via A2A messages."
Callout: "Each agent has its own ReAct loop running internally. A2A is the layer above that — how those independent loops coordinate."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A2A Walkthrough
Step 1: "Research Agent runs its own ReAct loop — its own LLM calls, its own MCP tools for news and market data. Returns a structured answer: overweight INFY, reduce RELIANCE."
Step 2: "Tax Agent — its own loop, its own tax engine via MCP. Returns precise numbers. Supervisor uses this to validate the rebalance is worth doing."
Step 3: "Compliance Agent approves and creates an audit log. Compliance baked into the workflow — not bolted on afterwards."
Step 4: "Execution Agent — which has the Zerodha MCP connection we built earlier — runs its own ReAct loop to place orders, set stop-losses, notify."
"No single agent had to know everything. Each had one job, a clear interface, its own mechanism."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Mental Model
MCP: "Vertical. Agent reaches down to tools and data. Anthropic's open standard. Stateful session."
A2A: "Horizontal. Agents talk to each other as peers. Each peer runs its own ReAct loop internally. Google's protocol."
"MCP gives your agent hands. A2A gives your agent colleagues."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Enterprise Vision
"Zoom all the way out. Your firm already has these departments — Trading, Risk, Research, Client Relations. Each has its own people, systems, expertise."
"The AI future doesn't replace that structure. It mirrors it. Each department gets an agent layer. Those agents use MCP — and the ReAct loop, dynamic prompt construction, conversation history — to interact with their own systems. They use A2A to coordinate across departments."
</a:t>
            </a:r>
            <a:r>
              <a:rPr lang="en-US"/>
              <a:t>
</a:t>
            </a:r>
            <a:r>
              <a:rPr lang="en-US" dirty="0"/>
              <a:t>
"And you now understand exactly how it works. Not just what MCP and A2A are — but the ReAct loop inside each agent, the dynamic prompt construction that connects MCP to the LLM, the conversation history that gives the agent memory. The full mechanism, from first principles."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failures mirror what happens in any new technology era: the excitement comes first, governance follows later.</a:t>
            </a:r>
          </a:p>
          <a:p>
            <a:r>
              <a:rPr lang="en-US" dirty="0"/>
              <a:t>Now, let’s see what an </a:t>
            </a:r>
            <a:r>
              <a:rPr lang="en-US" i="1" dirty="0"/>
              <a:t>enterprise-ready</a:t>
            </a:r>
            <a:r>
              <a:rPr lang="en-US" dirty="0"/>
              <a:t> agent system looks like when guardrails are built in</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31244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1F99-B1CA-6AD1-619B-4EAFEE2005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A79C6FD-E273-6514-46A0-83519BDE26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a:extLst>
              <a:ext uri="{FF2B5EF4-FFF2-40B4-BE49-F238E27FC236}">
                <a16:creationId xmlns:a16="http://schemas.microsoft.com/office/drawing/2014/main" id="{6F8C1248-46D5-CF2E-0F70-FA80BA7DA36D}"/>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5" name="Footer Placeholder 4">
            <a:extLst>
              <a:ext uri="{FF2B5EF4-FFF2-40B4-BE49-F238E27FC236}">
                <a16:creationId xmlns:a16="http://schemas.microsoft.com/office/drawing/2014/main" id="{B6D9B803-28A6-0D2D-911B-F65AB34B57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492315-1F3B-DEA1-EEFB-78A8DECBC4BB}"/>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762000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851FC-FDEC-FAF9-1736-4B64DE2CF5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AEF764-72A4-AE45-69DD-7E4F9F83EA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AFE99-0067-FAB2-2B83-85F47F9B3494}"/>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5" name="Footer Placeholder 4">
            <a:extLst>
              <a:ext uri="{FF2B5EF4-FFF2-40B4-BE49-F238E27FC236}">
                <a16:creationId xmlns:a16="http://schemas.microsoft.com/office/drawing/2014/main" id="{72E21F18-2595-CA39-1770-42CEBB4D5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AB655F-CE62-B621-B564-16B8166D41B5}"/>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3451979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2D83-2758-D3F4-7E95-967A3C79C8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572B79C-782E-05BE-7152-E77E37283C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AEC73-94D3-55F6-8AE0-3C858B3C7BBD}"/>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5" name="Footer Placeholder 4">
            <a:extLst>
              <a:ext uri="{FF2B5EF4-FFF2-40B4-BE49-F238E27FC236}">
                <a16:creationId xmlns:a16="http://schemas.microsoft.com/office/drawing/2014/main" id="{D29ABC82-6AE7-C057-DA2A-6A96C33117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37B426-68C5-433A-E32C-39E898E6F294}"/>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694647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0E6F-EAB8-CEAB-2FAE-75BC196859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1DE7DD-FAD2-7BA3-520D-50B5E8D182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1C7303-19A6-9B58-3D15-11E0147B5E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735923-C9E1-2CEC-8FB8-C4C70BED22AC}"/>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6" name="Footer Placeholder 5">
            <a:extLst>
              <a:ext uri="{FF2B5EF4-FFF2-40B4-BE49-F238E27FC236}">
                <a16:creationId xmlns:a16="http://schemas.microsoft.com/office/drawing/2014/main" id="{36A39D9F-1CDA-0991-515F-9710F49ABC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90677E-3821-FD1C-9274-914B962D37B5}"/>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2553290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1336-C103-EF92-70A8-65679118E1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22EE1E-726F-71D8-0D39-641E636859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7D9BE-B529-ACBF-096F-F4E649F4F8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3F8FCD-442C-225F-126E-05E71A97C1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1B3383-5FC6-6537-19A0-C9CD32821E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4485F3-3CD6-0215-4419-94060B0756E3}"/>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8" name="Footer Placeholder 7">
            <a:extLst>
              <a:ext uri="{FF2B5EF4-FFF2-40B4-BE49-F238E27FC236}">
                <a16:creationId xmlns:a16="http://schemas.microsoft.com/office/drawing/2014/main" id="{9F5ED0F7-C3CB-D031-369A-28688C401C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C99830-0E73-18A6-6B60-109F14848987}"/>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1633198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D80C4-7A66-46E5-675E-F2178974CC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259B93-5E35-D20A-65C4-A7042DB89398}"/>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4" name="Footer Placeholder 3">
            <a:extLst>
              <a:ext uri="{FF2B5EF4-FFF2-40B4-BE49-F238E27FC236}">
                <a16:creationId xmlns:a16="http://schemas.microsoft.com/office/drawing/2014/main" id="{A943C76D-12C2-7EE6-906D-1768223A14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D64113-4F49-78B5-AA96-68287027D106}"/>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3484275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BD3C2C-B5B0-B80A-ACEB-C66CA459C65A}"/>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3" name="Footer Placeholder 2">
            <a:extLst>
              <a:ext uri="{FF2B5EF4-FFF2-40B4-BE49-F238E27FC236}">
                <a16:creationId xmlns:a16="http://schemas.microsoft.com/office/drawing/2014/main" id="{3FB387B1-F496-EFBC-E3B0-3CC4BF12C5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3B7CEB-39E5-1A43-0CA3-4B1B4421175B}"/>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316053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FC58F-6D6A-D47D-7ED3-565D3D129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431B7F-3FFD-D79F-B097-3571452757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E6F8D6-56D5-9058-9A20-61AC0730D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63028E-E1C7-30A9-3CCD-55030F492938}"/>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6" name="Footer Placeholder 5">
            <a:extLst>
              <a:ext uri="{FF2B5EF4-FFF2-40B4-BE49-F238E27FC236}">
                <a16:creationId xmlns:a16="http://schemas.microsoft.com/office/drawing/2014/main" id="{77EEE7F0-862E-4DBE-4368-6A79D628BC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08E92F-D3C6-284E-7D42-CC44FC033CFC}"/>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2614234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CEB8-6B39-83E2-CCBF-9B8C414056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4B4879-A83F-C2D0-B632-B1EA612D7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02CCC3-6195-8F1A-DE22-E63D98C05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417181-A855-90AA-C138-D20D79089738}"/>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6" name="Footer Placeholder 5">
            <a:extLst>
              <a:ext uri="{FF2B5EF4-FFF2-40B4-BE49-F238E27FC236}">
                <a16:creationId xmlns:a16="http://schemas.microsoft.com/office/drawing/2014/main" id="{17E041BA-87A9-225F-EB55-852F37267B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875764-8564-469E-4B91-DD21D1DFFB9E}"/>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197947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8B41-8E1C-0037-8C8A-7CE6ADD93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A70908-517D-79AF-D656-2D1538E05B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B38157-1056-BAD6-99DB-8B8A6B8B751E}"/>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5" name="Footer Placeholder 4">
            <a:extLst>
              <a:ext uri="{FF2B5EF4-FFF2-40B4-BE49-F238E27FC236}">
                <a16:creationId xmlns:a16="http://schemas.microsoft.com/office/drawing/2014/main" id="{F20A6E49-3B76-7BFD-32E6-CAF66EE9DB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FFFF8-8AD3-77AD-4CC7-D387A64EFA3A}"/>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3786070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7CFEF3-68C1-D259-0092-4627DCF3DE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D92B61-DCC1-2B07-B7FC-AC2599C567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5D3E78-B596-3BD0-43BA-08F3372AF396}"/>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5" name="Footer Placeholder 4">
            <a:extLst>
              <a:ext uri="{FF2B5EF4-FFF2-40B4-BE49-F238E27FC236}">
                <a16:creationId xmlns:a16="http://schemas.microsoft.com/office/drawing/2014/main" id="{C5CDC2F5-E821-4544-8D01-7FA5A5A97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70770E-8C3A-5466-1C92-F3E4365A6D3A}"/>
              </a:ext>
            </a:extLst>
          </p:cNvPr>
          <p:cNvSpPr>
            <a:spLocks noGrp="1"/>
          </p:cNvSpPr>
          <p:nvPr>
            <p:ph type="sldNum" sz="quarter" idx="12"/>
          </p:nvPr>
        </p:nvSpPr>
        <p:spPr/>
        <p:txBody>
          <a:bodyPr/>
          <a:lstStyle/>
          <a:p>
            <a:fld id="{B7B87298-D008-41BA-B734-F288B193626B}" type="slidenum">
              <a:rPr lang="en-IN" smtClean="0"/>
              <a:t>‹#›</a:t>
            </a:fld>
            <a:endParaRPr lang="en-IN"/>
          </a:p>
        </p:txBody>
      </p:sp>
    </p:spTree>
    <p:extLst>
      <p:ext uri="{BB962C8B-B14F-4D97-AF65-F5344CB8AC3E}">
        <p14:creationId xmlns:p14="http://schemas.microsoft.com/office/powerpoint/2010/main" val="3311334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Divider">
  <p:cSld name="1_Divider">
    <p:spTree>
      <p:nvGrpSpPr>
        <p:cNvPr id="1" name="Shape 102"/>
        <p:cNvGrpSpPr/>
        <p:nvPr/>
      </p:nvGrpSpPr>
      <p:grpSpPr>
        <a:xfrm>
          <a:off x="0" y="0"/>
          <a:ext cx="0" cy="0"/>
          <a:chOff x="0" y="0"/>
          <a:chExt cx="0" cy="0"/>
        </a:xfrm>
      </p:grpSpPr>
    </p:spTree>
    <p:extLst>
      <p:ext uri="{BB962C8B-B14F-4D97-AF65-F5344CB8AC3E}">
        <p14:creationId xmlns:p14="http://schemas.microsoft.com/office/powerpoint/2010/main" val="148347442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64095-2B8B-5ABF-D7E7-E67F170053E2}"/>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135A650B-1E8C-ABA2-B358-9BFE9832FA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78FB18-AADD-046B-B922-E019A86C71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C6B4CD-6EF3-3429-46E8-914CE43D90B8}"/>
              </a:ext>
            </a:extLst>
          </p:cNvPr>
          <p:cNvSpPr>
            <a:spLocks noGrp="1"/>
          </p:cNvSpPr>
          <p:nvPr>
            <p:ph type="dt" sz="half" idx="10"/>
          </p:nvPr>
        </p:nvSpPr>
        <p:spPr/>
        <p:txBody>
          <a:bodyPr/>
          <a:lstStyle/>
          <a:p>
            <a:fld id="{D5B5736E-F6E9-43C9-BE4D-2882841D9231}" type="datetimeFigureOut">
              <a:rPr lang="en-IN" smtClean="0"/>
              <a:t>17-03-2026</a:t>
            </a:fld>
            <a:endParaRPr lang="en-IN"/>
          </a:p>
        </p:txBody>
      </p:sp>
      <p:sp>
        <p:nvSpPr>
          <p:cNvPr id="6" name="Footer Placeholder 5">
            <a:extLst>
              <a:ext uri="{FF2B5EF4-FFF2-40B4-BE49-F238E27FC236}">
                <a16:creationId xmlns:a16="http://schemas.microsoft.com/office/drawing/2014/main" id="{2D03EABD-4BDD-FB27-7200-761EFE5828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A52BA0-1CE9-BE63-333E-CE7A39278AA2}"/>
              </a:ext>
            </a:extLst>
          </p:cNvPr>
          <p:cNvSpPr>
            <a:spLocks noGrp="1"/>
          </p:cNvSpPr>
          <p:nvPr>
            <p:ph type="sldNum" sz="quarter" idx="12"/>
          </p:nvPr>
        </p:nvSpPr>
        <p:spPr/>
        <p:txBody>
          <a:bodyPr/>
          <a:lstStyle/>
          <a:p>
            <a:fld id="{B7B87298-D008-41BA-B734-F288B193626B}" type="slidenum">
              <a:rPr lang="en-IN" smtClean="0"/>
              <a:t>‹#›</a:t>
            </a:fld>
            <a:endParaRPr lang="en-IN" dirty="0"/>
          </a:p>
        </p:txBody>
      </p:sp>
    </p:spTree>
    <p:extLst>
      <p:ext uri="{BB962C8B-B14F-4D97-AF65-F5344CB8AC3E}">
        <p14:creationId xmlns:p14="http://schemas.microsoft.com/office/powerpoint/2010/main" val="433525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692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B275D-0F9A-F67E-1D1D-3FA8FA1866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A3C29F-A4A4-C71D-501A-95DF631B5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E6688-7CF9-BA83-DB9D-F3CFEB455A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B5736E-F6E9-43C9-BE4D-2882841D9231}" type="datetimeFigureOut">
              <a:rPr lang="en-IN" smtClean="0"/>
              <a:pPr/>
              <a:t>17-03-2026</a:t>
            </a:fld>
            <a:endParaRPr lang="en-IN"/>
          </a:p>
        </p:txBody>
      </p:sp>
      <p:sp>
        <p:nvSpPr>
          <p:cNvPr id="5" name="Footer Placeholder 4">
            <a:extLst>
              <a:ext uri="{FF2B5EF4-FFF2-40B4-BE49-F238E27FC236}">
                <a16:creationId xmlns:a16="http://schemas.microsoft.com/office/drawing/2014/main" id="{B5885F8C-D11E-0A75-C9D8-9A14663A3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1D34F95-66E4-A818-203C-2287DF5187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B87298-D008-41BA-B734-F288B193626B}" type="slidenum">
              <a:rPr lang="en-IN" smtClean="0"/>
              <a:pPr/>
              <a:t>‹#›</a:t>
            </a:fld>
            <a:endParaRPr lang="en-IN"/>
          </a:p>
        </p:txBody>
      </p:sp>
      <p:sp>
        <p:nvSpPr>
          <p:cNvPr id="8" name="Google Shape;12;g31c8c04955c_0_0">
            <a:extLst>
              <a:ext uri="{FF2B5EF4-FFF2-40B4-BE49-F238E27FC236}">
                <a16:creationId xmlns:a16="http://schemas.microsoft.com/office/drawing/2014/main" id="{9280EC30-7441-A852-9C69-A35963D52303}"/>
              </a:ext>
            </a:extLst>
          </p:cNvPr>
          <p:cNvSpPr/>
          <p:nvPr userDrawn="1"/>
        </p:nvSpPr>
        <p:spPr>
          <a:xfrm>
            <a:off x="0" y="6721475"/>
            <a:ext cx="12192000" cy="136524"/>
          </a:xfrm>
          <a:prstGeom prst="rect">
            <a:avLst/>
          </a:prstGeom>
          <a:gradFill flip="none" rotWithShape="1">
            <a:gsLst>
              <a:gs pos="0">
                <a:srgbClr val="B137EF">
                  <a:tint val="66000"/>
                  <a:satMod val="160000"/>
                </a:srgbClr>
              </a:gs>
              <a:gs pos="50000">
                <a:srgbClr val="B137EF">
                  <a:tint val="44500"/>
                  <a:satMod val="160000"/>
                </a:srgbClr>
              </a:gs>
              <a:gs pos="100000">
                <a:srgbClr val="B137EF">
                  <a:tint val="23500"/>
                  <a:satMod val="160000"/>
                </a:srgbClr>
              </a:gs>
            </a:gsLst>
            <a:lin ang="108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 name="Text 3">
            <a:extLst>
              <a:ext uri="{FF2B5EF4-FFF2-40B4-BE49-F238E27FC236}">
                <a16:creationId xmlns:a16="http://schemas.microsoft.com/office/drawing/2014/main" id="{878E1FA5-B66D-B851-8798-D2A04DD21AEA}"/>
              </a:ext>
            </a:extLst>
          </p:cNvPr>
          <p:cNvSpPr/>
          <p:nvPr userDrawn="1"/>
        </p:nvSpPr>
        <p:spPr>
          <a:xfrm>
            <a:off x="10570433" y="6585877"/>
            <a:ext cx="1703611" cy="335042"/>
          </a:xfrm>
          <a:prstGeom prst="rect">
            <a:avLst/>
          </a:prstGeom>
          <a:noFill/>
          <a:ln/>
        </p:spPr>
        <p:txBody>
          <a:bodyPr wrap="none" lIns="0" tIns="0" rIns="0" bIns="0" rtlCol="0" anchor="t"/>
          <a:lstStyle/>
          <a:p>
            <a:pPr marL="0" indent="0" algn="ctr">
              <a:lnSpc>
                <a:spcPts val="2600"/>
              </a:lnSpc>
              <a:buNone/>
            </a:pPr>
            <a:r>
              <a:rPr lang="en-US" sz="1100" dirty="0">
                <a:solidFill>
                  <a:schemeClr val="bg1">
                    <a:lumMod val="95000"/>
                  </a:schemeClr>
                </a:solidFill>
                <a:latin typeface="Aptos" panose="020B0004020202020204" pitchFamily="34" charset="0"/>
                <a:ea typeface="Source Sans 3" pitchFamily="34" charset="-122"/>
                <a:cs typeface="Source Sans 3" pitchFamily="34" charset="-120"/>
              </a:rPr>
              <a:t>© 2025 TekFrameworks</a:t>
            </a:r>
            <a:endParaRPr lang="en-US" sz="1100" dirty="0">
              <a:solidFill>
                <a:schemeClr val="bg1">
                  <a:lumMod val="95000"/>
                </a:schemeClr>
              </a:solidFill>
              <a:latin typeface="Aptos" panose="020B0004020202020204" pitchFamily="34" charset="0"/>
            </a:endParaRPr>
          </a:p>
        </p:txBody>
      </p:sp>
      <p:pic>
        <p:nvPicPr>
          <p:cNvPr id="7" name="Image 0" descr="preencoded.png">
            <a:extLst>
              <a:ext uri="{FF2B5EF4-FFF2-40B4-BE49-F238E27FC236}">
                <a16:creationId xmlns:a16="http://schemas.microsoft.com/office/drawing/2014/main" id="{C5425469-68B2-41B1-105A-9317BDB37C94}"/>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10672095" y="36128"/>
            <a:ext cx="1519905" cy="513306"/>
          </a:xfrm>
          <a:prstGeom prst="rect">
            <a:avLst/>
          </a:prstGeom>
        </p:spPr>
      </p:pic>
    </p:spTree>
    <p:extLst>
      <p:ext uri="{BB962C8B-B14F-4D97-AF65-F5344CB8AC3E}">
        <p14:creationId xmlns:p14="http://schemas.microsoft.com/office/powerpoint/2010/main" val="120710849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2" r:id="rId13"/>
    <p:sldLayoutId id="214748370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anandjayaraman1"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hyperlink" Target="http://www.tekframework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
          <p:cNvSpPr txBox="1">
            <a:spLocks noGrp="1"/>
          </p:cNvSpPr>
          <p:nvPr>
            <p:ph type="ctrTitle"/>
          </p:nvPr>
        </p:nvSpPr>
        <p:spPr>
          <a:xfrm>
            <a:off x="886407" y="1461580"/>
            <a:ext cx="10441993" cy="2387700"/>
          </a:xfrm>
          <a:prstGeom prst="rect">
            <a:avLst/>
          </a:prstGeom>
          <a:noFill/>
          <a:ln>
            <a:noFill/>
          </a:ln>
        </p:spPr>
        <p:txBody>
          <a:bodyPr spcFirstLastPara="1" wrap="square" lIns="91425" tIns="45700" rIns="91425" bIns="45700" anchor="b" anchorCtr="0">
            <a:normAutofit/>
          </a:bodyPr>
          <a:lstStyle/>
          <a:p>
            <a:pPr lvl="0" algn="l">
              <a:spcBef>
                <a:spcPts val="0"/>
              </a:spcBef>
              <a:buClr>
                <a:schemeClr val="dk1"/>
              </a:buClr>
              <a:buSzPts val="6000"/>
            </a:pPr>
            <a:r>
              <a:rPr lang="en-US" sz="3600" b="1" dirty="0">
                <a:solidFill>
                  <a:srgbClr val="002060"/>
                </a:solidFill>
                <a:latin typeface="Aptos" panose="020B0004020202020204" pitchFamily="34" charset="0"/>
              </a:rPr>
              <a:t>From Tools to Teammates: Creating Autonomous AI Agents</a:t>
            </a:r>
          </a:p>
        </p:txBody>
      </p:sp>
      <p:sp>
        <p:nvSpPr>
          <p:cNvPr id="118" name="Google Shape;118;p1"/>
          <p:cNvSpPr txBox="1">
            <a:spLocks noGrp="1"/>
          </p:cNvSpPr>
          <p:nvPr>
            <p:ph type="subTitle" idx="1"/>
          </p:nvPr>
        </p:nvSpPr>
        <p:spPr>
          <a:xfrm>
            <a:off x="1524000" y="4616852"/>
            <a:ext cx="3600130" cy="41909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N" sz="2000" b="1" dirty="0">
                <a:latin typeface="Aptos" panose="020B0004020202020204" pitchFamily="34" charset="0"/>
                <a:ea typeface="Roboto" panose="02000000000000000000" pitchFamily="2" charset="0"/>
              </a:rPr>
              <a:t>- By Dr. Anand Jayaraman</a:t>
            </a:r>
          </a:p>
        </p:txBody>
      </p:sp>
      <p:sp>
        <p:nvSpPr>
          <p:cNvPr id="5" name="Text 3">
            <a:extLst>
              <a:ext uri="{FF2B5EF4-FFF2-40B4-BE49-F238E27FC236}">
                <a16:creationId xmlns:a16="http://schemas.microsoft.com/office/drawing/2014/main" id="{F1B0E8C2-D9E0-C178-DF4F-13C95ED14959}"/>
              </a:ext>
            </a:extLst>
          </p:cNvPr>
          <p:cNvSpPr/>
          <p:nvPr/>
        </p:nvSpPr>
        <p:spPr>
          <a:xfrm>
            <a:off x="10527569" y="6528725"/>
            <a:ext cx="1703611" cy="335042"/>
          </a:xfrm>
          <a:prstGeom prst="rect">
            <a:avLst/>
          </a:prstGeom>
          <a:noFill/>
          <a:ln/>
        </p:spPr>
        <p:txBody>
          <a:bodyPr wrap="none" lIns="0" tIns="0" rIns="0" bIns="0" rtlCol="0" anchor="t"/>
          <a:lstStyle/>
          <a:p>
            <a:pPr marL="0" indent="0" algn="ctr">
              <a:lnSpc>
                <a:spcPts val="2600"/>
              </a:lnSpc>
              <a:buNone/>
            </a:pPr>
            <a:endParaRPr lang="en-US" sz="1200" dirty="0">
              <a:solidFill>
                <a:srgbClr val="3371A5"/>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380"/>
        <p:cNvGrpSpPr/>
        <p:nvPr/>
      </p:nvGrpSpPr>
      <p:grpSpPr>
        <a:xfrm>
          <a:off x="0" y="0"/>
          <a:ext cx="0" cy="0"/>
          <a:chOff x="0" y="0"/>
          <a:chExt cx="0" cy="0"/>
        </a:xfrm>
      </p:grpSpPr>
      <p:sp>
        <p:nvSpPr>
          <p:cNvPr id="382" name="Google Shape;382;g31ad1b63a0d_0_583"/>
          <p:cNvSpPr/>
          <p:nvPr/>
        </p:nvSpPr>
        <p:spPr>
          <a:xfrm>
            <a:off x="402274" y="1144152"/>
            <a:ext cx="6558300" cy="47627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IN" sz="2000" b="1" i="0" u="none" strike="noStrike" cap="none" dirty="0">
                <a:latin typeface="Aptos" panose="020B0004020202020204" pitchFamily="34" charset="0"/>
                <a:ea typeface="Roboto" panose="02000000000000000000" pitchFamily="2" charset="0"/>
                <a:cs typeface="Roboto" panose="02000000000000000000" pitchFamily="2" charset="0"/>
                <a:sym typeface="Candara"/>
              </a:rPr>
              <a:t>Role</a:t>
            </a:r>
            <a:endParaRPr sz="1600" b="1" i="0" u="none" strike="noStrike" cap="none" dirty="0">
              <a:latin typeface="Aptos" panose="020B0004020202020204" pitchFamily="34" charset="0"/>
              <a:ea typeface="Roboto" panose="02000000000000000000" pitchFamily="2" charset="0"/>
              <a:cs typeface="Roboto" panose="02000000000000000000" pitchFamily="2" charset="0"/>
              <a:sym typeface="Arial"/>
            </a:endParaRPr>
          </a:p>
          <a:p>
            <a:pPr lvl="1">
              <a:buClr>
                <a:srgbClr val="000000"/>
              </a:buClr>
              <a:buSzPts val="1800"/>
            </a:pPr>
            <a:r>
              <a:rPr lang="en-US" dirty="0">
                <a:latin typeface="Aptos" panose="020B0004020202020204" pitchFamily="34" charset="0"/>
                <a:ea typeface="Roboto" panose="02000000000000000000" pitchFamily="2" charset="0"/>
                <a:cs typeface="Arial"/>
                <a:sym typeface="Candara"/>
              </a:rPr>
              <a:t>Principal Scientist, </a:t>
            </a:r>
            <a:r>
              <a:rPr lang="en-US" dirty="0" err="1">
                <a:latin typeface="Aptos" panose="020B0004020202020204" pitchFamily="34" charset="0"/>
                <a:ea typeface="Roboto" panose="02000000000000000000" pitchFamily="2" charset="0"/>
                <a:cs typeface="Arial"/>
                <a:sym typeface="Candara"/>
              </a:rPr>
              <a:t>TekFrameworks</a:t>
            </a:r>
            <a:endParaRPr lang="en-US" dirty="0">
              <a:latin typeface="Aptos" panose="020B0004020202020204" pitchFamily="34" charset="0"/>
              <a:ea typeface="Roboto" panose="02000000000000000000" pitchFamily="2" charset="0"/>
              <a:cs typeface="Arial"/>
              <a:sym typeface="Arial"/>
            </a:endParaRPr>
          </a:p>
          <a:p>
            <a:pPr lvl="1">
              <a:spcBef>
                <a:spcPts val="267"/>
              </a:spcBef>
              <a:buClr>
                <a:srgbClr val="000000"/>
              </a:buClr>
              <a:buSzPts val="1800"/>
            </a:pPr>
            <a:r>
              <a:rPr lang="en-US" b="0" i="0" u="sng" strike="noStrike" cap="none" dirty="0">
                <a:latin typeface="Aptos" panose="020B0004020202020204" pitchFamily="34" charset="0"/>
                <a:ea typeface="Roboto" panose="02000000000000000000" pitchFamily="2" charset="0"/>
                <a:cs typeface="Arial"/>
                <a:sym typeface="Arial"/>
                <a:hlinkClick r:id="rId3"/>
              </a:rPr>
              <a:t>https://www.linkedin.com/in/anandjayaraman1</a:t>
            </a:r>
            <a:endParaRPr lang="en-US" b="0" i="0" u="sng" strike="noStrike" cap="none" dirty="0">
              <a:latin typeface="Aptos" panose="020B0004020202020204" pitchFamily="34" charset="0"/>
              <a:ea typeface="Roboto" panose="02000000000000000000" pitchFamily="2" charset="0"/>
              <a:cs typeface="Arial"/>
              <a:sym typeface="Arial"/>
            </a:endParaRPr>
          </a:p>
          <a:p>
            <a:pPr lvl="1">
              <a:spcBef>
                <a:spcPts val="267"/>
              </a:spcBef>
              <a:buClr>
                <a:srgbClr val="000000"/>
              </a:buClr>
              <a:buSzPts val="1800"/>
            </a:pPr>
            <a:r>
              <a:rPr lang="en-US" dirty="0">
                <a:latin typeface="Aptos" panose="020B0004020202020204" pitchFamily="34" charset="0"/>
                <a:ea typeface="Roboto" panose="02000000000000000000" pitchFamily="2" charset="0"/>
                <a:cs typeface="Arial"/>
                <a:sym typeface="Arial"/>
              </a:rPr>
              <a:t>Anand.Jayaraman@tekframeworks.com</a:t>
            </a:r>
          </a:p>
          <a:p>
            <a:pPr lvl="1">
              <a:spcBef>
                <a:spcPts val="267"/>
              </a:spcBef>
              <a:buClr>
                <a:srgbClr val="000000"/>
              </a:buClr>
              <a:buSzPts val="1800"/>
            </a:pPr>
            <a:r>
              <a:rPr lang="en-US" dirty="0">
                <a:latin typeface="Aptos" panose="020B0004020202020204" pitchFamily="34" charset="0"/>
                <a:ea typeface="Roboto" panose="02000000000000000000" pitchFamily="2" charset="0"/>
                <a:cs typeface="Arial"/>
                <a:sym typeface="Arial"/>
              </a:rPr>
              <a:t>Anandhan@iitbombay.org</a:t>
            </a:r>
            <a:endParaRPr lang="en-US" b="0" i="0" u="none" strike="noStrike" cap="none" dirty="0">
              <a:latin typeface="Aptos" panose="020B0004020202020204" pitchFamily="34" charset="0"/>
              <a:ea typeface="Roboto" panose="02000000000000000000" pitchFamily="2" charset="0"/>
              <a:cs typeface="Candara"/>
              <a:sym typeface="Candara"/>
            </a:endParaRPr>
          </a:p>
          <a:p>
            <a:pPr marL="0" marR="0" lvl="0" indent="0" algn="l" rtl="0">
              <a:lnSpc>
                <a:spcPct val="100000"/>
              </a:lnSpc>
              <a:spcBef>
                <a:spcPts val="267"/>
              </a:spcBef>
              <a:spcAft>
                <a:spcPts val="0"/>
              </a:spcAft>
              <a:buClr>
                <a:srgbClr val="000000"/>
              </a:buClr>
              <a:buSzPts val="1800"/>
              <a:buFont typeface="Arial"/>
              <a:buNone/>
            </a:pPr>
            <a:endParaRPr sz="2000" b="0" i="0" u="none" strike="noStrike" cap="none" dirty="0">
              <a:latin typeface="Aptos" panose="020B0004020202020204" pitchFamily="34" charset="0"/>
              <a:ea typeface="Roboto" panose="02000000000000000000" pitchFamily="2" charset="0"/>
              <a:cs typeface="Roboto" panose="02000000000000000000" pitchFamily="2" charset="0"/>
              <a:sym typeface="Candara"/>
            </a:endParaRPr>
          </a:p>
          <a:p>
            <a:pPr marL="0" marR="0" lvl="0" indent="0" algn="l" rtl="0">
              <a:lnSpc>
                <a:spcPct val="100000"/>
              </a:lnSpc>
              <a:spcBef>
                <a:spcPts val="267"/>
              </a:spcBef>
              <a:spcAft>
                <a:spcPts val="0"/>
              </a:spcAft>
              <a:buClr>
                <a:srgbClr val="000000"/>
              </a:buClr>
              <a:buSzPts val="1800"/>
              <a:buFont typeface="Arial"/>
              <a:buNone/>
            </a:pPr>
            <a:r>
              <a:rPr lang="en-IN" sz="2000" b="1" i="0" u="none" strike="noStrike" cap="none" dirty="0">
                <a:latin typeface="Aptos" panose="020B0004020202020204" pitchFamily="34" charset="0"/>
                <a:ea typeface="Roboto" panose="02000000000000000000" pitchFamily="2" charset="0"/>
                <a:cs typeface="Roboto" panose="02000000000000000000" pitchFamily="2" charset="0"/>
                <a:sym typeface="Candara"/>
              </a:rPr>
              <a:t>Academics</a:t>
            </a:r>
            <a:endParaRPr sz="1600" b="1" i="0" u="none" strike="noStrike" cap="none" dirty="0">
              <a:latin typeface="Aptos" panose="020B0004020202020204" pitchFamily="34" charset="0"/>
              <a:ea typeface="Roboto" panose="02000000000000000000" pitchFamily="2" charset="0"/>
              <a:cs typeface="Roboto" panose="02000000000000000000" pitchFamily="2" charset="0"/>
              <a:sym typeface="Arial"/>
            </a:endParaRPr>
          </a:p>
          <a:p>
            <a:pPr marL="285750" marR="0" lvl="0" indent="-285750" algn="l" rtl="0">
              <a:lnSpc>
                <a:spcPct val="100000"/>
              </a:lnSpc>
              <a:spcBef>
                <a:spcPts val="267"/>
              </a:spcBef>
              <a:spcAft>
                <a:spcPts val="0"/>
              </a:spcAft>
              <a:buClr>
                <a:schemeClr val="lt1"/>
              </a:buClr>
              <a:buSzPts val="1800"/>
              <a:buFont typeface="Arial"/>
              <a:buChar char="•"/>
            </a:pPr>
            <a:r>
              <a:rPr lang="en-IN" b="0" i="0" u="none" strike="noStrike" cap="none" dirty="0">
                <a:latin typeface="Aptos" panose="020B0004020202020204" pitchFamily="34" charset="0"/>
                <a:ea typeface="Roboto" panose="02000000000000000000" pitchFamily="2" charset="0"/>
                <a:cs typeface="Roboto" panose="02000000000000000000" pitchFamily="2" charset="0"/>
                <a:sym typeface="Candara"/>
              </a:rPr>
              <a:t>   Ph.D. in Physics, University of Pittsburgh, USA</a:t>
            </a:r>
            <a:endParaRPr sz="1400" b="0" i="0" u="none" strike="noStrike" cap="none" dirty="0">
              <a:latin typeface="Aptos" panose="020B0004020202020204" pitchFamily="34" charset="0"/>
              <a:ea typeface="Roboto" panose="02000000000000000000" pitchFamily="2" charset="0"/>
              <a:cs typeface="Roboto" panose="02000000000000000000" pitchFamily="2" charset="0"/>
              <a:sym typeface="Arial"/>
            </a:endParaRPr>
          </a:p>
          <a:p>
            <a:pPr marL="285750" marR="0" lvl="0" indent="-285750" algn="l" rtl="0">
              <a:lnSpc>
                <a:spcPct val="100000"/>
              </a:lnSpc>
              <a:spcBef>
                <a:spcPts val="267"/>
              </a:spcBef>
              <a:spcAft>
                <a:spcPts val="0"/>
              </a:spcAft>
              <a:buClr>
                <a:schemeClr val="lt1"/>
              </a:buClr>
              <a:buSzPts val="1800"/>
              <a:buFont typeface="Arial"/>
              <a:buChar char="•"/>
            </a:pPr>
            <a:r>
              <a:rPr lang="en-IN" b="0" i="0" u="none" strike="noStrike" cap="none" dirty="0">
                <a:latin typeface="Aptos" panose="020B0004020202020204" pitchFamily="34" charset="0"/>
                <a:ea typeface="Roboto" panose="02000000000000000000" pitchFamily="2" charset="0"/>
                <a:cs typeface="Roboto" panose="02000000000000000000" pitchFamily="2" charset="0"/>
                <a:sym typeface="Candara"/>
              </a:rPr>
              <a:t>   B.Tech. IIT Bombay, India</a:t>
            </a:r>
            <a:endParaRPr sz="1400" b="0" i="0" u="none" strike="noStrike" cap="none" dirty="0">
              <a:latin typeface="Aptos" panose="020B0004020202020204" pitchFamily="34" charset="0"/>
              <a:ea typeface="Roboto" panose="02000000000000000000" pitchFamily="2" charset="0"/>
              <a:cs typeface="Roboto" panose="02000000000000000000" pitchFamily="2" charset="0"/>
              <a:sym typeface="Arial"/>
            </a:endParaRPr>
          </a:p>
          <a:p>
            <a:pPr marL="0" marR="0" lvl="0" indent="0" algn="l" rtl="0">
              <a:lnSpc>
                <a:spcPct val="100000"/>
              </a:lnSpc>
              <a:spcBef>
                <a:spcPts val="267"/>
              </a:spcBef>
              <a:spcAft>
                <a:spcPts val="0"/>
              </a:spcAft>
              <a:buClr>
                <a:srgbClr val="000000"/>
              </a:buClr>
              <a:buSzPts val="1800"/>
              <a:buFont typeface="Arial"/>
              <a:buNone/>
            </a:pPr>
            <a:endParaRPr sz="2000" b="0" i="0" u="none" strike="noStrike" cap="none" dirty="0">
              <a:latin typeface="Aptos" panose="020B0004020202020204" pitchFamily="34" charset="0"/>
              <a:ea typeface="Roboto" panose="02000000000000000000" pitchFamily="2" charset="0"/>
              <a:cs typeface="Roboto" panose="02000000000000000000" pitchFamily="2" charset="0"/>
              <a:sym typeface="Candara"/>
            </a:endParaRPr>
          </a:p>
          <a:p>
            <a:pPr marL="0" marR="0" lvl="0" indent="0" algn="l" rtl="0">
              <a:lnSpc>
                <a:spcPct val="100000"/>
              </a:lnSpc>
              <a:spcBef>
                <a:spcPts val="267"/>
              </a:spcBef>
              <a:spcAft>
                <a:spcPts val="0"/>
              </a:spcAft>
              <a:buClr>
                <a:srgbClr val="000000"/>
              </a:buClr>
              <a:buSzPts val="1800"/>
              <a:buFont typeface="Arial"/>
              <a:buNone/>
            </a:pPr>
            <a:r>
              <a:rPr lang="en-IN" sz="2000" b="1" i="0" u="none" strike="noStrike" cap="none" dirty="0">
                <a:latin typeface="Aptos" panose="020B0004020202020204" pitchFamily="34" charset="0"/>
                <a:ea typeface="Roboto" panose="02000000000000000000" pitchFamily="2" charset="0"/>
                <a:cs typeface="Roboto" panose="02000000000000000000" pitchFamily="2" charset="0"/>
                <a:sym typeface="Candara"/>
              </a:rPr>
              <a:t>Research interests</a:t>
            </a:r>
            <a:endParaRPr sz="1600" b="1" i="0" u="none" strike="noStrike" cap="none" dirty="0">
              <a:latin typeface="Aptos" panose="020B0004020202020204" pitchFamily="34" charset="0"/>
              <a:ea typeface="Roboto" panose="02000000000000000000" pitchFamily="2" charset="0"/>
              <a:cs typeface="Roboto" panose="02000000000000000000" pitchFamily="2" charset="0"/>
              <a:sym typeface="Arial"/>
            </a:endParaRPr>
          </a:p>
          <a:p>
            <a:pPr lvl="1"/>
            <a:r>
              <a:rPr lang="en-US" dirty="0">
                <a:latin typeface="Aptos" panose="020B0004020202020204" pitchFamily="34" charset="0"/>
              </a:rPr>
              <a:t>Financial Markets, Algorithmic Trading</a:t>
            </a:r>
          </a:p>
          <a:p>
            <a:pPr lvl="1"/>
            <a:r>
              <a:rPr lang="en-US" dirty="0">
                <a:latin typeface="Aptos" panose="020B0004020202020204" pitchFamily="34" charset="0"/>
              </a:rPr>
              <a:t>Analytics in practice</a:t>
            </a:r>
          </a:p>
        </p:txBody>
      </p:sp>
      <p:sp>
        <p:nvSpPr>
          <p:cNvPr id="2" name="Google Shape;383;g31ad1b63a0d_0_583">
            <a:extLst>
              <a:ext uri="{FF2B5EF4-FFF2-40B4-BE49-F238E27FC236}">
                <a16:creationId xmlns:a16="http://schemas.microsoft.com/office/drawing/2014/main" id="{2B44C4D6-B827-A96B-6746-936E0A9B7A31}"/>
              </a:ext>
            </a:extLst>
          </p:cNvPr>
          <p:cNvSpPr/>
          <p:nvPr/>
        </p:nvSpPr>
        <p:spPr>
          <a:xfrm>
            <a:off x="7688960" y="3068520"/>
            <a:ext cx="3754800" cy="2654531"/>
          </a:xfrm>
          <a:prstGeom prst="snip2DiagRect">
            <a:avLst>
              <a:gd name="adj1" fmla="val 0"/>
              <a:gd name="adj2" fmla="val 10822"/>
            </a:avLst>
          </a:prstGeom>
          <a:solidFill>
            <a:srgbClr val="85E3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ptos" panose="020B0004020202020204" pitchFamily="34" charset="0"/>
              <a:ea typeface="Arial"/>
              <a:cs typeface="Arial"/>
              <a:sym typeface="Arial"/>
            </a:endParaRPr>
          </a:p>
        </p:txBody>
      </p:sp>
      <p:sp>
        <p:nvSpPr>
          <p:cNvPr id="5" name="Google Shape;383;g31ad1b63a0d_0_583">
            <a:extLst>
              <a:ext uri="{FF2B5EF4-FFF2-40B4-BE49-F238E27FC236}">
                <a16:creationId xmlns:a16="http://schemas.microsoft.com/office/drawing/2014/main" id="{9E9DAC1B-12D8-058E-47B1-3AF262DFCE96}"/>
              </a:ext>
            </a:extLst>
          </p:cNvPr>
          <p:cNvSpPr/>
          <p:nvPr/>
        </p:nvSpPr>
        <p:spPr>
          <a:xfrm>
            <a:off x="7688960" y="1144152"/>
            <a:ext cx="3754800" cy="3754800"/>
          </a:xfrm>
          <a:prstGeom prst="snip2DiagRect">
            <a:avLst>
              <a:gd name="adj1" fmla="val 0"/>
              <a:gd name="adj2" fmla="val 10822"/>
            </a:avLst>
          </a:prstGeom>
          <a:solidFill>
            <a:srgbClr val="5198D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ptos" panose="020B0004020202020204" pitchFamily="34" charset="0"/>
              <a:ea typeface="Arial"/>
              <a:cs typeface="Arial"/>
              <a:sym typeface="Arial"/>
            </a:endParaRPr>
          </a:p>
        </p:txBody>
      </p:sp>
      <p:pic>
        <p:nvPicPr>
          <p:cNvPr id="6" name="Picture 5">
            <a:extLst>
              <a:ext uri="{FF2B5EF4-FFF2-40B4-BE49-F238E27FC236}">
                <a16:creationId xmlns:a16="http://schemas.microsoft.com/office/drawing/2014/main" id="{4A3E31FE-4DC8-50D2-7678-C3D7035FAFA4}"/>
              </a:ext>
            </a:extLst>
          </p:cNvPr>
          <p:cNvPicPr>
            <a:picLocks noChangeAspect="1"/>
          </p:cNvPicPr>
          <p:nvPr/>
        </p:nvPicPr>
        <p:blipFill>
          <a:blip r:embed="rId4" cstate="print">
            <a:extLst>
              <a:ext uri="{28A0092B-C50C-407E-A947-70E740481C1C}">
                <a14:useLocalDpi xmlns:a14="http://schemas.microsoft.com/office/drawing/2010/main" val="0"/>
              </a:ext>
            </a:extLst>
          </a:blip>
          <a:srcRect l="8207" r="8207"/>
          <a:stretch/>
        </p:blipFill>
        <p:spPr>
          <a:xfrm>
            <a:off x="7958877" y="1242459"/>
            <a:ext cx="3214965" cy="3975261"/>
          </a:xfrm>
          <a:prstGeom prst="rect">
            <a:avLst/>
          </a:prstGeom>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E576-53D8-B733-6BE2-D96855F35AA4}"/>
              </a:ext>
            </a:extLst>
          </p:cNvPr>
          <p:cNvSpPr>
            <a:spLocks noGrp="1"/>
          </p:cNvSpPr>
          <p:nvPr>
            <p:ph type="title"/>
          </p:nvPr>
        </p:nvSpPr>
        <p:spPr/>
        <p:txBody>
          <a:bodyPr/>
          <a:lstStyle/>
          <a:p>
            <a:r>
              <a:rPr lang="en-IN" dirty="0"/>
              <a:t>Workflow automation isn’t enough…</a:t>
            </a:r>
          </a:p>
        </p:txBody>
      </p:sp>
      <p:pic>
        <p:nvPicPr>
          <p:cNvPr id="7" name="Picture 6" descr="A computer screen with text on it&#10;&#10;AI-generated content may be incorrect.">
            <a:extLst>
              <a:ext uri="{FF2B5EF4-FFF2-40B4-BE49-F238E27FC236}">
                <a16:creationId xmlns:a16="http://schemas.microsoft.com/office/drawing/2014/main" id="{CC2A3972-920F-2F53-7C28-F511E069BBBF}"/>
              </a:ext>
            </a:extLst>
          </p:cNvPr>
          <p:cNvPicPr>
            <a:picLocks noChangeAspect="1"/>
          </p:cNvPicPr>
          <p:nvPr/>
        </p:nvPicPr>
        <p:blipFill>
          <a:blip r:embed="rId3"/>
          <a:stretch>
            <a:fillRect/>
          </a:stretch>
        </p:blipFill>
        <p:spPr>
          <a:xfrm>
            <a:off x="1727200" y="1417638"/>
            <a:ext cx="7978140" cy="5318760"/>
          </a:xfrm>
          <a:prstGeom prst="rect">
            <a:avLst/>
          </a:prstGeom>
        </p:spPr>
      </p:pic>
    </p:spTree>
    <p:extLst>
      <p:ext uri="{BB962C8B-B14F-4D97-AF65-F5344CB8AC3E}">
        <p14:creationId xmlns:p14="http://schemas.microsoft.com/office/powerpoint/2010/main" val="112939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1452-883B-4F3F-0D38-48FC9DBFEB4D}"/>
              </a:ext>
            </a:extLst>
          </p:cNvPr>
          <p:cNvSpPr>
            <a:spLocks noGrp="1"/>
          </p:cNvSpPr>
          <p:nvPr>
            <p:ph type="title"/>
          </p:nvPr>
        </p:nvSpPr>
        <p:spPr/>
        <p:txBody>
          <a:bodyPr/>
          <a:lstStyle/>
          <a:p>
            <a:r>
              <a:rPr lang="en-IN" dirty="0"/>
              <a:t>Workflow vs Agents</a:t>
            </a:r>
          </a:p>
        </p:txBody>
      </p:sp>
      <p:sp>
        <p:nvSpPr>
          <p:cNvPr id="3" name="Text Placeholder 2">
            <a:extLst>
              <a:ext uri="{FF2B5EF4-FFF2-40B4-BE49-F238E27FC236}">
                <a16:creationId xmlns:a16="http://schemas.microsoft.com/office/drawing/2014/main" id="{14BBBE96-639E-3875-0245-8728B21C82F9}"/>
              </a:ext>
            </a:extLst>
          </p:cNvPr>
          <p:cNvSpPr>
            <a:spLocks noGrp="1"/>
          </p:cNvSpPr>
          <p:nvPr>
            <p:ph type="body" idx="1"/>
          </p:nvPr>
        </p:nvSpPr>
        <p:spPr>
          <a:xfrm>
            <a:off x="525625" y="1166018"/>
            <a:ext cx="5918200" cy="4525963"/>
          </a:xfrm>
        </p:spPr>
        <p:txBody>
          <a:bodyPr/>
          <a:lstStyle/>
          <a:p>
            <a:endParaRPr lang="en-IN" dirty="0"/>
          </a:p>
          <a:p>
            <a:r>
              <a:rPr lang="en-IN" dirty="0"/>
              <a:t>Workflows follow instructions</a:t>
            </a:r>
          </a:p>
          <a:p>
            <a:r>
              <a:rPr lang="en-IN" dirty="0"/>
              <a:t>Workflows are predictable</a:t>
            </a:r>
          </a:p>
          <a:p>
            <a:r>
              <a:rPr lang="en-IN" dirty="0"/>
              <a:t>A </a:t>
            </a:r>
            <a:r>
              <a:rPr lang="en-IN" dirty="0">
                <a:sym typeface="Wingdings" panose="05000000000000000000" pitchFamily="2" charset="2"/>
              </a:rPr>
              <a:t> B C</a:t>
            </a:r>
          </a:p>
          <a:p>
            <a:endParaRPr lang="en-IN" dirty="0">
              <a:sym typeface="Wingdings" panose="05000000000000000000" pitchFamily="2" charset="2"/>
            </a:endParaRPr>
          </a:p>
          <a:p>
            <a:r>
              <a:rPr lang="en-IN" dirty="0">
                <a:sym typeface="Wingdings" panose="05000000000000000000" pitchFamily="2" charset="2"/>
              </a:rPr>
              <a:t>Agents are flexible</a:t>
            </a:r>
          </a:p>
          <a:p>
            <a:r>
              <a:rPr lang="en-IN" dirty="0">
                <a:sym typeface="Wingdings" panose="05000000000000000000" pitchFamily="2" charset="2"/>
              </a:rPr>
              <a:t>Agents reason and adapt</a:t>
            </a:r>
          </a:p>
          <a:p>
            <a:r>
              <a:rPr lang="en-US" dirty="0"/>
              <a:t>Dynamic </a:t>
            </a:r>
            <a:r>
              <a:rPr lang="en-US" dirty="0" err="1"/>
              <a:t>Plan→Act→Reflect</a:t>
            </a:r>
            <a:r>
              <a:rPr lang="en-US" dirty="0"/>
              <a:t> loop</a:t>
            </a:r>
            <a:endParaRPr lang="en-IN" dirty="0"/>
          </a:p>
        </p:txBody>
      </p:sp>
      <p:pic>
        <p:nvPicPr>
          <p:cNvPr id="5" name="Picture 4">
            <a:extLst>
              <a:ext uri="{FF2B5EF4-FFF2-40B4-BE49-F238E27FC236}">
                <a16:creationId xmlns:a16="http://schemas.microsoft.com/office/drawing/2014/main" id="{427ED5D7-3A7B-F990-BE4A-11DDBDCA3031}"/>
              </a:ext>
            </a:extLst>
          </p:cNvPr>
          <p:cNvPicPr>
            <a:picLocks noChangeAspect="1"/>
          </p:cNvPicPr>
          <p:nvPr/>
        </p:nvPicPr>
        <p:blipFill>
          <a:blip r:embed="rId2"/>
          <a:stretch>
            <a:fillRect/>
          </a:stretch>
        </p:blipFill>
        <p:spPr>
          <a:xfrm>
            <a:off x="6896100" y="2428082"/>
            <a:ext cx="4305300" cy="2870200"/>
          </a:xfrm>
          <a:prstGeom prst="rect">
            <a:avLst/>
          </a:prstGeom>
        </p:spPr>
      </p:pic>
      <p:sp>
        <p:nvSpPr>
          <p:cNvPr id="6" name="TextBox 5">
            <a:extLst>
              <a:ext uri="{FF2B5EF4-FFF2-40B4-BE49-F238E27FC236}">
                <a16:creationId xmlns:a16="http://schemas.microsoft.com/office/drawing/2014/main" id="{73137337-19A0-41A0-0799-7FA5B6073D1D}"/>
              </a:ext>
            </a:extLst>
          </p:cNvPr>
          <p:cNvSpPr txBox="1"/>
          <p:nvPr/>
        </p:nvSpPr>
        <p:spPr>
          <a:xfrm>
            <a:off x="525625" y="5787468"/>
            <a:ext cx="11053665"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Workflow automation checks the weather and emails it every morning.</a:t>
            </a:r>
            <a:br>
              <a:rPr lang="en-US" dirty="0"/>
            </a:br>
            <a:r>
              <a:rPr lang="en-US" dirty="0"/>
              <a:t>An agent can respond to “Should I bring an umbrella today?”. Understands the </a:t>
            </a:r>
            <a:r>
              <a:rPr lang="en-US" i="1" dirty="0"/>
              <a:t>why</a:t>
            </a:r>
            <a:r>
              <a:rPr lang="en-US" dirty="0"/>
              <a:t> you asked and decides to check the weather.</a:t>
            </a:r>
            <a:endParaRPr lang="en-IN" dirty="0"/>
          </a:p>
        </p:txBody>
      </p:sp>
    </p:spTree>
    <p:extLst>
      <p:ext uri="{BB962C8B-B14F-4D97-AF65-F5344CB8AC3E}">
        <p14:creationId xmlns:p14="http://schemas.microsoft.com/office/powerpoint/2010/main" val="88024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75CBB-785B-7186-1555-E6E4526EFC7B}"/>
              </a:ext>
            </a:extLst>
          </p:cNvPr>
          <p:cNvSpPr>
            <a:spLocks noGrp="1"/>
          </p:cNvSpPr>
          <p:nvPr>
            <p:ph type="title"/>
          </p:nvPr>
        </p:nvSpPr>
        <p:spPr/>
        <p:txBody>
          <a:bodyPr/>
          <a:lstStyle/>
          <a:p>
            <a:r>
              <a:rPr lang="en-IN" dirty="0"/>
              <a:t>Agent: Digital employee</a:t>
            </a:r>
          </a:p>
        </p:txBody>
      </p:sp>
      <p:sp>
        <p:nvSpPr>
          <p:cNvPr id="4" name="Rectangle 1">
            <a:extLst>
              <a:ext uri="{FF2B5EF4-FFF2-40B4-BE49-F238E27FC236}">
                <a16:creationId xmlns:a16="http://schemas.microsoft.com/office/drawing/2014/main" id="{E3090D49-46DE-1E33-72E4-BB8ED82016B0}"/>
              </a:ext>
            </a:extLst>
          </p:cNvPr>
          <p:cNvSpPr>
            <a:spLocks noGrp="1" noChangeArrowheads="1"/>
          </p:cNvSpPr>
          <p:nvPr>
            <p:ph type="body" idx="1"/>
          </p:nvPr>
        </p:nvSpPr>
        <p:spPr bwMode="auto">
          <a:xfrm>
            <a:off x="674914" y="3072993"/>
            <a:ext cx="572588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ts val="120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Brain:</a:t>
            </a:r>
            <a:r>
              <a:rPr kumimoji="0" lang="en-US" altLang="en-US" sz="2000" b="0" i="0" u="none" strike="noStrike" cap="none" normalizeH="0" baseline="0" dirty="0">
                <a:ln>
                  <a:noFill/>
                </a:ln>
                <a:solidFill>
                  <a:schemeClr val="tx1"/>
                </a:solidFill>
                <a:effectLst/>
                <a:latin typeface="Arial" panose="020B0604020202020204" pitchFamily="34" charset="0"/>
              </a:rPr>
              <a:t> Reasoning &amp; language understanding</a:t>
            </a:r>
          </a:p>
          <a:p>
            <a:pPr marL="0" marR="0" lvl="0" indent="0" algn="l" defTabSz="914400" rtl="0" eaLnBrk="0" fontAlgn="base" latinLnBrk="0" hangingPunct="0">
              <a:lnSpc>
                <a:spcPct val="100000"/>
              </a:lnSpc>
              <a:spcBef>
                <a:spcPts val="1200"/>
              </a:spcBef>
              <a:spcAft>
                <a:spcPts val="120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Memory:</a:t>
            </a:r>
            <a:r>
              <a:rPr kumimoji="0" lang="en-US" altLang="en-US" sz="2000" b="0" i="0" u="none" strike="noStrike" cap="none" normalizeH="0" baseline="0" dirty="0">
                <a:ln>
                  <a:noFill/>
                </a:ln>
                <a:solidFill>
                  <a:schemeClr val="tx1"/>
                </a:solidFill>
                <a:effectLst/>
                <a:latin typeface="Arial" panose="020B0604020202020204" pitchFamily="34" charset="0"/>
              </a:rPr>
              <a:t> Context &amp; history</a:t>
            </a:r>
          </a:p>
          <a:p>
            <a:pPr marL="0" marR="0" lvl="0" indent="0" algn="l" defTabSz="914400" rtl="0" eaLnBrk="0" fontAlgn="base" latinLnBrk="0" hangingPunct="0">
              <a:lnSpc>
                <a:spcPct val="100000"/>
              </a:lnSpc>
              <a:spcBef>
                <a:spcPts val="1200"/>
              </a:spcBef>
              <a:spcAft>
                <a:spcPts val="120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Tools:</a:t>
            </a:r>
            <a:r>
              <a:rPr kumimoji="0" lang="en-US" altLang="en-US" sz="2000" b="0" i="0" u="none" strike="noStrike" cap="none" normalizeH="0" baseline="0" dirty="0">
                <a:ln>
                  <a:noFill/>
                </a:ln>
                <a:solidFill>
                  <a:schemeClr val="tx1"/>
                </a:solidFill>
                <a:effectLst/>
                <a:latin typeface="Arial" panose="020B0604020202020204" pitchFamily="34" charset="0"/>
              </a:rPr>
              <a:t> APIs, apps, data sources</a:t>
            </a:r>
          </a:p>
        </p:txBody>
      </p:sp>
      <p:sp>
        <p:nvSpPr>
          <p:cNvPr id="6" name="AutoShape 5" descr="Image of ">
            <a:extLst>
              <a:ext uri="{FF2B5EF4-FFF2-40B4-BE49-F238E27FC236}">
                <a16:creationId xmlns:a16="http://schemas.microsoft.com/office/drawing/2014/main" id="{C79E690B-FFAD-ADBF-A3B2-EB26646C59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AF03F146-2ADA-A2AD-45E8-32F2521755F3}"/>
              </a:ext>
            </a:extLst>
          </p:cNvPr>
          <p:cNvPicPr>
            <a:picLocks noChangeAspect="1"/>
          </p:cNvPicPr>
          <p:nvPr/>
        </p:nvPicPr>
        <p:blipFill>
          <a:blip r:embed="rId2"/>
          <a:stretch>
            <a:fillRect/>
          </a:stretch>
        </p:blipFill>
        <p:spPr>
          <a:xfrm>
            <a:off x="6785021" y="1570764"/>
            <a:ext cx="4587439" cy="4587439"/>
          </a:xfrm>
          <a:prstGeom prst="rect">
            <a:avLst/>
          </a:prstGeom>
        </p:spPr>
      </p:pic>
    </p:spTree>
    <p:extLst>
      <p:ext uri="{BB962C8B-B14F-4D97-AF65-F5344CB8AC3E}">
        <p14:creationId xmlns:p14="http://schemas.microsoft.com/office/powerpoint/2010/main" val="33471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E4702-9D28-0AAD-12C6-E7FAAA0E5E04}"/>
              </a:ext>
            </a:extLst>
          </p:cNvPr>
          <p:cNvSpPr>
            <a:spLocks noGrp="1"/>
          </p:cNvSpPr>
          <p:nvPr>
            <p:ph type="title"/>
          </p:nvPr>
        </p:nvSpPr>
        <p:spPr/>
        <p:txBody>
          <a:bodyPr/>
          <a:lstStyle/>
          <a:p>
            <a:r>
              <a:rPr lang="en-IN" dirty="0"/>
              <a:t>How intelligent systems reason</a:t>
            </a:r>
          </a:p>
        </p:txBody>
      </p:sp>
      <p:sp>
        <p:nvSpPr>
          <p:cNvPr id="7" name="Text Placeholder 6">
            <a:extLst>
              <a:ext uri="{FF2B5EF4-FFF2-40B4-BE49-F238E27FC236}">
                <a16:creationId xmlns:a16="http://schemas.microsoft.com/office/drawing/2014/main" id="{DC55B214-FCEC-9EA3-EAAE-0BE871CBC9D4}"/>
              </a:ext>
            </a:extLst>
          </p:cNvPr>
          <p:cNvSpPr>
            <a:spLocks noGrp="1"/>
          </p:cNvSpPr>
          <p:nvPr>
            <p:ph type="body" idx="1"/>
          </p:nvPr>
        </p:nvSpPr>
        <p:spPr>
          <a:xfrm>
            <a:off x="609600" y="1600201"/>
            <a:ext cx="5996473" cy="4525963"/>
          </a:xfrm>
        </p:spPr>
        <p:txBody>
          <a:bodyPr/>
          <a:lstStyle/>
          <a:p>
            <a:pPr>
              <a:spcAft>
                <a:spcPts val="1000"/>
              </a:spcAft>
            </a:pPr>
            <a:r>
              <a:rPr lang="en-US" b="1" dirty="0"/>
              <a:t>Plan:</a:t>
            </a:r>
            <a:r>
              <a:rPr lang="en-US" dirty="0"/>
              <a:t> Form strategy using context &amp; memory</a:t>
            </a:r>
          </a:p>
          <a:p>
            <a:pPr>
              <a:spcAft>
                <a:spcPts val="1000"/>
              </a:spcAft>
            </a:pPr>
            <a:r>
              <a:rPr lang="en-US" b="1" dirty="0"/>
              <a:t>Act:</a:t>
            </a:r>
            <a:r>
              <a:rPr lang="en-US" dirty="0"/>
              <a:t> Use tools / APIs to execute</a:t>
            </a:r>
          </a:p>
          <a:p>
            <a:pPr>
              <a:spcAft>
                <a:spcPts val="1000"/>
              </a:spcAft>
            </a:pPr>
            <a:r>
              <a:rPr lang="en-IN" b="1" dirty="0"/>
              <a:t>Observe:</a:t>
            </a:r>
            <a:r>
              <a:rPr lang="en-IN" dirty="0"/>
              <a:t> Collect results &amp; feedback</a:t>
            </a:r>
          </a:p>
          <a:p>
            <a:pPr>
              <a:spcAft>
                <a:spcPts val="1000"/>
              </a:spcAft>
            </a:pPr>
            <a:r>
              <a:rPr lang="en-US" b="1" dirty="0"/>
              <a:t>Reflect:</a:t>
            </a:r>
            <a:r>
              <a:rPr lang="en-US" dirty="0"/>
              <a:t> Assess outcome &amp; re-plan if needed</a:t>
            </a:r>
            <a:endParaRPr lang="en-IN" dirty="0"/>
          </a:p>
        </p:txBody>
      </p:sp>
      <p:pic>
        <p:nvPicPr>
          <p:cNvPr id="6" name="Picture 5">
            <a:extLst>
              <a:ext uri="{FF2B5EF4-FFF2-40B4-BE49-F238E27FC236}">
                <a16:creationId xmlns:a16="http://schemas.microsoft.com/office/drawing/2014/main" id="{F2F0D0A4-D56A-0332-C78F-41B1E893BFB0}"/>
              </a:ext>
            </a:extLst>
          </p:cNvPr>
          <p:cNvPicPr>
            <a:picLocks noChangeAspect="1"/>
          </p:cNvPicPr>
          <p:nvPr/>
        </p:nvPicPr>
        <p:blipFill>
          <a:blip r:embed="rId2"/>
          <a:stretch>
            <a:fillRect/>
          </a:stretch>
        </p:blipFill>
        <p:spPr>
          <a:xfrm>
            <a:off x="6707154" y="1417638"/>
            <a:ext cx="4963886" cy="4963886"/>
          </a:xfrm>
          <a:prstGeom prst="rect">
            <a:avLst/>
          </a:prstGeom>
        </p:spPr>
      </p:pic>
    </p:spTree>
    <p:extLst>
      <p:ext uri="{BB962C8B-B14F-4D97-AF65-F5344CB8AC3E}">
        <p14:creationId xmlns:p14="http://schemas.microsoft.com/office/powerpoint/2010/main" val="777300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7E4E-F112-F64B-10E0-7B04081D6E4D}"/>
              </a:ext>
            </a:extLst>
          </p:cNvPr>
          <p:cNvSpPr>
            <a:spLocks noGrp="1"/>
          </p:cNvSpPr>
          <p:nvPr>
            <p:ph type="title"/>
          </p:nvPr>
        </p:nvSpPr>
        <p:spPr/>
        <p:txBody>
          <a:bodyPr/>
          <a:lstStyle/>
          <a:p>
            <a:r>
              <a:rPr lang="en-IN" dirty="0"/>
              <a:t>Anatomy of an agentic flow</a:t>
            </a:r>
          </a:p>
        </p:txBody>
      </p:sp>
      <p:sp>
        <p:nvSpPr>
          <p:cNvPr id="3" name="Text Placeholder 2">
            <a:extLst>
              <a:ext uri="{FF2B5EF4-FFF2-40B4-BE49-F238E27FC236}">
                <a16:creationId xmlns:a16="http://schemas.microsoft.com/office/drawing/2014/main" id="{C9F1AE7A-4E66-A999-AB52-3EBE09008106}"/>
              </a:ext>
            </a:extLst>
          </p:cNvPr>
          <p:cNvSpPr>
            <a:spLocks noGrp="1"/>
          </p:cNvSpPr>
          <p:nvPr>
            <p:ph type="body" idx="1"/>
          </p:nvPr>
        </p:nvSpPr>
        <p:spPr/>
        <p:txBody>
          <a:bodyPr/>
          <a:lstStyle/>
          <a:p>
            <a:r>
              <a:rPr lang="en-IN" dirty="0"/>
              <a:t>Brain (LLM): Reasoning &amp; language understanding</a:t>
            </a:r>
          </a:p>
          <a:p>
            <a:r>
              <a:rPr lang="en-IN" dirty="0"/>
              <a:t>Memory: Remembers context &amp; state</a:t>
            </a:r>
          </a:p>
          <a:p>
            <a:r>
              <a:rPr lang="en-IN" dirty="0"/>
              <a:t>Tools: APIs / systems for action</a:t>
            </a:r>
          </a:p>
          <a:p>
            <a:r>
              <a:rPr lang="en-IN" dirty="0"/>
              <a:t>Controller: Coordinates the loop</a:t>
            </a:r>
          </a:p>
          <a:p>
            <a:r>
              <a:rPr lang="en-IN" dirty="0"/>
              <a:t>Reflection: Evaluates &amp; improves results</a:t>
            </a:r>
          </a:p>
          <a:p>
            <a:r>
              <a:rPr lang="en-IN" dirty="0"/>
              <a:t>Guardrails: Ensure safety &amp; compliance</a:t>
            </a:r>
          </a:p>
        </p:txBody>
      </p:sp>
    </p:spTree>
    <p:extLst>
      <p:ext uri="{BB962C8B-B14F-4D97-AF65-F5344CB8AC3E}">
        <p14:creationId xmlns:p14="http://schemas.microsoft.com/office/powerpoint/2010/main" val="2295938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913C-4456-5931-BF14-14100228256F}"/>
              </a:ext>
            </a:extLst>
          </p:cNvPr>
          <p:cNvSpPr>
            <a:spLocks noGrp="1"/>
          </p:cNvSpPr>
          <p:nvPr>
            <p:ph type="title"/>
          </p:nvPr>
        </p:nvSpPr>
        <p:spPr>
          <a:xfrm>
            <a:off x="595604" y="0"/>
            <a:ext cx="10515600" cy="1325563"/>
          </a:xfrm>
        </p:spPr>
        <p:txBody>
          <a:bodyPr/>
          <a:lstStyle/>
          <a:p>
            <a:r>
              <a:rPr lang="en-IN" dirty="0"/>
              <a:t>Single vs Multi-Agent Systems</a:t>
            </a:r>
          </a:p>
        </p:txBody>
      </p:sp>
      <p:sp>
        <p:nvSpPr>
          <p:cNvPr id="6" name="Text Placeholder 5">
            <a:extLst>
              <a:ext uri="{FF2B5EF4-FFF2-40B4-BE49-F238E27FC236}">
                <a16:creationId xmlns:a16="http://schemas.microsoft.com/office/drawing/2014/main" id="{AE9A6087-5B20-77E2-F369-F92EA69311DA}"/>
              </a:ext>
            </a:extLst>
          </p:cNvPr>
          <p:cNvSpPr>
            <a:spLocks noGrp="1"/>
          </p:cNvSpPr>
          <p:nvPr>
            <p:ph type="body" idx="1"/>
          </p:nvPr>
        </p:nvSpPr>
        <p:spPr>
          <a:xfrm>
            <a:off x="814873" y="4907900"/>
            <a:ext cx="10972800" cy="1675462"/>
          </a:xfrm>
        </p:spPr>
        <p:txBody>
          <a:bodyPr/>
          <a:lstStyle/>
          <a:p>
            <a:r>
              <a:rPr lang="en-US" b="1" dirty="0"/>
              <a:t>Single Agent:</a:t>
            </a:r>
            <a:r>
              <a:rPr lang="en-US" dirty="0"/>
              <a:t> Best for focused, bounded tasks.</a:t>
            </a:r>
          </a:p>
          <a:p>
            <a:r>
              <a:rPr lang="en-US" b="1" dirty="0"/>
              <a:t>Multi-Agent:</a:t>
            </a:r>
            <a:r>
              <a:rPr lang="en-US" dirty="0"/>
              <a:t> When tasks need specialization &amp; coordination</a:t>
            </a:r>
          </a:p>
          <a:p>
            <a:r>
              <a:rPr lang="en-US" b="1" dirty="0"/>
              <a:t>Supervisor Agent:</a:t>
            </a:r>
            <a:r>
              <a:rPr lang="en-US" dirty="0"/>
              <a:t> Plans and delegates; others execute and report back</a:t>
            </a:r>
            <a:endParaRPr lang="en-IN" dirty="0"/>
          </a:p>
        </p:txBody>
      </p:sp>
      <p:pic>
        <p:nvPicPr>
          <p:cNvPr id="5" name="Picture 4">
            <a:extLst>
              <a:ext uri="{FF2B5EF4-FFF2-40B4-BE49-F238E27FC236}">
                <a16:creationId xmlns:a16="http://schemas.microsoft.com/office/drawing/2014/main" id="{75ECF10D-B51E-2D3E-B3F9-24FCFE002B1E}"/>
              </a:ext>
            </a:extLst>
          </p:cNvPr>
          <p:cNvPicPr>
            <a:picLocks noChangeAspect="1"/>
          </p:cNvPicPr>
          <p:nvPr/>
        </p:nvPicPr>
        <p:blipFill>
          <a:blip r:embed="rId2"/>
          <a:stretch>
            <a:fillRect/>
          </a:stretch>
        </p:blipFill>
        <p:spPr>
          <a:xfrm>
            <a:off x="2844797" y="1424390"/>
            <a:ext cx="6017213" cy="3384682"/>
          </a:xfrm>
          <a:prstGeom prst="rect">
            <a:avLst/>
          </a:prstGeom>
        </p:spPr>
      </p:pic>
    </p:spTree>
    <p:extLst>
      <p:ext uri="{BB962C8B-B14F-4D97-AF65-F5344CB8AC3E}">
        <p14:creationId xmlns:p14="http://schemas.microsoft.com/office/powerpoint/2010/main" val="302247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F814-6940-0AC3-3AD7-F745B0B03DC8}"/>
              </a:ext>
            </a:extLst>
          </p:cNvPr>
          <p:cNvSpPr>
            <a:spLocks noGrp="1"/>
          </p:cNvSpPr>
          <p:nvPr>
            <p:ph type="title"/>
          </p:nvPr>
        </p:nvSpPr>
        <p:spPr/>
        <p:txBody>
          <a:bodyPr/>
          <a:lstStyle/>
          <a:p>
            <a:r>
              <a:rPr lang="en-IN" dirty="0"/>
              <a:t>Guardrails and Boundaries</a:t>
            </a:r>
          </a:p>
        </p:txBody>
      </p:sp>
      <p:sp>
        <p:nvSpPr>
          <p:cNvPr id="3" name="Text Placeholder 2">
            <a:extLst>
              <a:ext uri="{FF2B5EF4-FFF2-40B4-BE49-F238E27FC236}">
                <a16:creationId xmlns:a16="http://schemas.microsoft.com/office/drawing/2014/main" id="{0FE451EE-D2CF-140A-1720-7F1DEFFAA6D6}"/>
              </a:ext>
            </a:extLst>
          </p:cNvPr>
          <p:cNvSpPr>
            <a:spLocks noGrp="1"/>
          </p:cNvSpPr>
          <p:nvPr>
            <p:ph type="body" idx="1"/>
          </p:nvPr>
        </p:nvSpPr>
        <p:spPr>
          <a:xfrm>
            <a:off x="609600" y="1600201"/>
            <a:ext cx="6528318" cy="4525963"/>
          </a:xfrm>
        </p:spPr>
        <p:txBody>
          <a:bodyPr/>
          <a:lstStyle/>
          <a:p>
            <a:r>
              <a:rPr lang="en-US" dirty="0"/>
              <a:t>Prevents unsafe or costly actions</a:t>
            </a:r>
          </a:p>
          <a:p>
            <a:endParaRPr lang="en-US" dirty="0"/>
          </a:p>
          <a:p>
            <a:r>
              <a:rPr lang="en-IN" dirty="0"/>
              <a:t>Define scope of authority</a:t>
            </a:r>
          </a:p>
          <a:p>
            <a:endParaRPr lang="en-IN" dirty="0"/>
          </a:p>
          <a:p>
            <a:r>
              <a:rPr lang="en-US" dirty="0"/>
              <a:t>Combine technical controls + business rules</a:t>
            </a:r>
            <a:endParaRPr lang="en-IN" dirty="0"/>
          </a:p>
        </p:txBody>
      </p:sp>
      <p:pic>
        <p:nvPicPr>
          <p:cNvPr id="5" name="Picture 4">
            <a:extLst>
              <a:ext uri="{FF2B5EF4-FFF2-40B4-BE49-F238E27FC236}">
                <a16:creationId xmlns:a16="http://schemas.microsoft.com/office/drawing/2014/main" id="{19D58751-AECC-A9CF-796A-29A2D6BA621D}"/>
              </a:ext>
            </a:extLst>
          </p:cNvPr>
          <p:cNvPicPr>
            <a:picLocks noChangeAspect="1"/>
          </p:cNvPicPr>
          <p:nvPr/>
        </p:nvPicPr>
        <p:blipFill>
          <a:blip r:embed="rId2"/>
          <a:stretch>
            <a:fillRect/>
          </a:stretch>
        </p:blipFill>
        <p:spPr>
          <a:xfrm>
            <a:off x="7529804" y="0"/>
            <a:ext cx="4357395" cy="6491629"/>
          </a:xfrm>
          <a:prstGeom prst="rect">
            <a:avLst/>
          </a:prstGeom>
        </p:spPr>
      </p:pic>
    </p:spTree>
    <p:extLst>
      <p:ext uri="{BB962C8B-B14F-4D97-AF65-F5344CB8AC3E}">
        <p14:creationId xmlns:p14="http://schemas.microsoft.com/office/powerpoint/2010/main" val="315819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BE82-5A26-EE12-7C34-6D55174C5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19912-FF69-FD65-86AA-7C32524AA3B5}"/>
              </a:ext>
            </a:extLst>
          </p:cNvPr>
          <p:cNvSpPr>
            <a:spLocks noGrp="1"/>
          </p:cNvSpPr>
          <p:nvPr>
            <p:ph type="title"/>
          </p:nvPr>
        </p:nvSpPr>
        <p:spPr/>
        <p:txBody>
          <a:bodyPr/>
          <a:lstStyle/>
          <a:p>
            <a:r>
              <a:rPr lang="en-IN" dirty="0"/>
              <a:t>Agentic Workflow Design</a:t>
            </a:r>
          </a:p>
        </p:txBody>
      </p:sp>
      <p:sp>
        <p:nvSpPr>
          <p:cNvPr id="3" name="Text Placeholder 2">
            <a:extLst>
              <a:ext uri="{FF2B5EF4-FFF2-40B4-BE49-F238E27FC236}">
                <a16:creationId xmlns:a16="http://schemas.microsoft.com/office/drawing/2014/main" id="{BF7703A1-0834-6C8F-D0E7-CEF8E9DAA20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069801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B19A-8D9C-5088-DEF1-5C9A1DEAF1E1}"/>
              </a:ext>
            </a:extLst>
          </p:cNvPr>
          <p:cNvSpPr>
            <a:spLocks noGrp="1"/>
          </p:cNvSpPr>
          <p:nvPr>
            <p:ph type="title"/>
          </p:nvPr>
        </p:nvSpPr>
        <p:spPr/>
        <p:txBody>
          <a:bodyPr/>
          <a:lstStyle/>
          <a:p>
            <a:r>
              <a:rPr lang="en-US" dirty="0" err="1"/>
              <a:t>LangFlow</a:t>
            </a:r>
            <a:r>
              <a:rPr lang="en-US" dirty="0"/>
              <a:t>: A Visual Agent Builder</a:t>
            </a:r>
            <a:endParaRPr lang="en-IN" dirty="0"/>
          </a:p>
        </p:txBody>
      </p:sp>
      <p:sp>
        <p:nvSpPr>
          <p:cNvPr id="3" name="Text Placeholder 2">
            <a:extLst>
              <a:ext uri="{FF2B5EF4-FFF2-40B4-BE49-F238E27FC236}">
                <a16:creationId xmlns:a16="http://schemas.microsoft.com/office/drawing/2014/main" id="{B6409CC9-5E70-CA95-4947-5252D3379930}"/>
              </a:ext>
            </a:extLst>
          </p:cNvPr>
          <p:cNvSpPr>
            <a:spLocks noGrp="1"/>
          </p:cNvSpPr>
          <p:nvPr>
            <p:ph type="body" idx="1"/>
          </p:nvPr>
        </p:nvSpPr>
        <p:spPr>
          <a:xfrm>
            <a:off x="180392" y="1417638"/>
            <a:ext cx="4876800" cy="4525963"/>
          </a:xfrm>
        </p:spPr>
        <p:txBody>
          <a:bodyPr/>
          <a:lstStyle/>
          <a:p>
            <a:r>
              <a:rPr lang="en-US" dirty="0"/>
              <a:t>Drag-and-drop nodes for prompts, memory, tools, retrievers</a:t>
            </a:r>
          </a:p>
          <a:p>
            <a:r>
              <a:rPr lang="en-US" dirty="0"/>
              <a:t>Each node = a step in the agentic loop</a:t>
            </a:r>
          </a:p>
          <a:p>
            <a:r>
              <a:rPr lang="en-US" dirty="0"/>
              <a:t>Connect, run, and observe results in real time</a:t>
            </a:r>
            <a:endParaRPr lang="en-IN" dirty="0"/>
          </a:p>
        </p:txBody>
      </p:sp>
      <p:pic>
        <p:nvPicPr>
          <p:cNvPr id="5" name="Picture 4">
            <a:extLst>
              <a:ext uri="{FF2B5EF4-FFF2-40B4-BE49-F238E27FC236}">
                <a16:creationId xmlns:a16="http://schemas.microsoft.com/office/drawing/2014/main" id="{7C87CF45-02A6-2FB2-22F2-5921AF1E5BCC}"/>
              </a:ext>
            </a:extLst>
          </p:cNvPr>
          <p:cNvPicPr>
            <a:picLocks noChangeAspect="1"/>
          </p:cNvPicPr>
          <p:nvPr/>
        </p:nvPicPr>
        <p:blipFill>
          <a:blip r:embed="rId2"/>
          <a:stretch>
            <a:fillRect/>
          </a:stretch>
        </p:blipFill>
        <p:spPr>
          <a:xfrm>
            <a:off x="4629150" y="2633239"/>
            <a:ext cx="7562849" cy="4102820"/>
          </a:xfrm>
          <a:prstGeom prst="rect">
            <a:avLst/>
          </a:prstGeom>
        </p:spPr>
      </p:pic>
    </p:spTree>
    <p:extLst>
      <p:ext uri="{BB962C8B-B14F-4D97-AF65-F5344CB8AC3E}">
        <p14:creationId xmlns:p14="http://schemas.microsoft.com/office/powerpoint/2010/main" val="2816616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F640-76DE-020B-F371-01390B38B0B1}"/>
              </a:ext>
            </a:extLst>
          </p:cNvPr>
          <p:cNvSpPr>
            <a:spLocks noGrp="1"/>
          </p:cNvSpPr>
          <p:nvPr>
            <p:ph type="title"/>
          </p:nvPr>
        </p:nvSpPr>
        <p:spPr/>
        <p:txBody>
          <a:bodyPr/>
          <a:lstStyle/>
          <a:p>
            <a:r>
              <a:rPr lang="en-IN" dirty="0" err="1"/>
              <a:t>Mcp</a:t>
            </a:r>
            <a:r>
              <a:rPr lang="en-IN" dirty="0"/>
              <a:t> &amp; a2a</a:t>
            </a:r>
          </a:p>
        </p:txBody>
      </p:sp>
      <p:sp>
        <p:nvSpPr>
          <p:cNvPr id="3" name="Text Placeholder 2">
            <a:extLst>
              <a:ext uri="{FF2B5EF4-FFF2-40B4-BE49-F238E27FC236}">
                <a16:creationId xmlns:a16="http://schemas.microsoft.com/office/drawing/2014/main" id="{175D9177-0EB5-AB10-585C-48DD9535F7C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035249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2363B-7DD4-2E92-04D3-ABFD3AB24227}"/>
              </a:ext>
            </a:extLst>
          </p:cNvPr>
          <p:cNvSpPr>
            <a:spLocks noGrp="1"/>
          </p:cNvSpPr>
          <p:nvPr>
            <p:ph type="title"/>
          </p:nvPr>
        </p:nvSpPr>
        <p:spPr/>
        <p:txBody>
          <a:bodyPr/>
          <a:lstStyle/>
          <a:p>
            <a:r>
              <a:rPr lang="en-IN" dirty="0"/>
              <a:t>The integration problem</a:t>
            </a:r>
          </a:p>
        </p:txBody>
      </p:sp>
      <p:sp>
        <p:nvSpPr>
          <p:cNvPr id="3" name="Text Placeholder 2">
            <a:extLst>
              <a:ext uri="{FF2B5EF4-FFF2-40B4-BE49-F238E27FC236}">
                <a16:creationId xmlns:a16="http://schemas.microsoft.com/office/drawing/2014/main" id="{E46203DA-0F61-678E-6F8F-20D756640728}"/>
              </a:ext>
            </a:extLst>
          </p:cNvPr>
          <p:cNvSpPr>
            <a:spLocks noGrp="1"/>
          </p:cNvSpPr>
          <p:nvPr>
            <p:ph type="body" idx="1"/>
          </p:nvPr>
        </p:nvSpPr>
        <p:spPr>
          <a:xfrm>
            <a:off x="469641" y="1581540"/>
            <a:ext cx="6574971" cy="4525963"/>
          </a:xfrm>
        </p:spPr>
        <p:txBody>
          <a:bodyPr/>
          <a:lstStyle/>
          <a:p>
            <a:pPr>
              <a:spcAft>
                <a:spcPts val="1000"/>
              </a:spcAft>
            </a:pPr>
            <a:r>
              <a:rPr lang="en-US" dirty="0"/>
              <a:t>Agents are powerful only if they can act</a:t>
            </a:r>
          </a:p>
          <a:p>
            <a:pPr>
              <a:spcAft>
                <a:spcPts val="1000"/>
              </a:spcAft>
            </a:pPr>
            <a:r>
              <a:rPr lang="en-US" dirty="0"/>
              <a:t>But enterprise systems are closed, authenticated, and siloed</a:t>
            </a:r>
          </a:p>
          <a:p>
            <a:pPr>
              <a:spcAft>
                <a:spcPts val="1000"/>
              </a:spcAft>
            </a:pPr>
            <a:r>
              <a:rPr lang="en-US" dirty="0"/>
              <a:t>Need a </a:t>
            </a:r>
            <a:r>
              <a:rPr lang="en-US" i="1" dirty="0"/>
              <a:t>secure, standardized way</a:t>
            </a:r>
            <a:r>
              <a:rPr lang="en-US" dirty="0"/>
              <a:t> for LLMs to access tools &amp; data</a:t>
            </a:r>
            <a:endParaRPr lang="en-IN" dirty="0"/>
          </a:p>
        </p:txBody>
      </p:sp>
      <p:pic>
        <p:nvPicPr>
          <p:cNvPr id="5" name="Picture 4">
            <a:extLst>
              <a:ext uri="{FF2B5EF4-FFF2-40B4-BE49-F238E27FC236}">
                <a16:creationId xmlns:a16="http://schemas.microsoft.com/office/drawing/2014/main" id="{62DEE8D9-AF8C-2820-BB9C-CAABE831F45B}"/>
              </a:ext>
            </a:extLst>
          </p:cNvPr>
          <p:cNvPicPr>
            <a:picLocks noChangeAspect="1"/>
          </p:cNvPicPr>
          <p:nvPr/>
        </p:nvPicPr>
        <p:blipFill>
          <a:blip r:embed="rId2"/>
          <a:stretch>
            <a:fillRect/>
          </a:stretch>
        </p:blipFill>
        <p:spPr>
          <a:xfrm>
            <a:off x="7696199" y="1417638"/>
            <a:ext cx="4413380" cy="4413380"/>
          </a:xfrm>
          <a:prstGeom prst="rect">
            <a:avLst/>
          </a:prstGeom>
        </p:spPr>
      </p:pic>
    </p:spTree>
    <p:extLst>
      <p:ext uri="{BB962C8B-B14F-4D97-AF65-F5344CB8AC3E}">
        <p14:creationId xmlns:p14="http://schemas.microsoft.com/office/powerpoint/2010/main" val="3477762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A16E4-0F6A-81E7-3D1D-8D117BB2A7A6}"/>
              </a:ext>
            </a:extLst>
          </p:cNvPr>
          <p:cNvSpPr>
            <a:spLocks noGrp="1"/>
          </p:cNvSpPr>
          <p:nvPr>
            <p:ph type="title"/>
          </p:nvPr>
        </p:nvSpPr>
        <p:spPr/>
        <p:txBody>
          <a:bodyPr/>
          <a:lstStyle/>
          <a:p>
            <a:r>
              <a:rPr lang="en-IN" dirty="0"/>
              <a:t>From APIs to MCP</a:t>
            </a:r>
          </a:p>
        </p:txBody>
      </p:sp>
      <p:sp>
        <p:nvSpPr>
          <p:cNvPr id="3" name="Text Placeholder 2">
            <a:extLst>
              <a:ext uri="{FF2B5EF4-FFF2-40B4-BE49-F238E27FC236}">
                <a16:creationId xmlns:a16="http://schemas.microsoft.com/office/drawing/2014/main" id="{5C87FA7A-F3F0-17D8-69D0-AA21B585A56C}"/>
              </a:ext>
            </a:extLst>
          </p:cNvPr>
          <p:cNvSpPr>
            <a:spLocks noGrp="1"/>
          </p:cNvSpPr>
          <p:nvPr>
            <p:ph type="body" idx="1"/>
          </p:nvPr>
        </p:nvSpPr>
        <p:spPr>
          <a:xfrm>
            <a:off x="609600" y="1600201"/>
            <a:ext cx="4326294" cy="4525963"/>
          </a:xfrm>
        </p:spPr>
        <p:txBody>
          <a:bodyPr/>
          <a:lstStyle/>
          <a:p>
            <a:r>
              <a:rPr lang="en-US" sz="2000" dirty="0"/>
              <a:t>APIs expose functions; MCP standardizes how agents discover &amp; call them</a:t>
            </a:r>
          </a:p>
          <a:p>
            <a:r>
              <a:rPr lang="en-US" sz="2000" dirty="0"/>
              <a:t>Introduced by Anthropic, now an open ecosystem standard</a:t>
            </a:r>
          </a:p>
          <a:p>
            <a:r>
              <a:rPr lang="en-US" sz="2000" dirty="0"/>
              <a:t>MCP defines tool capabilities, authentication, and data format</a:t>
            </a:r>
            <a:endParaRPr lang="en-IN" sz="2000" dirty="0"/>
          </a:p>
        </p:txBody>
      </p:sp>
      <p:pic>
        <p:nvPicPr>
          <p:cNvPr id="5" name="Picture 4">
            <a:extLst>
              <a:ext uri="{FF2B5EF4-FFF2-40B4-BE49-F238E27FC236}">
                <a16:creationId xmlns:a16="http://schemas.microsoft.com/office/drawing/2014/main" id="{ABC7D4AF-AF5E-B8DC-D307-9023E8B3685E}"/>
              </a:ext>
            </a:extLst>
          </p:cNvPr>
          <p:cNvPicPr>
            <a:picLocks noChangeAspect="1"/>
          </p:cNvPicPr>
          <p:nvPr/>
        </p:nvPicPr>
        <p:blipFill>
          <a:blip r:embed="rId2"/>
          <a:stretch>
            <a:fillRect/>
          </a:stretch>
        </p:blipFill>
        <p:spPr>
          <a:xfrm>
            <a:off x="5169937" y="1520889"/>
            <a:ext cx="6620070" cy="4413380"/>
          </a:xfrm>
          <a:prstGeom prst="rect">
            <a:avLst/>
          </a:prstGeom>
        </p:spPr>
      </p:pic>
    </p:spTree>
    <p:extLst>
      <p:ext uri="{BB962C8B-B14F-4D97-AF65-F5344CB8AC3E}">
        <p14:creationId xmlns:p14="http://schemas.microsoft.com/office/powerpoint/2010/main" val="3809754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The Old World — Tools Baked In</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4" name="Shape 2"/>
          <p:cNvSpPr/>
          <p:nvPr/>
        </p:nvSpPr>
        <p:spPr>
          <a:xfrm>
            <a:off x="0" y="6644640"/>
            <a:ext cx="12192000" cy="219456"/>
          </a:xfrm>
          <a:prstGeom prst="rect">
            <a:avLst/>
          </a:prstGeom>
          <a:solidFill>
            <a:srgbClr val="F4F6FB"/>
          </a:solidFill>
          <a:ln w="12700">
            <a:solidFill>
              <a:srgbClr val="D0D8E8"/>
            </a:solidFill>
            <a:prstDash val="solid"/>
          </a:ln>
        </p:spPr>
        <p:txBody>
          <a:bodyPr/>
          <a:lstStyle/>
          <a:p>
            <a:endParaRPr lang="en-IN" sz="2400"/>
          </a:p>
        </p:txBody>
      </p:sp>
      <p:sp>
        <p:nvSpPr>
          <p:cNvPr id="5" name="Text 3"/>
          <p:cNvSpPr/>
          <p:nvPr/>
        </p:nvSpPr>
        <p:spPr>
          <a:xfrm>
            <a:off x="365760" y="6644640"/>
            <a:ext cx="7315200" cy="219456"/>
          </a:xfrm>
          <a:prstGeom prst="rect">
            <a:avLst/>
          </a:prstGeom>
          <a:noFill/>
          <a:ln/>
        </p:spPr>
        <p:txBody>
          <a:bodyPr wrap="square" lIns="0" tIns="0" rIns="0" bIns="0" rtlCol="0" anchor="ctr"/>
          <a:lstStyle/>
          <a:p>
            <a:r>
              <a:rPr lang="en-US" sz="1067" dirty="0">
                <a:solidFill>
                  <a:srgbClr val="6B7280"/>
                </a:solidFill>
                <a:latin typeface="Calibri" pitchFamily="34" charset="0"/>
                <a:ea typeface="Calibri" pitchFamily="34" charset="-122"/>
                <a:cs typeface="Calibri" pitchFamily="34" charset="-120"/>
              </a:rPr>
              <a:t>MCP &amp; A2A — Building Enterprise AI</a:t>
            </a:r>
            <a:endParaRPr lang="en-US" sz="1067" dirty="0"/>
          </a:p>
        </p:txBody>
      </p:sp>
      <p:sp>
        <p:nvSpPr>
          <p:cNvPr id="6" name="Shape 4"/>
          <p:cNvSpPr/>
          <p:nvPr/>
        </p:nvSpPr>
        <p:spPr>
          <a:xfrm>
            <a:off x="609600" y="1524000"/>
            <a:ext cx="5486400" cy="3657600"/>
          </a:xfrm>
          <a:prstGeom prst="rect">
            <a:avLst/>
          </a:prstGeom>
          <a:solidFill>
            <a:srgbClr val="1E293B"/>
          </a:solidFill>
          <a:ln w="12700">
            <a:solidFill>
              <a:srgbClr val="374151"/>
            </a:solidFill>
            <a:prstDash val="solid"/>
          </a:ln>
          <a:effectLst>
            <a:outerShdw blurRad="76200" dist="25400" dir="8100000" algn="bl" rotWithShape="0">
              <a:srgbClr val="000000">
                <a:alpha val="15000"/>
              </a:srgbClr>
            </a:outerShdw>
          </a:effectLst>
        </p:spPr>
        <p:txBody>
          <a:bodyPr/>
          <a:lstStyle/>
          <a:p>
            <a:endParaRPr lang="en-IN" sz="2400"/>
          </a:p>
        </p:txBody>
      </p:sp>
      <p:sp>
        <p:nvSpPr>
          <p:cNvPr id="7" name="Text 5"/>
          <p:cNvSpPr/>
          <p:nvPr/>
        </p:nvSpPr>
        <p:spPr>
          <a:xfrm>
            <a:off x="792480" y="1645920"/>
            <a:ext cx="5120640" cy="3413760"/>
          </a:xfrm>
          <a:prstGeom prst="rect">
            <a:avLst/>
          </a:prstGeom>
          <a:noFill/>
          <a:ln/>
        </p:spPr>
        <p:txBody>
          <a:bodyPr wrap="square" lIns="0" tIns="0" rIns="0" bIns="0" rtlCol="0" anchor="t"/>
          <a:lstStyle/>
          <a:p>
            <a:r>
              <a:rPr lang="en-US" sz="1267" dirty="0">
                <a:solidFill>
                  <a:srgbClr val="E2E8F0"/>
                </a:solidFill>
                <a:latin typeface="Consolas" pitchFamily="34" charset="0"/>
                <a:ea typeface="Consolas" pitchFamily="34" charset="-122"/>
                <a:cs typeface="Consolas" pitchFamily="34" charset="-120"/>
              </a:rPr>
              <a:t># main.py  — tools hardcoded &amp; imported</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search_tool    = get_tavily_tool()</a:t>
            </a:r>
            <a:endParaRPr lang="en-US" sz="1267" dirty="0"/>
          </a:p>
          <a:p>
            <a:r>
              <a:rPr lang="en-US" sz="1267" dirty="0">
                <a:solidFill>
                  <a:srgbClr val="E2E8F0"/>
                </a:solidFill>
                <a:latin typeface="Consolas" pitchFamily="34" charset="0"/>
                <a:ea typeface="Consolas" pitchFamily="34" charset="-122"/>
                <a:cs typeface="Consolas" pitchFamily="34" charset="-120"/>
              </a:rPr>
              <a:t>financial_tool = get_financial_data_tool()</a:t>
            </a:r>
            <a:endParaRPr lang="en-US" sz="1267" dirty="0"/>
          </a:p>
          <a:p>
            <a:r>
              <a:rPr lang="en-US" sz="1267" dirty="0">
                <a:solidFill>
                  <a:srgbClr val="E2E8F0"/>
                </a:solidFill>
                <a:latin typeface="Consolas" pitchFamily="34" charset="0"/>
                <a:ea typeface="Consolas" pitchFamily="34" charset="-122"/>
                <a:cs typeface="Consolas" pitchFamily="34" charset="-120"/>
              </a:rPr>
              <a:t>news_tool      = get_yahoo_finance_news_tool()</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researcher = get_researcher(</a:t>
            </a:r>
            <a:endParaRPr lang="en-US" sz="1267" dirty="0"/>
          </a:p>
          <a:p>
            <a:r>
              <a:rPr lang="en-US" sz="1267" dirty="0">
                <a:solidFill>
                  <a:srgbClr val="E2E8F0"/>
                </a:solidFill>
                <a:latin typeface="Consolas" pitchFamily="34" charset="0"/>
                <a:ea typeface="Consolas" pitchFamily="34" charset="-122"/>
                <a:cs typeface="Consolas" pitchFamily="34" charset="-120"/>
              </a:rPr>
              <a:t>    search_tool,</a:t>
            </a:r>
            <a:endParaRPr lang="en-US" sz="1267" dirty="0"/>
          </a:p>
          <a:p>
            <a:r>
              <a:rPr lang="en-US" sz="1267" dirty="0">
                <a:solidFill>
                  <a:srgbClr val="E2E8F0"/>
                </a:solidFill>
                <a:latin typeface="Consolas" pitchFamily="34" charset="0"/>
                <a:ea typeface="Consolas" pitchFamily="34" charset="-122"/>
                <a:cs typeface="Consolas" pitchFamily="34" charset="-120"/>
              </a:rPr>
              <a:t>    image_downloader_tool,</a:t>
            </a:r>
            <a:endParaRPr lang="en-US" sz="1267" dirty="0"/>
          </a:p>
          <a:p>
            <a:r>
              <a:rPr lang="en-US" sz="1267" dirty="0">
                <a:solidFill>
                  <a:srgbClr val="E2E8F0"/>
                </a:solidFill>
                <a:latin typeface="Consolas" pitchFamily="34" charset="0"/>
                <a:ea typeface="Consolas" pitchFamily="34" charset="-122"/>
                <a:cs typeface="Consolas" pitchFamily="34" charset="-120"/>
              </a:rPr>
              <a:t>    llm=default_llm</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a:p>
            <a:r>
              <a:rPr lang="en-US" sz="1267" dirty="0">
                <a:solidFill>
                  <a:srgbClr val="E2E8F0"/>
                </a:solidFill>
                <a:latin typeface="Consolas" pitchFamily="34" charset="0"/>
                <a:ea typeface="Consolas" pitchFamily="34" charset="-122"/>
                <a:cs typeface="Consolas" pitchFamily="34" charset="-120"/>
              </a:rPr>
              <a:t>finance_agent = get_finance_agent(</a:t>
            </a:r>
            <a:endParaRPr lang="en-US" sz="1267" dirty="0"/>
          </a:p>
          <a:p>
            <a:r>
              <a:rPr lang="en-US" sz="1267" dirty="0">
                <a:solidFill>
                  <a:srgbClr val="E2E8F0"/>
                </a:solidFill>
                <a:latin typeface="Consolas" pitchFamily="34" charset="0"/>
                <a:ea typeface="Consolas" pitchFamily="34" charset="-122"/>
                <a:cs typeface="Consolas" pitchFamily="34" charset="-120"/>
              </a:rPr>
              <a:t>    financial_tool,</a:t>
            </a:r>
            <a:endParaRPr lang="en-US" sz="1267" dirty="0"/>
          </a:p>
          <a:p>
            <a:r>
              <a:rPr lang="en-US" sz="1267" dirty="0">
                <a:solidFill>
                  <a:srgbClr val="E2E8F0"/>
                </a:solidFill>
                <a:latin typeface="Consolas" pitchFamily="34" charset="0"/>
                <a:ea typeface="Consolas" pitchFamily="34" charset="-122"/>
                <a:cs typeface="Consolas" pitchFamily="34" charset="-120"/>
              </a:rPr>
              <a:t>    news_tool,</a:t>
            </a:r>
            <a:endParaRPr lang="en-US" sz="1267" dirty="0"/>
          </a:p>
          <a:p>
            <a:r>
              <a:rPr lang="en-US" sz="1267" dirty="0">
                <a:solidFill>
                  <a:srgbClr val="E2E8F0"/>
                </a:solidFill>
                <a:latin typeface="Consolas" pitchFamily="34" charset="0"/>
                <a:ea typeface="Consolas" pitchFamily="34" charset="-122"/>
                <a:cs typeface="Consolas" pitchFamily="34" charset="-120"/>
              </a:rPr>
              <a:t>    llm=default_llm</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p:txBody>
      </p:sp>
      <p:sp>
        <p:nvSpPr>
          <p:cNvPr id="8" name="Shape 6"/>
          <p:cNvSpPr/>
          <p:nvPr/>
        </p:nvSpPr>
        <p:spPr>
          <a:xfrm>
            <a:off x="6400800" y="1524000"/>
            <a:ext cx="5120640" cy="79248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9" name="Shape 7"/>
          <p:cNvSpPr/>
          <p:nvPr/>
        </p:nvSpPr>
        <p:spPr>
          <a:xfrm>
            <a:off x="6400800" y="1524000"/>
            <a:ext cx="73152" cy="792480"/>
          </a:xfrm>
          <a:prstGeom prst="rect">
            <a:avLst/>
          </a:prstGeom>
          <a:solidFill>
            <a:srgbClr val="C0392B"/>
          </a:solidFill>
          <a:ln w="12700">
            <a:solidFill>
              <a:srgbClr val="C0392B"/>
            </a:solidFill>
            <a:prstDash val="solid"/>
          </a:ln>
        </p:spPr>
        <p:txBody>
          <a:bodyPr/>
          <a:lstStyle/>
          <a:p>
            <a:endParaRPr lang="en-IN" sz="2400"/>
          </a:p>
        </p:txBody>
      </p:sp>
      <p:sp>
        <p:nvSpPr>
          <p:cNvPr id="10" name="Text 8"/>
          <p:cNvSpPr/>
          <p:nvPr/>
        </p:nvSpPr>
        <p:spPr>
          <a:xfrm>
            <a:off x="6644640" y="1597152"/>
            <a:ext cx="4632960" cy="292608"/>
          </a:xfrm>
          <a:prstGeom prst="rect">
            <a:avLst/>
          </a:prstGeom>
          <a:noFill/>
          <a:ln/>
        </p:spPr>
        <p:txBody>
          <a:bodyPr wrap="square" lIns="0" tIns="0" rIns="0" bIns="0" rtlCol="0" anchor="ctr"/>
          <a:lstStyle/>
          <a:p>
            <a:r>
              <a:rPr lang="en-US" sz="1467" b="1" dirty="0">
                <a:solidFill>
                  <a:srgbClr val="C0392B"/>
                </a:solidFill>
                <a:latin typeface="Calibri" pitchFamily="34" charset="0"/>
                <a:ea typeface="Calibri" pitchFamily="34" charset="-122"/>
                <a:cs typeface="Calibri" pitchFamily="34" charset="-120"/>
              </a:rPr>
              <a:t>🔒 Locked in</a:t>
            </a:r>
            <a:endParaRPr lang="en-US" sz="1467" dirty="0"/>
          </a:p>
        </p:txBody>
      </p:sp>
      <p:sp>
        <p:nvSpPr>
          <p:cNvPr id="11" name="Text 9"/>
          <p:cNvSpPr/>
          <p:nvPr/>
        </p:nvSpPr>
        <p:spPr>
          <a:xfrm>
            <a:off x="6644640" y="1914144"/>
            <a:ext cx="4632960" cy="341376"/>
          </a:xfrm>
          <a:prstGeom prst="rect">
            <a:avLst/>
          </a:prstGeom>
          <a:noFill/>
          <a:ln/>
        </p:spPr>
        <p:txBody>
          <a:bodyPr wrap="square" lIns="0" tIns="0" rIns="0" bIns="0" rtlCol="0" anchor="ctr"/>
          <a:lstStyle/>
          <a:p>
            <a:r>
              <a:rPr lang="en-US" sz="1267" dirty="0">
                <a:solidFill>
                  <a:srgbClr val="6B7280"/>
                </a:solidFill>
                <a:latin typeface="Calibri" pitchFamily="34" charset="0"/>
                <a:ea typeface="Calibri" pitchFamily="34" charset="-122"/>
                <a:cs typeface="Calibri" pitchFamily="34" charset="-120"/>
              </a:rPr>
              <a:t>Tools exist only inside this project. No other agent can find or reuse them.</a:t>
            </a:r>
            <a:endParaRPr lang="en-US" sz="1267" dirty="0"/>
          </a:p>
        </p:txBody>
      </p:sp>
      <p:sp>
        <p:nvSpPr>
          <p:cNvPr id="12" name="Shape 10"/>
          <p:cNvSpPr/>
          <p:nvPr/>
        </p:nvSpPr>
        <p:spPr>
          <a:xfrm>
            <a:off x="6400800" y="2438400"/>
            <a:ext cx="5120640" cy="79248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3" name="Shape 11"/>
          <p:cNvSpPr/>
          <p:nvPr/>
        </p:nvSpPr>
        <p:spPr>
          <a:xfrm>
            <a:off x="6400800" y="2438400"/>
            <a:ext cx="73152" cy="792480"/>
          </a:xfrm>
          <a:prstGeom prst="rect">
            <a:avLst/>
          </a:prstGeom>
          <a:solidFill>
            <a:srgbClr val="C0392B"/>
          </a:solidFill>
          <a:ln w="12700">
            <a:solidFill>
              <a:srgbClr val="C0392B"/>
            </a:solidFill>
            <a:prstDash val="solid"/>
          </a:ln>
        </p:spPr>
        <p:txBody>
          <a:bodyPr/>
          <a:lstStyle/>
          <a:p>
            <a:endParaRPr lang="en-IN" sz="2400"/>
          </a:p>
        </p:txBody>
      </p:sp>
      <p:sp>
        <p:nvSpPr>
          <p:cNvPr id="14" name="Text 12"/>
          <p:cNvSpPr/>
          <p:nvPr/>
        </p:nvSpPr>
        <p:spPr>
          <a:xfrm>
            <a:off x="6644640" y="2511552"/>
            <a:ext cx="4632960" cy="292608"/>
          </a:xfrm>
          <a:prstGeom prst="rect">
            <a:avLst/>
          </a:prstGeom>
          <a:noFill/>
          <a:ln/>
        </p:spPr>
        <p:txBody>
          <a:bodyPr wrap="square" lIns="0" tIns="0" rIns="0" bIns="0" rtlCol="0" anchor="ctr"/>
          <a:lstStyle/>
          <a:p>
            <a:r>
              <a:rPr lang="en-US" sz="1467" b="1" dirty="0">
                <a:solidFill>
                  <a:srgbClr val="C0392B"/>
                </a:solidFill>
                <a:latin typeface="Calibri" pitchFamily="34" charset="0"/>
                <a:ea typeface="Calibri" pitchFamily="34" charset="-122"/>
                <a:cs typeface="Calibri" pitchFamily="34" charset="-120"/>
              </a:rPr>
              <a:t>🔁 Copy-paste trap</a:t>
            </a:r>
            <a:endParaRPr lang="en-US" sz="1467" dirty="0"/>
          </a:p>
        </p:txBody>
      </p:sp>
      <p:sp>
        <p:nvSpPr>
          <p:cNvPr id="15" name="Text 13"/>
          <p:cNvSpPr/>
          <p:nvPr/>
        </p:nvSpPr>
        <p:spPr>
          <a:xfrm>
            <a:off x="6644640" y="2828544"/>
            <a:ext cx="4632960" cy="341376"/>
          </a:xfrm>
          <a:prstGeom prst="rect">
            <a:avLst/>
          </a:prstGeom>
          <a:noFill/>
          <a:ln/>
        </p:spPr>
        <p:txBody>
          <a:bodyPr wrap="square" lIns="0" tIns="0" rIns="0" bIns="0" rtlCol="0" anchor="ctr"/>
          <a:lstStyle/>
          <a:p>
            <a:r>
              <a:rPr lang="en-US" sz="1267" dirty="0">
                <a:solidFill>
                  <a:srgbClr val="6B7280"/>
                </a:solidFill>
                <a:latin typeface="Calibri" pitchFamily="34" charset="0"/>
                <a:ea typeface="Calibri" pitchFamily="34" charset="-122"/>
                <a:cs typeface="Calibri" pitchFamily="34" charset="-120"/>
              </a:rPr>
              <a:t>Every new agent reimplements the same integrations from scratch.</a:t>
            </a:r>
            <a:endParaRPr lang="en-US" sz="1267" dirty="0"/>
          </a:p>
        </p:txBody>
      </p:sp>
      <p:sp>
        <p:nvSpPr>
          <p:cNvPr id="16" name="Shape 14"/>
          <p:cNvSpPr/>
          <p:nvPr/>
        </p:nvSpPr>
        <p:spPr>
          <a:xfrm>
            <a:off x="6400800" y="3352800"/>
            <a:ext cx="5120640" cy="79248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7" name="Shape 15"/>
          <p:cNvSpPr/>
          <p:nvPr/>
        </p:nvSpPr>
        <p:spPr>
          <a:xfrm>
            <a:off x="6400800" y="3352800"/>
            <a:ext cx="73152" cy="792480"/>
          </a:xfrm>
          <a:prstGeom prst="rect">
            <a:avLst/>
          </a:prstGeom>
          <a:solidFill>
            <a:srgbClr val="C0392B"/>
          </a:solidFill>
          <a:ln w="12700">
            <a:solidFill>
              <a:srgbClr val="C0392B"/>
            </a:solidFill>
            <a:prstDash val="solid"/>
          </a:ln>
        </p:spPr>
        <p:txBody>
          <a:bodyPr/>
          <a:lstStyle/>
          <a:p>
            <a:endParaRPr lang="en-IN" sz="2400"/>
          </a:p>
        </p:txBody>
      </p:sp>
      <p:sp>
        <p:nvSpPr>
          <p:cNvPr id="18" name="Text 16"/>
          <p:cNvSpPr/>
          <p:nvPr/>
        </p:nvSpPr>
        <p:spPr>
          <a:xfrm>
            <a:off x="6644640" y="3425952"/>
            <a:ext cx="4632960" cy="292608"/>
          </a:xfrm>
          <a:prstGeom prst="rect">
            <a:avLst/>
          </a:prstGeom>
          <a:noFill/>
          <a:ln/>
        </p:spPr>
        <p:txBody>
          <a:bodyPr wrap="square" lIns="0" tIns="0" rIns="0" bIns="0" rtlCol="0" anchor="ctr"/>
          <a:lstStyle/>
          <a:p>
            <a:r>
              <a:rPr lang="en-US" sz="1467" b="1" dirty="0">
                <a:solidFill>
                  <a:srgbClr val="C0392B"/>
                </a:solidFill>
                <a:latin typeface="Calibri" pitchFamily="34" charset="0"/>
                <a:ea typeface="Calibri" pitchFamily="34" charset="-122"/>
                <a:cs typeface="Calibri" pitchFamily="34" charset="-120"/>
              </a:rPr>
              <a:t>🔌 Plug chaos</a:t>
            </a:r>
            <a:endParaRPr lang="en-US" sz="1467" dirty="0"/>
          </a:p>
        </p:txBody>
      </p:sp>
      <p:sp>
        <p:nvSpPr>
          <p:cNvPr id="19" name="Text 17"/>
          <p:cNvSpPr/>
          <p:nvPr/>
        </p:nvSpPr>
        <p:spPr>
          <a:xfrm>
            <a:off x="6644640" y="3742944"/>
            <a:ext cx="4632960" cy="341376"/>
          </a:xfrm>
          <a:prstGeom prst="rect">
            <a:avLst/>
          </a:prstGeom>
          <a:noFill/>
          <a:ln/>
        </p:spPr>
        <p:txBody>
          <a:bodyPr wrap="square" lIns="0" tIns="0" rIns="0" bIns="0" rtlCol="0" anchor="ctr"/>
          <a:lstStyle/>
          <a:p>
            <a:r>
              <a:rPr lang="en-US" sz="1267" dirty="0">
                <a:solidFill>
                  <a:srgbClr val="6B7280"/>
                </a:solidFill>
                <a:latin typeface="Calibri" pitchFamily="34" charset="0"/>
                <a:ea typeface="Calibri" pitchFamily="34" charset="-122"/>
                <a:cs typeface="Calibri" pitchFamily="34" charset="-120"/>
              </a:rPr>
              <a:t>Each tool has its own auth, format, error handling. Custom glue code everywhere.</a:t>
            </a:r>
            <a:endParaRPr lang="en-US" sz="1267" dirty="0"/>
          </a:p>
        </p:txBody>
      </p:sp>
      <p:sp>
        <p:nvSpPr>
          <p:cNvPr id="20" name="Shape 18"/>
          <p:cNvSpPr/>
          <p:nvPr/>
        </p:nvSpPr>
        <p:spPr>
          <a:xfrm>
            <a:off x="6400800" y="4267200"/>
            <a:ext cx="5120640" cy="79248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1" name="Shape 19"/>
          <p:cNvSpPr/>
          <p:nvPr/>
        </p:nvSpPr>
        <p:spPr>
          <a:xfrm>
            <a:off x="6400800" y="4267200"/>
            <a:ext cx="73152" cy="792480"/>
          </a:xfrm>
          <a:prstGeom prst="rect">
            <a:avLst/>
          </a:prstGeom>
          <a:solidFill>
            <a:srgbClr val="C0392B"/>
          </a:solidFill>
          <a:ln w="12700">
            <a:solidFill>
              <a:srgbClr val="C0392B"/>
            </a:solidFill>
            <a:prstDash val="solid"/>
          </a:ln>
        </p:spPr>
        <p:txBody>
          <a:bodyPr/>
          <a:lstStyle/>
          <a:p>
            <a:endParaRPr lang="en-IN" sz="2400"/>
          </a:p>
        </p:txBody>
      </p:sp>
      <p:sp>
        <p:nvSpPr>
          <p:cNvPr id="22" name="Text 20"/>
          <p:cNvSpPr/>
          <p:nvPr/>
        </p:nvSpPr>
        <p:spPr>
          <a:xfrm>
            <a:off x="6644640" y="4340352"/>
            <a:ext cx="4632960" cy="292608"/>
          </a:xfrm>
          <a:prstGeom prst="rect">
            <a:avLst/>
          </a:prstGeom>
          <a:noFill/>
          <a:ln/>
        </p:spPr>
        <p:txBody>
          <a:bodyPr wrap="square" lIns="0" tIns="0" rIns="0" bIns="0" rtlCol="0" anchor="ctr"/>
          <a:lstStyle/>
          <a:p>
            <a:r>
              <a:rPr lang="en-US" sz="1467" b="1" dirty="0">
                <a:solidFill>
                  <a:srgbClr val="C0392B"/>
                </a:solidFill>
                <a:latin typeface="Calibri" pitchFamily="34" charset="0"/>
                <a:ea typeface="Calibri" pitchFamily="34" charset="-122"/>
                <a:cs typeface="Calibri" pitchFamily="34" charset="-120"/>
              </a:rPr>
              <a:t>👻 No discoverability</a:t>
            </a:r>
            <a:endParaRPr lang="en-US" sz="1467" dirty="0"/>
          </a:p>
        </p:txBody>
      </p:sp>
      <p:sp>
        <p:nvSpPr>
          <p:cNvPr id="23" name="Text 21"/>
          <p:cNvSpPr/>
          <p:nvPr/>
        </p:nvSpPr>
        <p:spPr>
          <a:xfrm>
            <a:off x="6644640" y="4657344"/>
            <a:ext cx="4632960" cy="341376"/>
          </a:xfrm>
          <a:prstGeom prst="rect">
            <a:avLst/>
          </a:prstGeom>
          <a:noFill/>
          <a:ln/>
        </p:spPr>
        <p:txBody>
          <a:bodyPr wrap="square" lIns="0" tIns="0" rIns="0" bIns="0" rtlCol="0" anchor="ctr"/>
          <a:lstStyle/>
          <a:p>
            <a:r>
              <a:rPr lang="en-US" sz="1267" dirty="0">
                <a:solidFill>
                  <a:srgbClr val="6B7280"/>
                </a:solidFill>
                <a:latin typeface="Calibri" pitchFamily="34" charset="0"/>
                <a:ea typeface="Calibri" pitchFamily="34" charset="-122"/>
                <a:cs typeface="Calibri" pitchFamily="34" charset="-120"/>
              </a:rPr>
              <a:t>Your agent must know exactly which tools exist at build time — no runtime flexibility.</a:t>
            </a:r>
            <a:endParaRPr lang="en-US" sz="12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What MCP Is — The Architecture</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Shape 4"/>
          <p:cNvSpPr/>
          <p:nvPr/>
        </p:nvSpPr>
        <p:spPr>
          <a:xfrm>
            <a:off x="487680" y="1645920"/>
            <a:ext cx="2682240" cy="1767840"/>
          </a:xfrm>
          <a:prstGeom prst="rect">
            <a:avLst/>
          </a:prstGeom>
          <a:solidFill>
            <a:srgbClr val="FFFFFF"/>
          </a:solidFill>
          <a:ln w="31750">
            <a:solidFill>
              <a:srgbClr val="7B5EA7"/>
            </a:solidFill>
            <a:prstDash val="solid"/>
          </a:ln>
          <a:effectLst>
            <a:outerShdw blurRad="76200" dist="25400" dir="8100000" algn="bl" rotWithShape="0">
              <a:srgbClr val="000000">
                <a:alpha val="10000"/>
              </a:srgbClr>
            </a:outerShdw>
          </a:effectLst>
        </p:spPr>
        <p:txBody>
          <a:bodyPr/>
          <a:lstStyle/>
          <a:p>
            <a:endParaRPr lang="en-IN" sz="2400"/>
          </a:p>
        </p:txBody>
      </p:sp>
      <p:sp>
        <p:nvSpPr>
          <p:cNvPr id="7" name="Shape 5"/>
          <p:cNvSpPr/>
          <p:nvPr/>
        </p:nvSpPr>
        <p:spPr>
          <a:xfrm>
            <a:off x="487680" y="1645920"/>
            <a:ext cx="2682240" cy="463296"/>
          </a:xfrm>
          <a:prstGeom prst="rect">
            <a:avLst/>
          </a:prstGeom>
          <a:solidFill>
            <a:srgbClr val="7B5EA7"/>
          </a:solidFill>
          <a:ln w="12700">
            <a:solidFill>
              <a:srgbClr val="7B5EA7"/>
            </a:solidFill>
            <a:prstDash val="solid"/>
          </a:ln>
        </p:spPr>
        <p:txBody>
          <a:bodyPr/>
          <a:lstStyle/>
          <a:p>
            <a:endParaRPr lang="en-IN" sz="2400"/>
          </a:p>
        </p:txBody>
      </p:sp>
      <p:sp>
        <p:nvSpPr>
          <p:cNvPr id="8" name="Text 6"/>
          <p:cNvSpPr/>
          <p:nvPr/>
        </p:nvSpPr>
        <p:spPr>
          <a:xfrm>
            <a:off x="487680" y="1645920"/>
            <a:ext cx="2682240" cy="46329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LLM</a:t>
            </a:r>
            <a:endParaRPr lang="en-US" sz="1733" dirty="0"/>
          </a:p>
        </p:txBody>
      </p:sp>
      <p:sp>
        <p:nvSpPr>
          <p:cNvPr id="9" name="Text 7"/>
          <p:cNvSpPr/>
          <p:nvPr/>
        </p:nvSpPr>
        <p:spPr>
          <a:xfrm>
            <a:off x="487680" y="2133600"/>
            <a:ext cx="2682240" cy="1280160"/>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Text in</a:t>
            </a:r>
            <a:endParaRPr lang="en-US" sz="1267" dirty="0"/>
          </a:p>
          <a:p>
            <a:pPr algn="ctr"/>
            <a:r>
              <a:rPr lang="en-US" sz="1267" dirty="0">
                <a:solidFill>
                  <a:srgbClr val="1A1A2E"/>
                </a:solidFill>
                <a:latin typeface="Calibri" pitchFamily="34" charset="0"/>
                <a:ea typeface="Calibri" pitchFamily="34" charset="-122"/>
                <a:cs typeface="Calibri" pitchFamily="34" charset="-120"/>
              </a:rPr>
              <a:t>Text out</a:t>
            </a:r>
            <a:endParaRPr lang="en-US" sz="1267" dirty="0"/>
          </a:p>
          <a:p>
            <a:pPr algn="ctr"/>
            <a:r>
              <a:rPr lang="en-US" sz="1267" dirty="0">
                <a:solidFill>
                  <a:srgbClr val="1A1A2E"/>
                </a:solidFill>
                <a:latin typeface="Calibri" pitchFamily="34" charset="0"/>
                <a:ea typeface="Calibri" pitchFamily="34" charset="-122"/>
                <a:cs typeface="Calibri" pitchFamily="34" charset="-120"/>
              </a:rPr>
              <a:t>Stateless</a:t>
            </a:r>
            <a:endParaRPr lang="en-US" sz="1267" dirty="0"/>
          </a:p>
        </p:txBody>
      </p:sp>
      <p:sp>
        <p:nvSpPr>
          <p:cNvPr id="10" name="Shape 8"/>
          <p:cNvSpPr/>
          <p:nvPr/>
        </p:nvSpPr>
        <p:spPr>
          <a:xfrm>
            <a:off x="3316224" y="1645920"/>
            <a:ext cx="2682240" cy="1767840"/>
          </a:xfrm>
          <a:prstGeom prst="rect">
            <a:avLst/>
          </a:prstGeom>
          <a:solidFill>
            <a:srgbClr val="FFFFFF"/>
          </a:solidFill>
          <a:ln w="31750">
            <a:solidFill>
              <a:srgbClr val="2D3561"/>
            </a:solidFill>
            <a:prstDash val="solid"/>
          </a:ln>
          <a:effectLst>
            <a:outerShdw blurRad="76200" dist="25400" dir="8100000" algn="bl" rotWithShape="0">
              <a:srgbClr val="000000">
                <a:alpha val="10000"/>
              </a:srgbClr>
            </a:outerShdw>
          </a:effectLst>
        </p:spPr>
        <p:txBody>
          <a:bodyPr/>
          <a:lstStyle/>
          <a:p>
            <a:endParaRPr lang="en-IN" sz="2400"/>
          </a:p>
        </p:txBody>
      </p:sp>
      <p:sp>
        <p:nvSpPr>
          <p:cNvPr id="11" name="Shape 9"/>
          <p:cNvSpPr/>
          <p:nvPr/>
        </p:nvSpPr>
        <p:spPr>
          <a:xfrm>
            <a:off x="3316224" y="1645920"/>
            <a:ext cx="2682240" cy="463296"/>
          </a:xfrm>
          <a:prstGeom prst="rect">
            <a:avLst/>
          </a:prstGeom>
          <a:solidFill>
            <a:srgbClr val="2D3561"/>
          </a:solidFill>
          <a:ln w="12700">
            <a:solidFill>
              <a:srgbClr val="2D3561"/>
            </a:solidFill>
            <a:prstDash val="solid"/>
          </a:ln>
        </p:spPr>
        <p:txBody>
          <a:bodyPr/>
          <a:lstStyle/>
          <a:p>
            <a:endParaRPr lang="en-IN" sz="2400"/>
          </a:p>
        </p:txBody>
      </p:sp>
      <p:sp>
        <p:nvSpPr>
          <p:cNvPr id="12" name="Text 10"/>
          <p:cNvSpPr/>
          <p:nvPr/>
        </p:nvSpPr>
        <p:spPr>
          <a:xfrm>
            <a:off x="3316224" y="1645920"/>
            <a:ext cx="2682240" cy="46329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Agent Code</a:t>
            </a:r>
            <a:endParaRPr lang="en-US" sz="1733" dirty="0"/>
          </a:p>
        </p:txBody>
      </p:sp>
      <p:sp>
        <p:nvSpPr>
          <p:cNvPr id="13" name="Text 11"/>
          <p:cNvSpPr/>
          <p:nvPr/>
        </p:nvSpPr>
        <p:spPr>
          <a:xfrm>
            <a:off x="3316224" y="2133600"/>
            <a:ext cx="2682240" cy="1280160"/>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Orchestration loop.</a:t>
            </a:r>
            <a:endParaRPr lang="en-US" sz="1267" dirty="0"/>
          </a:p>
          <a:p>
            <a:pPr algn="ctr"/>
            <a:r>
              <a:rPr lang="en-US" sz="1267" dirty="0">
                <a:solidFill>
                  <a:srgbClr val="1A1A2E"/>
                </a:solidFill>
                <a:latin typeface="Calibri" pitchFamily="34" charset="0"/>
                <a:ea typeface="Calibri" pitchFamily="34" charset="-122"/>
                <a:cs typeface="Calibri" pitchFamily="34" charset="-120"/>
              </a:rPr>
              <a:t>Reads LLM output.</a:t>
            </a:r>
            <a:endParaRPr lang="en-US" sz="1267" dirty="0"/>
          </a:p>
          <a:p>
            <a:pPr algn="ctr"/>
            <a:r>
              <a:rPr lang="en-US" sz="1267" dirty="0">
                <a:solidFill>
                  <a:srgbClr val="1A1A2E"/>
                </a:solidFill>
                <a:latin typeface="Calibri" pitchFamily="34" charset="0"/>
                <a:ea typeface="Calibri" pitchFamily="34" charset="-122"/>
                <a:cs typeface="Calibri" pitchFamily="34" charset="-120"/>
              </a:rPr>
              <a:t>Calls MCP.</a:t>
            </a:r>
            <a:endParaRPr lang="en-US" sz="1267" dirty="0"/>
          </a:p>
        </p:txBody>
      </p:sp>
      <p:sp>
        <p:nvSpPr>
          <p:cNvPr id="14" name="Shape 12"/>
          <p:cNvSpPr/>
          <p:nvPr/>
        </p:nvSpPr>
        <p:spPr>
          <a:xfrm>
            <a:off x="6156960" y="1645920"/>
            <a:ext cx="2682240" cy="1767840"/>
          </a:xfrm>
          <a:prstGeom prst="rect">
            <a:avLst/>
          </a:prstGeom>
          <a:solidFill>
            <a:srgbClr val="FFFFFF"/>
          </a:solidFill>
          <a:ln w="31750">
            <a:solidFill>
              <a:srgbClr val="0F6CBD"/>
            </a:solidFill>
            <a:prstDash val="solid"/>
          </a:ln>
          <a:effectLst>
            <a:outerShdw blurRad="76200" dist="25400" dir="8100000" algn="bl" rotWithShape="0">
              <a:srgbClr val="000000">
                <a:alpha val="10000"/>
              </a:srgbClr>
            </a:outerShdw>
          </a:effectLst>
        </p:spPr>
        <p:txBody>
          <a:bodyPr/>
          <a:lstStyle/>
          <a:p>
            <a:endParaRPr lang="en-IN" sz="2400"/>
          </a:p>
        </p:txBody>
      </p:sp>
      <p:sp>
        <p:nvSpPr>
          <p:cNvPr id="15" name="Shape 13"/>
          <p:cNvSpPr/>
          <p:nvPr/>
        </p:nvSpPr>
        <p:spPr>
          <a:xfrm>
            <a:off x="6156960" y="1645920"/>
            <a:ext cx="2682240" cy="463296"/>
          </a:xfrm>
          <a:prstGeom prst="rect">
            <a:avLst/>
          </a:prstGeom>
          <a:solidFill>
            <a:srgbClr val="0F6CBD"/>
          </a:solidFill>
          <a:ln w="12700">
            <a:solidFill>
              <a:srgbClr val="0F6CBD"/>
            </a:solidFill>
            <a:prstDash val="solid"/>
          </a:ln>
        </p:spPr>
        <p:txBody>
          <a:bodyPr/>
          <a:lstStyle/>
          <a:p>
            <a:endParaRPr lang="en-IN" sz="2400"/>
          </a:p>
        </p:txBody>
      </p:sp>
      <p:sp>
        <p:nvSpPr>
          <p:cNvPr id="16" name="Text 14"/>
          <p:cNvSpPr/>
          <p:nvPr/>
        </p:nvSpPr>
        <p:spPr>
          <a:xfrm>
            <a:off x="6156960" y="1645920"/>
            <a:ext cx="2682240" cy="46329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MCP Client</a:t>
            </a:r>
            <a:endParaRPr lang="en-US" sz="1733" dirty="0"/>
          </a:p>
        </p:txBody>
      </p:sp>
      <p:sp>
        <p:nvSpPr>
          <p:cNvPr id="17" name="Text 15"/>
          <p:cNvSpPr/>
          <p:nvPr/>
        </p:nvSpPr>
        <p:spPr>
          <a:xfrm>
            <a:off x="6156960" y="2133600"/>
            <a:ext cx="2682240" cy="1280160"/>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Library inside</a:t>
            </a:r>
            <a:endParaRPr lang="en-US" sz="1267" dirty="0"/>
          </a:p>
          <a:p>
            <a:pPr algn="ctr"/>
            <a:r>
              <a:rPr lang="en-US" sz="1267" dirty="0">
                <a:solidFill>
                  <a:srgbClr val="1A1A2E"/>
                </a:solidFill>
                <a:latin typeface="Calibri" pitchFamily="34" charset="0"/>
                <a:ea typeface="Calibri" pitchFamily="34" charset="-122"/>
                <a:cs typeface="Calibri" pitchFamily="34" charset="-120"/>
              </a:rPr>
              <a:t>your agent</a:t>
            </a:r>
            <a:endParaRPr lang="en-US" sz="1267" dirty="0"/>
          </a:p>
        </p:txBody>
      </p:sp>
      <p:sp>
        <p:nvSpPr>
          <p:cNvPr id="18" name="Shape 16"/>
          <p:cNvSpPr/>
          <p:nvPr/>
        </p:nvSpPr>
        <p:spPr>
          <a:xfrm>
            <a:off x="8997696" y="1645920"/>
            <a:ext cx="2682240" cy="1767840"/>
          </a:xfrm>
          <a:prstGeom prst="rect">
            <a:avLst/>
          </a:prstGeom>
          <a:solidFill>
            <a:srgbClr val="FFFFFF"/>
          </a:solidFill>
          <a:ln w="31750">
            <a:solidFill>
              <a:srgbClr val="00897B"/>
            </a:solidFill>
            <a:prstDash val="solid"/>
          </a:ln>
          <a:effectLst>
            <a:outerShdw blurRad="76200" dist="25400" dir="8100000" algn="bl" rotWithShape="0">
              <a:srgbClr val="000000">
                <a:alpha val="10000"/>
              </a:srgbClr>
            </a:outerShdw>
          </a:effectLst>
        </p:spPr>
        <p:txBody>
          <a:bodyPr/>
          <a:lstStyle/>
          <a:p>
            <a:endParaRPr lang="en-IN" sz="2400"/>
          </a:p>
        </p:txBody>
      </p:sp>
      <p:sp>
        <p:nvSpPr>
          <p:cNvPr id="19" name="Shape 17"/>
          <p:cNvSpPr/>
          <p:nvPr/>
        </p:nvSpPr>
        <p:spPr>
          <a:xfrm>
            <a:off x="8997696" y="1645920"/>
            <a:ext cx="2682240" cy="463296"/>
          </a:xfrm>
          <a:prstGeom prst="rect">
            <a:avLst/>
          </a:prstGeom>
          <a:solidFill>
            <a:srgbClr val="00897B"/>
          </a:solidFill>
          <a:ln w="12700">
            <a:solidFill>
              <a:srgbClr val="00897B"/>
            </a:solidFill>
            <a:prstDash val="solid"/>
          </a:ln>
        </p:spPr>
        <p:txBody>
          <a:bodyPr/>
          <a:lstStyle/>
          <a:p>
            <a:endParaRPr lang="en-IN" sz="2400"/>
          </a:p>
        </p:txBody>
      </p:sp>
      <p:sp>
        <p:nvSpPr>
          <p:cNvPr id="20" name="Text 18"/>
          <p:cNvSpPr/>
          <p:nvPr/>
        </p:nvSpPr>
        <p:spPr>
          <a:xfrm>
            <a:off x="8997696" y="1645920"/>
            <a:ext cx="2682240" cy="46329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MCP Server</a:t>
            </a:r>
            <a:endParaRPr lang="en-US" sz="1733" dirty="0"/>
          </a:p>
        </p:txBody>
      </p:sp>
      <p:sp>
        <p:nvSpPr>
          <p:cNvPr id="21" name="Text 19"/>
          <p:cNvSpPr/>
          <p:nvPr/>
        </p:nvSpPr>
        <p:spPr>
          <a:xfrm>
            <a:off x="8997696" y="2133600"/>
            <a:ext cx="2682240" cy="1280160"/>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Tools · Resources</a:t>
            </a:r>
            <a:endParaRPr lang="en-US" sz="1267" dirty="0"/>
          </a:p>
          <a:p>
            <a:pPr algn="ctr"/>
            <a:r>
              <a:rPr lang="en-US" sz="1267" dirty="0">
                <a:solidFill>
                  <a:srgbClr val="1A1A2E"/>
                </a:solidFill>
                <a:latin typeface="Calibri" pitchFamily="34" charset="0"/>
                <a:ea typeface="Calibri" pitchFamily="34" charset="-122"/>
                <a:cs typeface="Calibri" pitchFamily="34" charset="-120"/>
              </a:rPr>
              <a:t>Prompts · Auth</a:t>
            </a:r>
            <a:endParaRPr lang="en-US" sz="1267" dirty="0"/>
          </a:p>
          <a:p>
            <a:pPr algn="ctr"/>
            <a:r>
              <a:rPr lang="en-US" sz="1267" dirty="0">
                <a:solidFill>
                  <a:srgbClr val="1A1A2E"/>
                </a:solidFill>
                <a:latin typeface="Calibri" pitchFamily="34" charset="0"/>
                <a:ea typeface="Calibri" pitchFamily="34" charset="-122"/>
                <a:cs typeface="Calibri" pitchFamily="34" charset="-120"/>
              </a:rPr>
              <a:t>Session state</a:t>
            </a:r>
            <a:endParaRPr lang="en-US" sz="1267" dirty="0"/>
          </a:p>
        </p:txBody>
      </p:sp>
      <p:sp>
        <p:nvSpPr>
          <p:cNvPr id="22" name="Text 20"/>
          <p:cNvSpPr/>
          <p:nvPr/>
        </p:nvSpPr>
        <p:spPr>
          <a:xfrm>
            <a:off x="3169920" y="2316480"/>
            <a:ext cx="365760" cy="365760"/>
          </a:xfrm>
          <a:prstGeom prst="rect">
            <a:avLst/>
          </a:prstGeom>
          <a:noFill/>
          <a:ln/>
        </p:spPr>
        <p:txBody>
          <a:bodyPr wrap="square" lIns="0" tIns="0" rIns="0" bIns="0" rtlCol="0" anchor="ctr"/>
          <a:lstStyle/>
          <a:p>
            <a:pPr algn="ctr"/>
            <a:r>
              <a:rPr lang="en-US" sz="1867" dirty="0">
                <a:solidFill>
                  <a:srgbClr val="6B7280"/>
                </a:solidFill>
                <a:latin typeface="Calibri" pitchFamily="34" charset="0"/>
                <a:ea typeface="Calibri" pitchFamily="34" charset="-122"/>
                <a:cs typeface="Calibri" pitchFamily="34" charset="-120"/>
              </a:rPr>
              <a:t>↔</a:t>
            </a:r>
            <a:endParaRPr lang="en-US" sz="1867" dirty="0"/>
          </a:p>
        </p:txBody>
      </p:sp>
      <p:sp>
        <p:nvSpPr>
          <p:cNvPr id="23" name="Text 21"/>
          <p:cNvSpPr/>
          <p:nvPr/>
        </p:nvSpPr>
        <p:spPr>
          <a:xfrm>
            <a:off x="6010656" y="2316480"/>
            <a:ext cx="365760" cy="365760"/>
          </a:xfrm>
          <a:prstGeom prst="rect">
            <a:avLst/>
          </a:prstGeom>
          <a:noFill/>
          <a:ln/>
        </p:spPr>
        <p:txBody>
          <a:bodyPr wrap="square" lIns="0" tIns="0" rIns="0" bIns="0" rtlCol="0" anchor="ctr"/>
          <a:lstStyle/>
          <a:p>
            <a:pPr algn="ctr"/>
            <a:r>
              <a:rPr lang="en-US" sz="1867" dirty="0">
                <a:solidFill>
                  <a:srgbClr val="6B7280"/>
                </a:solidFill>
                <a:latin typeface="Calibri" pitchFamily="34" charset="0"/>
                <a:ea typeface="Calibri" pitchFamily="34" charset="-122"/>
                <a:cs typeface="Calibri" pitchFamily="34" charset="-120"/>
              </a:rPr>
              <a:t>↔</a:t>
            </a:r>
            <a:endParaRPr lang="en-US" sz="1867" dirty="0"/>
          </a:p>
        </p:txBody>
      </p:sp>
      <p:sp>
        <p:nvSpPr>
          <p:cNvPr id="24" name="Text 22"/>
          <p:cNvSpPr/>
          <p:nvPr/>
        </p:nvSpPr>
        <p:spPr>
          <a:xfrm>
            <a:off x="8851392" y="2316480"/>
            <a:ext cx="365760" cy="365760"/>
          </a:xfrm>
          <a:prstGeom prst="rect">
            <a:avLst/>
          </a:prstGeom>
          <a:noFill/>
          <a:ln/>
        </p:spPr>
        <p:txBody>
          <a:bodyPr wrap="square" lIns="0" tIns="0" rIns="0" bIns="0" rtlCol="0" anchor="ctr"/>
          <a:lstStyle/>
          <a:p>
            <a:pPr algn="ctr"/>
            <a:r>
              <a:rPr lang="en-US" sz="1867" dirty="0">
                <a:solidFill>
                  <a:srgbClr val="6B7280"/>
                </a:solidFill>
                <a:latin typeface="Calibri" pitchFamily="34" charset="0"/>
                <a:ea typeface="Calibri" pitchFamily="34" charset="-122"/>
                <a:cs typeface="Calibri" pitchFamily="34" charset="-120"/>
              </a:rPr>
              <a:t>↔</a:t>
            </a:r>
            <a:endParaRPr lang="en-US" sz="1867" dirty="0"/>
          </a:p>
        </p:txBody>
      </p:sp>
      <p:sp>
        <p:nvSpPr>
          <p:cNvPr id="25" name="Shape 23"/>
          <p:cNvSpPr/>
          <p:nvPr/>
        </p:nvSpPr>
        <p:spPr>
          <a:xfrm>
            <a:off x="487680" y="3596640"/>
            <a:ext cx="11216640" cy="914400"/>
          </a:xfrm>
          <a:prstGeom prst="rect">
            <a:avLst/>
          </a:prstGeom>
          <a:solidFill>
            <a:srgbClr val="FEF2F2"/>
          </a:solidFill>
          <a:ln w="12700">
            <a:solidFill>
              <a:srgbClr val="C0392B"/>
            </a:solidFill>
            <a:prstDash val="solid"/>
          </a:ln>
          <a:effectLst>
            <a:outerShdw blurRad="50800" dist="12700" dir="8100000" algn="bl" rotWithShape="0">
              <a:srgbClr val="000000">
                <a:alpha val="7000"/>
              </a:srgbClr>
            </a:outerShdw>
          </a:effectLst>
        </p:spPr>
        <p:txBody>
          <a:bodyPr/>
          <a:lstStyle/>
          <a:p>
            <a:endParaRPr lang="en-IN" sz="2400"/>
          </a:p>
        </p:txBody>
      </p:sp>
      <p:sp>
        <p:nvSpPr>
          <p:cNvPr id="26" name="Shape 24"/>
          <p:cNvSpPr/>
          <p:nvPr/>
        </p:nvSpPr>
        <p:spPr>
          <a:xfrm>
            <a:off x="487680" y="3596640"/>
            <a:ext cx="73152" cy="914400"/>
          </a:xfrm>
          <a:prstGeom prst="rect">
            <a:avLst/>
          </a:prstGeom>
          <a:solidFill>
            <a:srgbClr val="C0392B"/>
          </a:solidFill>
          <a:ln w="12700">
            <a:solidFill>
              <a:srgbClr val="C0392B"/>
            </a:solidFill>
            <a:prstDash val="solid"/>
          </a:ln>
        </p:spPr>
        <p:txBody>
          <a:bodyPr/>
          <a:lstStyle/>
          <a:p>
            <a:endParaRPr lang="en-IN" sz="2400"/>
          </a:p>
        </p:txBody>
      </p:sp>
      <p:sp>
        <p:nvSpPr>
          <p:cNvPr id="27" name="Text 25"/>
          <p:cNvSpPr/>
          <p:nvPr/>
        </p:nvSpPr>
        <p:spPr>
          <a:xfrm>
            <a:off x="755904" y="3633216"/>
            <a:ext cx="6705600" cy="365760"/>
          </a:xfrm>
          <a:prstGeom prst="rect">
            <a:avLst/>
          </a:prstGeom>
          <a:noFill/>
          <a:ln/>
        </p:spPr>
        <p:txBody>
          <a:bodyPr wrap="square" lIns="0" tIns="0" rIns="0" bIns="0" rtlCol="0" anchor="ctr"/>
          <a:lstStyle/>
          <a:p>
            <a:r>
              <a:rPr lang="en-US" sz="1600" b="1" dirty="0">
                <a:solidFill>
                  <a:srgbClr val="C0392B"/>
                </a:solidFill>
                <a:latin typeface="Calibri" pitchFamily="34" charset="0"/>
                <a:ea typeface="Calibri" pitchFamily="34" charset="-122"/>
                <a:cs typeface="Calibri" pitchFamily="34" charset="-120"/>
              </a:rPr>
              <a:t>MCP never talks to the LLM directly</a:t>
            </a:r>
            <a:endParaRPr lang="en-US" sz="1600" dirty="0"/>
          </a:p>
        </p:txBody>
      </p:sp>
      <p:sp>
        <p:nvSpPr>
          <p:cNvPr id="28" name="Text 26"/>
          <p:cNvSpPr/>
          <p:nvPr/>
        </p:nvSpPr>
        <p:spPr>
          <a:xfrm>
            <a:off x="755904" y="3998976"/>
            <a:ext cx="10972800" cy="426720"/>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MCP talks to your agent code. Agent code talks to the LLM. The LLM is a stateless text processor — it only knows what you put in its context window. Agent code must fetch capabilities from MCP and inject them into the prompt before every LLM call.</a:t>
            </a:r>
            <a:endParaRPr lang="en-US" sz="1267" dirty="0"/>
          </a:p>
        </p:txBody>
      </p:sp>
      <p:sp>
        <p:nvSpPr>
          <p:cNvPr id="29" name="Shape 27"/>
          <p:cNvSpPr/>
          <p:nvPr/>
        </p:nvSpPr>
        <p:spPr>
          <a:xfrm>
            <a:off x="487680" y="4657344"/>
            <a:ext cx="11216640" cy="755904"/>
          </a:xfrm>
          <a:prstGeom prst="rect">
            <a:avLst/>
          </a:prstGeom>
          <a:solidFill>
            <a:srgbClr val="EBF5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30" name="Shape 28"/>
          <p:cNvSpPr/>
          <p:nvPr/>
        </p:nvSpPr>
        <p:spPr>
          <a:xfrm>
            <a:off x="487680" y="4657344"/>
            <a:ext cx="73152" cy="755904"/>
          </a:xfrm>
          <a:prstGeom prst="rect">
            <a:avLst/>
          </a:prstGeom>
          <a:solidFill>
            <a:srgbClr val="0F6CBD"/>
          </a:solidFill>
          <a:ln w="12700">
            <a:solidFill>
              <a:srgbClr val="0F6CBD"/>
            </a:solidFill>
            <a:prstDash val="solid"/>
          </a:ln>
        </p:spPr>
        <p:txBody>
          <a:bodyPr/>
          <a:lstStyle/>
          <a:p>
            <a:endParaRPr lang="en-IN" sz="2400"/>
          </a:p>
        </p:txBody>
      </p:sp>
      <p:sp>
        <p:nvSpPr>
          <p:cNvPr id="31" name="Text 29"/>
          <p:cNvSpPr/>
          <p:nvPr/>
        </p:nvSpPr>
        <p:spPr>
          <a:xfrm>
            <a:off x="755904" y="4718304"/>
            <a:ext cx="3657600" cy="304800"/>
          </a:xfrm>
          <a:prstGeom prst="rect">
            <a:avLst/>
          </a:prstGeom>
          <a:noFill/>
          <a:ln/>
        </p:spPr>
        <p:txBody>
          <a:bodyPr wrap="square" lIns="0" tIns="0" rIns="0" bIns="0" rtlCol="0" anchor="ctr"/>
          <a:lstStyle/>
          <a:p>
            <a:r>
              <a:rPr lang="en-US" sz="1467" b="1" dirty="0">
                <a:solidFill>
                  <a:srgbClr val="0F6CBD"/>
                </a:solidFill>
                <a:latin typeface="Calibri" pitchFamily="34" charset="0"/>
                <a:ea typeface="Calibri" pitchFamily="34" charset="-122"/>
                <a:cs typeface="Calibri" pitchFamily="34" charset="-120"/>
              </a:rPr>
              <a:t>MCP connection IS stateful</a:t>
            </a:r>
            <a:endParaRPr lang="en-US" sz="1467" dirty="0"/>
          </a:p>
        </p:txBody>
      </p:sp>
      <p:sp>
        <p:nvSpPr>
          <p:cNvPr id="32" name="Text 30"/>
          <p:cNvSpPr/>
          <p:nvPr/>
        </p:nvSpPr>
        <p:spPr>
          <a:xfrm>
            <a:off x="755904" y="5023104"/>
            <a:ext cx="10972800" cy="341376"/>
          </a:xfrm>
          <a:prstGeom prst="rect">
            <a:avLst/>
          </a:prstGeom>
          <a:noFill/>
          <a:ln/>
        </p:spPr>
        <p:txBody>
          <a:bodyPr wrap="square" lIns="0" tIns="0" rIns="0" bIns="0" rtlCol="0" anchor="ctr"/>
          <a:lstStyle/>
          <a:p>
            <a:r>
              <a:rPr lang="en-US" sz="1267" dirty="0">
                <a:solidFill>
                  <a:srgbClr val="2D3561"/>
                </a:solidFill>
                <a:latin typeface="Calibri" pitchFamily="34" charset="0"/>
                <a:ea typeface="Calibri" pitchFamily="34" charset="-122"/>
                <a:cs typeface="Calibri" pitchFamily="34" charset="-120"/>
              </a:rPr>
              <a:t>The MCP server holds session context between calls. Agent code ↔ MCP Server remember each other across the full workflow — fetch portfolio, check margin, place order — all one session.</a:t>
            </a:r>
            <a:endParaRPr lang="en-US" sz="126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Meet the Example</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Shape 4"/>
          <p:cNvSpPr/>
          <p:nvPr/>
        </p:nvSpPr>
        <p:spPr>
          <a:xfrm>
            <a:off x="609600" y="1524000"/>
            <a:ext cx="10972800" cy="914400"/>
          </a:xfrm>
          <a:prstGeom prst="rect">
            <a:avLst/>
          </a:prstGeom>
          <a:solidFill>
            <a:srgbClr val="2D3561"/>
          </a:solidFill>
          <a:ln w="12700">
            <a:solidFill>
              <a:srgbClr val="2D3561"/>
            </a:solidFill>
            <a:prstDash val="solid"/>
          </a:ln>
          <a:effectLst>
            <a:outerShdw blurRad="50800" dist="12700" dir="8100000" algn="bl" rotWithShape="0">
              <a:srgbClr val="000000">
                <a:alpha val="7000"/>
              </a:srgbClr>
            </a:outerShdw>
          </a:effectLst>
        </p:spPr>
        <p:txBody>
          <a:bodyPr/>
          <a:lstStyle/>
          <a:p>
            <a:endParaRPr lang="en-IN" sz="2400"/>
          </a:p>
        </p:txBody>
      </p:sp>
      <p:sp>
        <p:nvSpPr>
          <p:cNvPr id="7" name="Text 5"/>
          <p:cNvSpPr/>
          <p:nvPr/>
        </p:nvSpPr>
        <p:spPr>
          <a:xfrm>
            <a:off x="609600" y="1524000"/>
            <a:ext cx="10972800" cy="914400"/>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"Should I buy more HDFC Bank today?"</a:t>
            </a:r>
            <a:endParaRPr lang="en-US" sz="2667" dirty="0"/>
          </a:p>
        </p:txBody>
      </p:sp>
      <p:sp>
        <p:nvSpPr>
          <p:cNvPr id="8" name="Text 6"/>
          <p:cNvSpPr/>
          <p:nvPr/>
        </p:nvSpPr>
        <p:spPr>
          <a:xfrm>
            <a:off x="609600" y="2621280"/>
            <a:ext cx="10972800" cy="365760"/>
          </a:xfrm>
          <a:prstGeom prst="rect">
            <a:avLst/>
          </a:prstGeom>
          <a:noFill/>
          <a:ln/>
        </p:spPr>
        <p:txBody>
          <a:bodyPr wrap="square" lIns="0" tIns="0" rIns="0" bIns="0" rtlCol="0" anchor="ctr"/>
          <a:lstStyle/>
          <a:p>
            <a:r>
              <a:rPr lang="en-US" sz="1600" dirty="0">
                <a:solidFill>
                  <a:srgbClr val="6B7280"/>
                </a:solidFill>
                <a:latin typeface="Calibri" pitchFamily="34" charset="0"/>
                <a:ea typeface="Calibri" pitchFamily="34" charset="-122"/>
                <a:cs typeface="Calibri" pitchFamily="34" charset="-120"/>
              </a:rPr>
              <a:t>To answer this, our Zerodha trading agent needs:</a:t>
            </a:r>
            <a:endParaRPr lang="en-US" sz="1600" dirty="0"/>
          </a:p>
        </p:txBody>
      </p:sp>
      <p:sp>
        <p:nvSpPr>
          <p:cNvPr id="9" name="Shape 7"/>
          <p:cNvSpPr/>
          <p:nvPr/>
        </p:nvSpPr>
        <p:spPr>
          <a:xfrm>
            <a:off x="609600" y="3108960"/>
            <a:ext cx="5120640" cy="426720"/>
          </a:xfrm>
          <a:prstGeom prst="rect">
            <a:avLst/>
          </a:prstGeom>
          <a:solidFill>
            <a:srgbClr val="0F6CBD"/>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0" name="Text 8"/>
          <p:cNvSpPr/>
          <p:nvPr/>
        </p:nvSpPr>
        <p:spPr>
          <a:xfrm>
            <a:off x="609600" y="3108960"/>
            <a:ext cx="512064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RESOURCES  (data to read)</a:t>
            </a:r>
            <a:endParaRPr lang="en-US" sz="1467" dirty="0"/>
          </a:p>
        </p:txBody>
      </p:sp>
      <p:sp>
        <p:nvSpPr>
          <p:cNvPr id="11" name="Shape 9"/>
          <p:cNvSpPr/>
          <p:nvPr/>
        </p:nvSpPr>
        <p:spPr>
          <a:xfrm>
            <a:off x="609600" y="3596640"/>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2" name="Shape 10"/>
          <p:cNvSpPr/>
          <p:nvPr/>
        </p:nvSpPr>
        <p:spPr>
          <a:xfrm>
            <a:off x="609600" y="3596640"/>
            <a:ext cx="73152" cy="512064"/>
          </a:xfrm>
          <a:prstGeom prst="rect">
            <a:avLst/>
          </a:prstGeom>
          <a:solidFill>
            <a:srgbClr val="0F6CBD"/>
          </a:solidFill>
          <a:ln w="12700">
            <a:solidFill>
              <a:srgbClr val="0F6CBD"/>
            </a:solidFill>
            <a:prstDash val="solid"/>
          </a:ln>
        </p:spPr>
        <p:txBody>
          <a:bodyPr/>
          <a:lstStyle/>
          <a:p>
            <a:endParaRPr lang="en-IN" sz="2400"/>
          </a:p>
        </p:txBody>
      </p:sp>
      <p:sp>
        <p:nvSpPr>
          <p:cNvPr id="13" name="Text 11"/>
          <p:cNvSpPr/>
          <p:nvPr/>
        </p:nvSpPr>
        <p:spPr>
          <a:xfrm>
            <a:off x="853440" y="3596640"/>
            <a:ext cx="4693920" cy="512064"/>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R1  Live HDFC Bank price &amp; order book</a:t>
            </a:r>
            <a:endParaRPr lang="en-US" sz="1333" dirty="0"/>
          </a:p>
        </p:txBody>
      </p:sp>
      <p:sp>
        <p:nvSpPr>
          <p:cNvPr id="14" name="Shape 12"/>
          <p:cNvSpPr/>
          <p:nvPr/>
        </p:nvSpPr>
        <p:spPr>
          <a:xfrm>
            <a:off x="609600" y="4181856"/>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5" name="Shape 13"/>
          <p:cNvSpPr/>
          <p:nvPr/>
        </p:nvSpPr>
        <p:spPr>
          <a:xfrm>
            <a:off x="609600" y="4181856"/>
            <a:ext cx="73152" cy="512064"/>
          </a:xfrm>
          <a:prstGeom prst="rect">
            <a:avLst/>
          </a:prstGeom>
          <a:solidFill>
            <a:srgbClr val="0F6CBD"/>
          </a:solidFill>
          <a:ln w="12700">
            <a:solidFill>
              <a:srgbClr val="0F6CBD"/>
            </a:solidFill>
            <a:prstDash val="solid"/>
          </a:ln>
        </p:spPr>
        <p:txBody>
          <a:bodyPr/>
          <a:lstStyle/>
          <a:p>
            <a:endParaRPr lang="en-IN" sz="2400"/>
          </a:p>
        </p:txBody>
      </p:sp>
      <p:sp>
        <p:nvSpPr>
          <p:cNvPr id="16" name="Text 14"/>
          <p:cNvSpPr/>
          <p:nvPr/>
        </p:nvSpPr>
        <p:spPr>
          <a:xfrm>
            <a:off x="853440" y="4181856"/>
            <a:ext cx="4693920" cy="512064"/>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R2  Your portfolio holdings &amp; avg. buy price</a:t>
            </a:r>
            <a:endParaRPr lang="en-US" sz="1333" dirty="0"/>
          </a:p>
        </p:txBody>
      </p:sp>
      <p:sp>
        <p:nvSpPr>
          <p:cNvPr id="17" name="Shape 15"/>
          <p:cNvSpPr/>
          <p:nvPr/>
        </p:nvSpPr>
        <p:spPr>
          <a:xfrm>
            <a:off x="609600" y="4767072"/>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8" name="Shape 16"/>
          <p:cNvSpPr/>
          <p:nvPr/>
        </p:nvSpPr>
        <p:spPr>
          <a:xfrm>
            <a:off x="609600" y="4767072"/>
            <a:ext cx="73152" cy="512064"/>
          </a:xfrm>
          <a:prstGeom prst="rect">
            <a:avLst/>
          </a:prstGeom>
          <a:solidFill>
            <a:srgbClr val="0F6CBD"/>
          </a:solidFill>
          <a:ln w="12700">
            <a:solidFill>
              <a:srgbClr val="0F6CBD"/>
            </a:solidFill>
            <a:prstDash val="solid"/>
          </a:ln>
        </p:spPr>
        <p:txBody>
          <a:bodyPr/>
          <a:lstStyle/>
          <a:p>
            <a:endParaRPr lang="en-IN" sz="2400"/>
          </a:p>
        </p:txBody>
      </p:sp>
      <p:sp>
        <p:nvSpPr>
          <p:cNvPr id="19" name="Text 17"/>
          <p:cNvSpPr/>
          <p:nvPr/>
        </p:nvSpPr>
        <p:spPr>
          <a:xfrm>
            <a:off x="853440" y="4767072"/>
            <a:ext cx="4693920" cy="512064"/>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R3  Latest analyst ratings &amp; target prices</a:t>
            </a:r>
            <a:endParaRPr lang="en-US" sz="1333" dirty="0"/>
          </a:p>
        </p:txBody>
      </p:sp>
      <p:sp>
        <p:nvSpPr>
          <p:cNvPr id="20" name="Shape 18"/>
          <p:cNvSpPr/>
          <p:nvPr/>
        </p:nvSpPr>
        <p:spPr>
          <a:xfrm>
            <a:off x="609600" y="5352288"/>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1" name="Shape 19"/>
          <p:cNvSpPr/>
          <p:nvPr/>
        </p:nvSpPr>
        <p:spPr>
          <a:xfrm>
            <a:off x="609600" y="5352288"/>
            <a:ext cx="73152" cy="512064"/>
          </a:xfrm>
          <a:prstGeom prst="rect">
            <a:avLst/>
          </a:prstGeom>
          <a:solidFill>
            <a:srgbClr val="0F6CBD"/>
          </a:solidFill>
          <a:ln w="12700">
            <a:solidFill>
              <a:srgbClr val="0F6CBD"/>
            </a:solidFill>
            <a:prstDash val="solid"/>
          </a:ln>
        </p:spPr>
        <p:txBody>
          <a:bodyPr/>
          <a:lstStyle/>
          <a:p>
            <a:endParaRPr lang="en-IN" sz="2400"/>
          </a:p>
        </p:txBody>
      </p:sp>
      <p:sp>
        <p:nvSpPr>
          <p:cNvPr id="22" name="Text 20"/>
          <p:cNvSpPr/>
          <p:nvPr/>
        </p:nvSpPr>
        <p:spPr>
          <a:xfrm>
            <a:off x="853440" y="5352288"/>
            <a:ext cx="4693920" cy="512064"/>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R4  Your available cash / margin balance</a:t>
            </a:r>
            <a:endParaRPr lang="en-US" sz="1333" dirty="0"/>
          </a:p>
        </p:txBody>
      </p:sp>
      <p:sp>
        <p:nvSpPr>
          <p:cNvPr id="23" name="Shape 21"/>
          <p:cNvSpPr/>
          <p:nvPr/>
        </p:nvSpPr>
        <p:spPr>
          <a:xfrm>
            <a:off x="6096000" y="3108960"/>
            <a:ext cx="5120640" cy="426720"/>
          </a:xfrm>
          <a:prstGeom prst="rect">
            <a:avLst/>
          </a:prstGeom>
          <a:solidFill>
            <a:srgbClr val="00897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4" name="Text 22"/>
          <p:cNvSpPr/>
          <p:nvPr/>
        </p:nvSpPr>
        <p:spPr>
          <a:xfrm>
            <a:off x="6096000" y="3108960"/>
            <a:ext cx="512064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TOOLS  (actions to take)</a:t>
            </a:r>
            <a:endParaRPr lang="en-US" sz="1467" dirty="0"/>
          </a:p>
        </p:txBody>
      </p:sp>
      <p:sp>
        <p:nvSpPr>
          <p:cNvPr id="25" name="Shape 23"/>
          <p:cNvSpPr/>
          <p:nvPr/>
        </p:nvSpPr>
        <p:spPr>
          <a:xfrm>
            <a:off x="6096000" y="3596640"/>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6" name="Shape 24"/>
          <p:cNvSpPr/>
          <p:nvPr/>
        </p:nvSpPr>
        <p:spPr>
          <a:xfrm>
            <a:off x="6096000" y="3596640"/>
            <a:ext cx="73152" cy="512064"/>
          </a:xfrm>
          <a:prstGeom prst="rect">
            <a:avLst/>
          </a:prstGeom>
          <a:solidFill>
            <a:srgbClr val="00897B"/>
          </a:solidFill>
          <a:ln w="12700">
            <a:solidFill>
              <a:srgbClr val="00897B"/>
            </a:solidFill>
            <a:prstDash val="solid"/>
          </a:ln>
        </p:spPr>
        <p:txBody>
          <a:bodyPr/>
          <a:lstStyle/>
          <a:p>
            <a:endParaRPr lang="en-IN" sz="2400"/>
          </a:p>
        </p:txBody>
      </p:sp>
      <p:sp>
        <p:nvSpPr>
          <p:cNvPr id="27" name="Text 25"/>
          <p:cNvSpPr/>
          <p:nvPr/>
        </p:nvSpPr>
        <p:spPr>
          <a:xfrm>
            <a:off x="6339840" y="3596640"/>
            <a:ext cx="4693920" cy="512064"/>
          </a:xfrm>
          <a:prstGeom prst="rect">
            <a:avLst/>
          </a:prstGeom>
          <a:noFill/>
          <a:ln/>
        </p:spPr>
        <p:txBody>
          <a:bodyPr wrap="square" lIns="0" tIns="0" rIns="0" bIns="0" rtlCol="0" anchor="ctr"/>
          <a:lstStyle/>
          <a:p>
            <a:r>
              <a:rPr lang="en-US" sz="1333" dirty="0">
                <a:solidFill>
                  <a:srgbClr val="1A1A2E"/>
                </a:solidFill>
                <a:latin typeface="Consolas" pitchFamily="34" charset="0"/>
                <a:ea typeface="Consolas" pitchFamily="34" charset="-122"/>
                <a:cs typeface="Consolas" pitchFamily="34" charset="-120"/>
              </a:rPr>
              <a:t>T1  place_order(ticker, qty, price)</a:t>
            </a:r>
            <a:endParaRPr lang="en-US" sz="1333" dirty="0"/>
          </a:p>
        </p:txBody>
      </p:sp>
      <p:sp>
        <p:nvSpPr>
          <p:cNvPr id="28" name="Shape 26"/>
          <p:cNvSpPr/>
          <p:nvPr/>
        </p:nvSpPr>
        <p:spPr>
          <a:xfrm>
            <a:off x="6096000" y="4181856"/>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9" name="Shape 27"/>
          <p:cNvSpPr/>
          <p:nvPr/>
        </p:nvSpPr>
        <p:spPr>
          <a:xfrm>
            <a:off x="6096000" y="4181856"/>
            <a:ext cx="73152" cy="512064"/>
          </a:xfrm>
          <a:prstGeom prst="rect">
            <a:avLst/>
          </a:prstGeom>
          <a:solidFill>
            <a:srgbClr val="00897B"/>
          </a:solidFill>
          <a:ln w="12700">
            <a:solidFill>
              <a:srgbClr val="00897B"/>
            </a:solidFill>
            <a:prstDash val="solid"/>
          </a:ln>
        </p:spPr>
        <p:txBody>
          <a:bodyPr/>
          <a:lstStyle/>
          <a:p>
            <a:endParaRPr lang="en-IN" sz="2400"/>
          </a:p>
        </p:txBody>
      </p:sp>
      <p:sp>
        <p:nvSpPr>
          <p:cNvPr id="30" name="Text 28"/>
          <p:cNvSpPr/>
          <p:nvPr/>
        </p:nvSpPr>
        <p:spPr>
          <a:xfrm>
            <a:off x="6339840" y="4181856"/>
            <a:ext cx="4693920" cy="512064"/>
          </a:xfrm>
          <a:prstGeom prst="rect">
            <a:avLst/>
          </a:prstGeom>
          <a:noFill/>
          <a:ln/>
        </p:spPr>
        <p:txBody>
          <a:bodyPr wrap="square" lIns="0" tIns="0" rIns="0" bIns="0" rtlCol="0" anchor="ctr"/>
          <a:lstStyle/>
          <a:p>
            <a:r>
              <a:rPr lang="en-US" sz="1333" dirty="0">
                <a:solidFill>
                  <a:srgbClr val="1A1A2E"/>
                </a:solidFill>
                <a:latin typeface="Consolas" pitchFamily="34" charset="0"/>
                <a:ea typeface="Consolas" pitchFamily="34" charset="-122"/>
                <a:cs typeface="Consolas" pitchFamily="34" charset="-120"/>
              </a:rPr>
              <a:t>T2  set_stop_loss(order_id, trigger)</a:t>
            </a:r>
            <a:endParaRPr lang="en-US" sz="1333" dirty="0"/>
          </a:p>
        </p:txBody>
      </p:sp>
      <p:sp>
        <p:nvSpPr>
          <p:cNvPr id="31" name="Shape 29"/>
          <p:cNvSpPr/>
          <p:nvPr/>
        </p:nvSpPr>
        <p:spPr>
          <a:xfrm>
            <a:off x="6096000" y="4767072"/>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32" name="Shape 30"/>
          <p:cNvSpPr/>
          <p:nvPr/>
        </p:nvSpPr>
        <p:spPr>
          <a:xfrm>
            <a:off x="6096000" y="4767072"/>
            <a:ext cx="73152" cy="512064"/>
          </a:xfrm>
          <a:prstGeom prst="rect">
            <a:avLst/>
          </a:prstGeom>
          <a:solidFill>
            <a:srgbClr val="00897B"/>
          </a:solidFill>
          <a:ln w="12700">
            <a:solidFill>
              <a:srgbClr val="00897B"/>
            </a:solidFill>
            <a:prstDash val="solid"/>
          </a:ln>
        </p:spPr>
        <p:txBody>
          <a:bodyPr/>
          <a:lstStyle/>
          <a:p>
            <a:endParaRPr lang="en-IN" sz="2400"/>
          </a:p>
        </p:txBody>
      </p:sp>
      <p:sp>
        <p:nvSpPr>
          <p:cNvPr id="33" name="Text 31"/>
          <p:cNvSpPr/>
          <p:nvPr/>
        </p:nvSpPr>
        <p:spPr>
          <a:xfrm>
            <a:off x="6339840" y="4767072"/>
            <a:ext cx="4693920" cy="512064"/>
          </a:xfrm>
          <a:prstGeom prst="rect">
            <a:avLst/>
          </a:prstGeom>
          <a:noFill/>
          <a:ln/>
        </p:spPr>
        <p:txBody>
          <a:bodyPr wrap="square" lIns="0" tIns="0" rIns="0" bIns="0" rtlCol="0" anchor="ctr"/>
          <a:lstStyle/>
          <a:p>
            <a:r>
              <a:rPr lang="en-US" sz="1333" dirty="0">
                <a:solidFill>
                  <a:srgbClr val="1A1A2E"/>
                </a:solidFill>
                <a:latin typeface="Consolas" pitchFamily="34" charset="0"/>
                <a:ea typeface="Consolas" pitchFamily="34" charset="-122"/>
                <a:cs typeface="Consolas" pitchFamily="34" charset="-120"/>
              </a:rPr>
              <a:t>T3  log_trade_rationale(text)</a:t>
            </a:r>
            <a:endParaRPr lang="en-US" sz="1333" dirty="0"/>
          </a:p>
        </p:txBody>
      </p:sp>
      <p:sp>
        <p:nvSpPr>
          <p:cNvPr id="34" name="Shape 32"/>
          <p:cNvSpPr/>
          <p:nvPr/>
        </p:nvSpPr>
        <p:spPr>
          <a:xfrm>
            <a:off x="6096000" y="5352288"/>
            <a:ext cx="5120640" cy="512064"/>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35" name="Shape 33"/>
          <p:cNvSpPr/>
          <p:nvPr/>
        </p:nvSpPr>
        <p:spPr>
          <a:xfrm>
            <a:off x="6096000" y="5352288"/>
            <a:ext cx="73152" cy="512064"/>
          </a:xfrm>
          <a:prstGeom prst="rect">
            <a:avLst/>
          </a:prstGeom>
          <a:solidFill>
            <a:srgbClr val="00897B"/>
          </a:solidFill>
          <a:ln w="12700">
            <a:solidFill>
              <a:srgbClr val="00897B"/>
            </a:solidFill>
            <a:prstDash val="solid"/>
          </a:ln>
        </p:spPr>
        <p:txBody>
          <a:bodyPr/>
          <a:lstStyle/>
          <a:p>
            <a:endParaRPr lang="en-IN" sz="2400"/>
          </a:p>
        </p:txBody>
      </p:sp>
      <p:sp>
        <p:nvSpPr>
          <p:cNvPr id="36" name="Text 34"/>
          <p:cNvSpPr/>
          <p:nvPr/>
        </p:nvSpPr>
        <p:spPr>
          <a:xfrm>
            <a:off x="6339840" y="5352288"/>
            <a:ext cx="4693920" cy="512064"/>
          </a:xfrm>
          <a:prstGeom prst="rect">
            <a:avLst/>
          </a:prstGeom>
          <a:noFill/>
          <a:ln/>
        </p:spPr>
        <p:txBody>
          <a:bodyPr wrap="square" lIns="0" tIns="0" rIns="0" bIns="0" rtlCol="0" anchor="ctr"/>
          <a:lstStyle/>
          <a:p>
            <a:r>
              <a:rPr lang="en-US" sz="1333" dirty="0">
                <a:solidFill>
                  <a:srgbClr val="1A1A2E"/>
                </a:solidFill>
                <a:latin typeface="Consolas" pitchFamily="34" charset="0"/>
                <a:ea typeface="Consolas" pitchFamily="34" charset="-122"/>
                <a:cs typeface="Consolas" pitchFamily="34" charset="-120"/>
              </a:rPr>
              <a:t>T4  send_notification(channel, msg)</a:t>
            </a:r>
            <a:endParaRPr lang="en-US" sz="133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90144"/>
            <a:ext cx="10972800" cy="877824"/>
          </a:xfrm>
          <a:prstGeom prst="rect">
            <a:avLst/>
          </a:prstGeom>
          <a:noFill/>
          <a:ln/>
        </p:spPr>
        <p:txBody>
          <a:bodyPr wrap="square" lIns="0" tIns="0" rIns="0" bIns="0" rtlCol="0" anchor="ctr"/>
          <a:lstStyle/>
          <a:p>
            <a:r>
              <a:rPr lang="en-US" sz="2933" b="1" dirty="0">
                <a:solidFill>
                  <a:srgbClr val="1A1A2E"/>
                </a:solidFill>
                <a:latin typeface="Calibri" pitchFamily="34" charset="0"/>
                <a:ea typeface="Calibri" pitchFamily="34" charset="-122"/>
                <a:cs typeface="Calibri" pitchFamily="34" charset="-120"/>
              </a:rPr>
              <a:t>Step 1 — Capability Discovery  (1/2: What the Server Returns)</a:t>
            </a:r>
            <a:endParaRPr lang="en-US" sz="29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10972800" cy="341376"/>
          </a:xfrm>
          <a:prstGeom prst="rect">
            <a:avLst/>
          </a:prstGeom>
          <a:noFill/>
          <a:ln/>
        </p:spPr>
        <p:txBody>
          <a:bodyPr wrap="square" lIns="0" tIns="0" rIns="0" bIns="0" rtlCol="0" anchor="ctr"/>
          <a:lstStyle/>
          <a:p>
            <a:r>
              <a:rPr lang="en-US" sz="1467" i="1" dirty="0">
                <a:solidFill>
                  <a:srgbClr val="6B7280"/>
                </a:solidFill>
                <a:latin typeface="Calibri" pitchFamily="34" charset="0"/>
                <a:ea typeface="Calibri" pitchFamily="34" charset="-122"/>
                <a:cs typeface="Calibri" pitchFamily="34" charset="-120"/>
              </a:rPr>
              <a:t>The agent's first move: ask the MCP server what it can do</a:t>
            </a:r>
            <a:endParaRPr lang="en-US" sz="1467" dirty="0"/>
          </a:p>
        </p:txBody>
      </p:sp>
      <p:sp>
        <p:nvSpPr>
          <p:cNvPr id="7" name="Shape 5"/>
          <p:cNvSpPr/>
          <p:nvPr/>
        </p:nvSpPr>
        <p:spPr>
          <a:xfrm>
            <a:off x="609600" y="1889760"/>
            <a:ext cx="2438400" cy="877824"/>
          </a:xfrm>
          <a:prstGeom prst="rect">
            <a:avLst/>
          </a:prstGeom>
          <a:solidFill>
            <a:srgbClr val="2D3561"/>
          </a:solidFill>
          <a:ln w="12700">
            <a:solidFill>
              <a:srgbClr val="2D3561"/>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Text 6"/>
          <p:cNvSpPr/>
          <p:nvPr/>
        </p:nvSpPr>
        <p:spPr>
          <a:xfrm>
            <a:off x="609600" y="1889760"/>
            <a:ext cx="2438400" cy="87782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Your</a:t>
            </a:r>
            <a:endParaRPr lang="en-US" sz="1733" dirty="0"/>
          </a:p>
          <a:p>
            <a:pPr algn="ctr"/>
            <a:r>
              <a:rPr lang="en-US" sz="1733" b="1" dirty="0">
                <a:solidFill>
                  <a:srgbClr val="FFFFFF"/>
                </a:solidFill>
                <a:latin typeface="Calibri" pitchFamily="34" charset="0"/>
                <a:ea typeface="Calibri" pitchFamily="34" charset="-122"/>
                <a:cs typeface="Calibri" pitchFamily="34" charset="-120"/>
              </a:rPr>
              <a:t>Agent</a:t>
            </a:r>
            <a:endParaRPr lang="en-US" sz="1733" dirty="0"/>
          </a:p>
        </p:txBody>
      </p:sp>
      <p:sp>
        <p:nvSpPr>
          <p:cNvPr id="9" name="Text 7"/>
          <p:cNvSpPr/>
          <p:nvPr/>
        </p:nvSpPr>
        <p:spPr>
          <a:xfrm>
            <a:off x="3169920" y="2097024"/>
            <a:ext cx="5120640" cy="341376"/>
          </a:xfrm>
          <a:prstGeom prst="rect">
            <a:avLst/>
          </a:prstGeom>
          <a:noFill/>
          <a:ln/>
        </p:spPr>
        <p:txBody>
          <a:bodyPr wrap="square" lIns="0" tIns="0" rIns="0" bIns="0" rtlCol="0" anchor="ctr"/>
          <a:lstStyle/>
          <a:p>
            <a:r>
              <a:rPr lang="en-US" sz="1333" dirty="0">
                <a:solidFill>
                  <a:srgbClr val="6B7280"/>
                </a:solidFill>
                <a:latin typeface="Consolas" pitchFamily="34" charset="0"/>
                <a:ea typeface="Consolas" pitchFamily="34" charset="-122"/>
                <a:cs typeface="Consolas" pitchFamily="34" charset="-120"/>
              </a:rPr>
              <a:t>GET /capabilities  ─────────────────▶</a:t>
            </a:r>
            <a:endParaRPr lang="en-US" sz="1333" dirty="0"/>
          </a:p>
        </p:txBody>
      </p:sp>
      <p:sp>
        <p:nvSpPr>
          <p:cNvPr id="10" name="Text 8"/>
          <p:cNvSpPr/>
          <p:nvPr/>
        </p:nvSpPr>
        <p:spPr>
          <a:xfrm>
            <a:off x="3169920" y="2438400"/>
            <a:ext cx="5120640" cy="341376"/>
          </a:xfrm>
          <a:prstGeom prst="rect">
            <a:avLst/>
          </a:prstGeom>
          <a:noFill/>
          <a:ln/>
        </p:spPr>
        <p:txBody>
          <a:bodyPr wrap="square" lIns="0" tIns="0" rIns="0" bIns="0" rtlCol="0" anchor="ctr"/>
          <a:lstStyle/>
          <a:p>
            <a:r>
              <a:rPr lang="en-US" sz="1333" dirty="0">
                <a:solidFill>
                  <a:srgbClr val="00897B"/>
                </a:solidFill>
                <a:latin typeface="Consolas" pitchFamily="34" charset="0"/>
                <a:ea typeface="Consolas" pitchFamily="34" charset="-122"/>
                <a:cs typeface="Consolas" pitchFamily="34" charset="-120"/>
              </a:rPr>
              <a:t>◀─────────────────  capabilities JSON</a:t>
            </a:r>
            <a:endParaRPr lang="en-US" sz="1333" dirty="0"/>
          </a:p>
        </p:txBody>
      </p:sp>
      <p:sp>
        <p:nvSpPr>
          <p:cNvPr id="11" name="Shape 9"/>
          <p:cNvSpPr/>
          <p:nvPr/>
        </p:nvSpPr>
        <p:spPr>
          <a:xfrm>
            <a:off x="8534400" y="1889760"/>
            <a:ext cx="2926080" cy="877824"/>
          </a:xfrm>
          <a:prstGeom prst="rect">
            <a:avLst/>
          </a:prstGeom>
          <a:solidFill>
            <a:srgbClr val="00897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2" name="Text 10"/>
          <p:cNvSpPr/>
          <p:nvPr/>
        </p:nvSpPr>
        <p:spPr>
          <a:xfrm>
            <a:off x="8534400" y="1889760"/>
            <a:ext cx="2926080" cy="87782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MCP Server</a:t>
            </a:r>
            <a:endParaRPr lang="en-US" sz="1733" dirty="0"/>
          </a:p>
          <a:p>
            <a:pPr algn="ctr"/>
            <a:r>
              <a:rPr lang="en-US" sz="1733" b="1" dirty="0">
                <a:solidFill>
                  <a:srgbClr val="FFFFFF"/>
                </a:solidFill>
                <a:latin typeface="Calibri" pitchFamily="34" charset="0"/>
                <a:ea typeface="Calibri" pitchFamily="34" charset="-122"/>
                <a:cs typeface="Calibri" pitchFamily="34" charset="-120"/>
              </a:rPr>
              <a:t>(Zerodha)</a:t>
            </a:r>
            <a:endParaRPr lang="en-US" sz="1733" dirty="0"/>
          </a:p>
        </p:txBody>
      </p:sp>
      <p:sp>
        <p:nvSpPr>
          <p:cNvPr id="13" name="Shape 11"/>
          <p:cNvSpPr/>
          <p:nvPr/>
        </p:nvSpPr>
        <p:spPr>
          <a:xfrm>
            <a:off x="609600" y="2950464"/>
            <a:ext cx="10972800" cy="3316224"/>
          </a:xfrm>
          <a:prstGeom prst="rect">
            <a:avLst/>
          </a:prstGeom>
          <a:solidFill>
            <a:srgbClr val="1E293B"/>
          </a:solidFill>
          <a:ln w="12700">
            <a:solidFill>
              <a:srgbClr val="374151"/>
            </a:solidFill>
            <a:prstDash val="solid"/>
          </a:ln>
          <a:effectLst>
            <a:outerShdw blurRad="76200" dist="25400" dir="8100000" algn="bl" rotWithShape="0">
              <a:srgbClr val="000000">
                <a:alpha val="15000"/>
              </a:srgbClr>
            </a:outerShdw>
          </a:effectLst>
        </p:spPr>
        <p:txBody>
          <a:bodyPr/>
          <a:lstStyle/>
          <a:p>
            <a:endParaRPr lang="en-IN" sz="2400"/>
          </a:p>
        </p:txBody>
      </p:sp>
      <p:sp>
        <p:nvSpPr>
          <p:cNvPr id="14" name="Text 12"/>
          <p:cNvSpPr/>
          <p:nvPr/>
        </p:nvSpPr>
        <p:spPr>
          <a:xfrm>
            <a:off x="792480" y="3072384"/>
            <a:ext cx="10607040" cy="3072384"/>
          </a:xfrm>
          <a:prstGeom prst="rect">
            <a:avLst/>
          </a:prstGeom>
          <a:noFill/>
          <a:ln/>
        </p:spPr>
        <p:txBody>
          <a:bodyPr wrap="square" lIns="0" tIns="0" rIns="0" bIns="0" rtlCol="0" anchor="t"/>
          <a:lstStyle/>
          <a:p>
            <a:r>
              <a:rPr lang="en-US" sz="1267" dirty="0">
                <a:solidFill>
                  <a:srgbClr val="E2E8F0"/>
                </a:solidFill>
                <a:latin typeface="Consolas" pitchFamily="34" charset="0"/>
                <a:ea typeface="Consolas" pitchFamily="34" charset="-122"/>
                <a:cs typeface="Consolas" pitchFamily="34" charset="-120"/>
              </a:rPr>
              <a:t>{</a:t>
            </a:r>
            <a:endParaRPr lang="en-US" sz="1267" dirty="0"/>
          </a:p>
          <a:p>
            <a:r>
              <a:rPr lang="en-US" sz="1267" dirty="0">
                <a:solidFill>
                  <a:srgbClr val="E2E8F0"/>
                </a:solidFill>
                <a:latin typeface="Consolas" pitchFamily="34" charset="0"/>
                <a:ea typeface="Consolas" pitchFamily="34" charset="-122"/>
                <a:cs typeface="Consolas" pitchFamily="34" charset="-120"/>
              </a:rPr>
              <a:t>  "tools": [</a:t>
            </a:r>
            <a:endParaRPr lang="en-US" sz="1267" dirty="0"/>
          </a:p>
          <a:p>
            <a:r>
              <a:rPr lang="en-US" sz="1267" dirty="0">
                <a:solidFill>
                  <a:srgbClr val="E2E8F0"/>
                </a:solidFill>
                <a:latin typeface="Consolas" pitchFamily="34" charset="0"/>
                <a:ea typeface="Consolas" pitchFamily="34" charset="-122"/>
                <a:cs typeface="Consolas" pitchFamily="34" charset="-120"/>
              </a:rPr>
              <a:t>    { "name": "place_order",       "description": "Place a buy/sell order on NSE/BSE" },</a:t>
            </a:r>
            <a:endParaRPr lang="en-US" sz="1267" dirty="0"/>
          </a:p>
          <a:p>
            <a:r>
              <a:rPr lang="en-US" sz="1267" dirty="0">
                <a:solidFill>
                  <a:srgbClr val="E2E8F0"/>
                </a:solidFill>
                <a:latin typeface="Consolas" pitchFamily="34" charset="0"/>
                <a:ea typeface="Consolas" pitchFamily="34" charset="-122"/>
                <a:cs typeface="Consolas" pitchFamily="34" charset="-120"/>
              </a:rPr>
              <a:t>    { "name": "set_stop_loss",     "description": "Set a stop-loss trigger on an order" },</a:t>
            </a:r>
            <a:endParaRPr lang="en-US" sz="1267" dirty="0"/>
          </a:p>
          <a:p>
            <a:r>
              <a:rPr lang="en-US" sz="1267" dirty="0">
                <a:solidFill>
                  <a:srgbClr val="E2E8F0"/>
                </a:solidFill>
                <a:latin typeface="Consolas" pitchFamily="34" charset="0"/>
                <a:ea typeface="Consolas" pitchFamily="34" charset="-122"/>
                <a:cs typeface="Consolas" pitchFamily="34" charset="-120"/>
              </a:rPr>
              <a:t>    { "name": "send_notification", "description": "Send a trade alert to the user" }</a:t>
            </a:r>
            <a:endParaRPr lang="en-US" sz="1267" dirty="0"/>
          </a:p>
          <a:p>
            <a:r>
              <a:rPr lang="en-US" sz="1267" dirty="0">
                <a:solidFill>
                  <a:srgbClr val="E2E8F0"/>
                </a:solidFill>
                <a:latin typeface="Consolas" pitchFamily="34" charset="0"/>
                <a:ea typeface="Consolas" pitchFamily="34" charset="-122"/>
                <a:cs typeface="Consolas" pitchFamily="34" charset="-120"/>
              </a:rPr>
              <a:t>  ],</a:t>
            </a:r>
            <a:endParaRPr lang="en-US" sz="1267" dirty="0"/>
          </a:p>
          <a:p>
            <a:r>
              <a:rPr lang="en-US" sz="1267" dirty="0">
                <a:solidFill>
                  <a:srgbClr val="E2E8F0"/>
                </a:solidFill>
                <a:latin typeface="Consolas" pitchFamily="34" charset="0"/>
                <a:ea typeface="Consolas" pitchFamily="34" charset="-122"/>
                <a:cs typeface="Consolas" pitchFamily="34" charset="-120"/>
              </a:rPr>
              <a:t>  "resources": [</a:t>
            </a:r>
            <a:endParaRPr lang="en-US" sz="1267" dirty="0"/>
          </a:p>
          <a:p>
            <a:r>
              <a:rPr lang="en-US" sz="1267" dirty="0">
                <a:solidFill>
                  <a:srgbClr val="E2E8F0"/>
                </a:solidFill>
                <a:latin typeface="Consolas" pitchFamily="34" charset="0"/>
                <a:ea typeface="Consolas" pitchFamily="34" charset="-122"/>
                <a:cs typeface="Consolas" pitchFamily="34" charset="-120"/>
              </a:rPr>
              <a:t>    { "uri": "zerodha://portfolio",  "description": "Current holdings and avg. buy prices" },</a:t>
            </a:r>
            <a:endParaRPr lang="en-US" sz="1267" dirty="0"/>
          </a:p>
          <a:p>
            <a:r>
              <a:rPr lang="en-US" sz="1267" dirty="0">
                <a:solidFill>
                  <a:srgbClr val="E2E8F0"/>
                </a:solidFill>
                <a:latin typeface="Consolas" pitchFamily="34" charset="0"/>
                <a:ea typeface="Consolas" pitchFamily="34" charset="-122"/>
                <a:cs typeface="Consolas" pitchFamily="34" charset="-120"/>
              </a:rPr>
              <a:t>    { "uri": "zerodha://marketdata", "description": "Live prices, order book, depth" },</a:t>
            </a:r>
            <a:endParaRPr lang="en-US" sz="1267" dirty="0"/>
          </a:p>
          <a:p>
            <a:r>
              <a:rPr lang="en-US" sz="1267" dirty="0">
                <a:solidFill>
                  <a:srgbClr val="E2E8F0"/>
                </a:solidFill>
                <a:latin typeface="Consolas" pitchFamily="34" charset="0"/>
                <a:ea typeface="Consolas" pitchFamily="34" charset="-122"/>
                <a:cs typeface="Consolas" pitchFamily="34" charset="-120"/>
              </a:rPr>
              <a:t>    { "uri": "zerodha://margin",     "description": "Available cash and margin balance" }</a:t>
            </a:r>
            <a:endParaRPr lang="en-US" sz="1267" dirty="0"/>
          </a:p>
          <a:p>
            <a:r>
              <a:rPr lang="en-US" sz="1267" dirty="0">
                <a:solidFill>
                  <a:srgbClr val="E2E8F0"/>
                </a:solidFill>
                <a:latin typeface="Consolas" pitchFamily="34" charset="0"/>
                <a:ea typeface="Consolas" pitchFamily="34" charset="-122"/>
                <a:cs typeface="Consolas" pitchFamily="34" charset="-120"/>
              </a:rPr>
              <a:t>  ]</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90144"/>
            <a:ext cx="10972800" cy="877824"/>
          </a:xfrm>
          <a:prstGeom prst="rect">
            <a:avLst/>
          </a:prstGeom>
          <a:noFill/>
          <a:ln/>
        </p:spPr>
        <p:txBody>
          <a:bodyPr wrap="square" lIns="0" tIns="0" rIns="0" bIns="0" rtlCol="0" anchor="ctr"/>
          <a:lstStyle/>
          <a:p>
            <a:r>
              <a:rPr lang="en-US" sz="2933" b="1" dirty="0">
                <a:solidFill>
                  <a:srgbClr val="1A1A2E"/>
                </a:solidFill>
                <a:latin typeface="Calibri" pitchFamily="34" charset="0"/>
                <a:ea typeface="Calibri" pitchFamily="34" charset="-122"/>
                <a:cs typeface="Calibri" pitchFamily="34" charset="-120"/>
              </a:rPr>
              <a:t>Step 1 — Capability Discovery  (2/2: What It Means for Your Agent)</a:t>
            </a:r>
            <a:endParaRPr lang="en-US" sz="29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10972800" cy="341376"/>
          </a:xfrm>
          <a:prstGeom prst="rect">
            <a:avLst/>
          </a:prstGeom>
          <a:noFill/>
          <a:ln/>
        </p:spPr>
        <p:txBody>
          <a:bodyPr wrap="square" lIns="0" tIns="0" rIns="0" bIns="0" rtlCol="0" anchor="ctr"/>
          <a:lstStyle/>
          <a:p>
            <a:r>
              <a:rPr lang="en-US" sz="1467" i="1" dirty="0">
                <a:solidFill>
                  <a:srgbClr val="6B7280"/>
                </a:solidFill>
                <a:latin typeface="Calibri" pitchFamily="34" charset="0"/>
                <a:ea typeface="Calibri" pitchFamily="34" charset="-122"/>
                <a:cs typeface="Calibri" pitchFamily="34" charset="-120"/>
              </a:rPr>
              <a:t>The JSON goes to your agent code — not to the LLM. Here's what that means:</a:t>
            </a:r>
            <a:endParaRPr lang="en-US" sz="1467" dirty="0"/>
          </a:p>
        </p:txBody>
      </p:sp>
      <p:sp>
        <p:nvSpPr>
          <p:cNvPr id="7" name="Shape 5"/>
          <p:cNvSpPr/>
          <p:nvPr/>
        </p:nvSpPr>
        <p:spPr>
          <a:xfrm>
            <a:off x="609600" y="1926336"/>
            <a:ext cx="10972800" cy="1365504"/>
          </a:xfrm>
          <a:prstGeom prst="rect">
            <a:avLst/>
          </a:prstGeom>
          <a:solidFill>
            <a:srgbClr val="FFFFFF"/>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Shape 6"/>
          <p:cNvSpPr/>
          <p:nvPr/>
        </p:nvSpPr>
        <p:spPr>
          <a:xfrm>
            <a:off x="609600" y="1926336"/>
            <a:ext cx="73152" cy="1365504"/>
          </a:xfrm>
          <a:prstGeom prst="rect">
            <a:avLst/>
          </a:prstGeom>
          <a:solidFill>
            <a:srgbClr val="0F6CBD"/>
          </a:solidFill>
          <a:ln w="12700">
            <a:solidFill>
              <a:srgbClr val="0F6CBD"/>
            </a:solidFill>
            <a:prstDash val="solid"/>
          </a:ln>
        </p:spPr>
        <p:txBody>
          <a:bodyPr/>
          <a:lstStyle/>
          <a:p>
            <a:endParaRPr lang="en-IN" sz="2400"/>
          </a:p>
        </p:txBody>
      </p:sp>
      <p:sp>
        <p:nvSpPr>
          <p:cNvPr id="9" name="Text 7"/>
          <p:cNvSpPr/>
          <p:nvPr/>
        </p:nvSpPr>
        <p:spPr>
          <a:xfrm>
            <a:off x="877824" y="2048256"/>
            <a:ext cx="10485120" cy="390144"/>
          </a:xfrm>
          <a:prstGeom prst="rect">
            <a:avLst/>
          </a:prstGeom>
          <a:noFill/>
          <a:ln/>
        </p:spPr>
        <p:txBody>
          <a:bodyPr wrap="square" lIns="0" tIns="0" rIns="0" bIns="0" rtlCol="0" anchor="ctr"/>
          <a:lstStyle/>
          <a:p>
            <a:r>
              <a:rPr lang="en-US" sz="1600" b="1" dirty="0">
                <a:solidFill>
                  <a:srgbClr val="0F6CBD"/>
                </a:solidFill>
                <a:latin typeface="Calibri" pitchFamily="34" charset="0"/>
                <a:ea typeface="Calibri" pitchFamily="34" charset="-122"/>
                <a:cs typeface="Calibri" pitchFamily="34" charset="-120"/>
              </a:rPr>
              <a:t>🔍  Runtime discovery — not build-time hardcoding</a:t>
            </a:r>
            <a:endParaRPr lang="en-US" sz="1600" dirty="0"/>
          </a:p>
        </p:txBody>
      </p:sp>
      <p:sp>
        <p:nvSpPr>
          <p:cNvPr id="10" name="Text 8"/>
          <p:cNvSpPr/>
          <p:nvPr/>
        </p:nvSpPr>
        <p:spPr>
          <a:xfrm>
            <a:off x="877824" y="2462784"/>
            <a:ext cx="10485120" cy="755904"/>
          </a:xfrm>
          <a:prstGeom prst="rect">
            <a:avLst/>
          </a:prstGeom>
          <a:noFill/>
          <a:ln/>
        </p:spPr>
        <p:txBody>
          <a:bodyPr wrap="square" lIns="0" tIns="0" rIns="0" bIns="0" rtlCol="0" anchor="t"/>
          <a:lstStyle/>
          <a:p>
            <a:r>
              <a:rPr lang="en-US" sz="1400" dirty="0">
                <a:solidFill>
                  <a:srgbClr val="1A1A2E"/>
                </a:solidFill>
                <a:latin typeface="Calibri" pitchFamily="34" charset="0"/>
                <a:ea typeface="Calibri" pitchFamily="34" charset="-122"/>
                <a:cs typeface="Calibri" pitchFamily="34" charset="-120"/>
              </a:rPr>
              <a:t>The agent asks at runtime, not at deploy time. Add a new tool to the MCP server tonight — every agent that calls get_capabilities() tomorrow will know about it. No code changes, no redeployment.</a:t>
            </a:r>
            <a:endParaRPr lang="en-US" sz="1400" dirty="0"/>
          </a:p>
        </p:txBody>
      </p:sp>
      <p:sp>
        <p:nvSpPr>
          <p:cNvPr id="11" name="Shape 9"/>
          <p:cNvSpPr/>
          <p:nvPr/>
        </p:nvSpPr>
        <p:spPr>
          <a:xfrm>
            <a:off x="609600" y="3389376"/>
            <a:ext cx="10972800" cy="1365504"/>
          </a:xfrm>
          <a:prstGeom prst="rect">
            <a:avLst/>
          </a:prstGeom>
          <a:solidFill>
            <a:srgbClr val="FFFFFF"/>
          </a:solidFill>
          <a:ln w="12700">
            <a:solidFill>
              <a:srgbClr val="C0392B"/>
            </a:solidFill>
            <a:prstDash val="solid"/>
          </a:ln>
          <a:effectLst>
            <a:outerShdw blurRad="50800" dist="12700" dir="8100000" algn="bl" rotWithShape="0">
              <a:srgbClr val="000000">
                <a:alpha val="7000"/>
              </a:srgbClr>
            </a:outerShdw>
          </a:effectLst>
        </p:spPr>
        <p:txBody>
          <a:bodyPr/>
          <a:lstStyle/>
          <a:p>
            <a:endParaRPr lang="en-IN" sz="2400"/>
          </a:p>
        </p:txBody>
      </p:sp>
      <p:sp>
        <p:nvSpPr>
          <p:cNvPr id="12" name="Shape 10"/>
          <p:cNvSpPr/>
          <p:nvPr/>
        </p:nvSpPr>
        <p:spPr>
          <a:xfrm>
            <a:off x="609600" y="3389376"/>
            <a:ext cx="73152" cy="1365504"/>
          </a:xfrm>
          <a:prstGeom prst="rect">
            <a:avLst/>
          </a:prstGeom>
          <a:solidFill>
            <a:srgbClr val="C0392B"/>
          </a:solidFill>
          <a:ln w="12700">
            <a:solidFill>
              <a:srgbClr val="C0392B"/>
            </a:solidFill>
            <a:prstDash val="solid"/>
          </a:ln>
        </p:spPr>
        <p:txBody>
          <a:bodyPr/>
          <a:lstStyle/>
          <a:p>
            <a:endParaRPr lang="en-IN" sz="2400"/>
          </a:p>
        </p:txBody>
      </p:sp>
      <p:sp>
        <p:nvSpPr>
          <p:cNvPr id="13" name="Text 11"/>
          <p:cNvSpPr/>
          <p:nvPr/>
        </p:nvSpPr>
        <p:spPr>
          <a:xfrm>
            <a:off x="877824" y="3511296"/>
            <a:ext cx="10485120" cy="390144"/>
          </a:xfrm>
          <a:prstGeom prst="rect">
            <a:avLst/>
          </a:prstGeom>
          <a:noFill/>
          <a:ln/>
        </p:spPr>
        <p:txBody>
          <a:bodyPr wrap="square" lIns="0" tIns="0" rIns="0" bIns="0" rtlCol="0" anchor="ctr"/>
          <a:lstStyle/>
          <a:p>
            <a:r>
              <a:rPr lang="en-US" sz="1600" b="1" dirty="0">
                <a:solidFill>
                  <a:srgbClr val="C0392B"/>
                </a:solidFill>
                <a:latin typeface="Calibri" pitchFamily="34" charset="0"/>
                <a:ea typeface="Calibri" pitchFamily="34" charset="-122"/>
                <a:cs typeface="Calibri" pitchFamily="34" charset="-120"/>
              </a:rPr>
              <a:t>⚠  The LLM does not receive this JSON directly</a:t>
            </a:r>
            <a:endParaRPr lang="en-US" sz="1600" dirty="0"/>
          </a:p>
        </p:txBody>
      </p:sp>
      <p:sp>
        <p:nvSpPr>
          <p:cNvPr id="14" name="Text 12"/>
          <p:cNvSpPr/>
          <p:nvPr/>
        </p:nvSpPr>
        <p:spPr>
          <a:xfrm>
            <a:off x="877824" y="3925824"/>
            <a:ext cx="10485120" cy="755904"/>
          </a:xfrm>
          <a:prstGeom prst="rect">
            <a:avLst/>
          </a:prstGeom>
          <a:noFill/>
          <a:ln/>
        </p:spPr>
        <p:txBody>
          <a:bodyPr wrap="square" lIns="0" tIns="0" rIns="0" bIns="0" rtlCol="0" anchor="t"/>
          <a:lstStyle/>
          <a:p>
            <a:r>
              <a:rPr lang="en-US" sz="1400" dirty="0">
                <a:solidFill>
                  <a:srgbClr val="1A1A2E"/>
                </a:solidFill>
                <a:latin typeface="Calibri" pitchFamily="34" charset="0"/>
                <a:ea typeface="Calibri" pitchFamily="34" charset="-122"/>
                <a:cs typeface="Calibri" pitchFamily="34" charset="-120"/>
              </a:rPr>
              <a:t>The JSON lands in your agent code. Agent code must reformat it into readable text and inject it into the system prompt. The LLM only ever sees text — it has no idea MCP exists. ( We will see this action in code shortly)</a:t>
            </a:r>
            <a:endParaRPr lang="en-US" sz="1400" dirty="0"/>
          </a:p>
        </p:txBody>
      </p:sp>
      <p:sp>
        <p:nvSpPr>
          <p:cNvPr id="15" name="Shape 13"/>
          <p:cNvSpPr/>
          <p:nvPr/>
        </p:nvSpPr>
        <p:spPr>
          <a:xfrm>
            <a:off x="609600" y="4852416"/>
            <a:ext cx="10972800" cy="1365504"/>
          </a:xfrm>
          <a:prstGeom prst="rect">
            <a:avLst/>
          </a:prstGeom>
          <a:solidFill>
            <a:srgbClr val="FFFFFF"/>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6" name="Shape 14"/>
          <p:cNvSpPr/>
          <p:nvPr/>
        </p:nvSpPr>
        <p:spPr>
          <a:xfrm>
            <a:off x="609600" y="4852416"/>
            <a:ext cx="73152" cy="1365504"/>
          </a:xfrm>
          <a:prstGeom prst="rect">
            <a:avLst/>
          </a:prstGeom>
          <a:solidFill>
            <a:srgbClr val="00897B"/>
          </a:solidFill>
          <a:ln w="12700">
            <a:solidFill>
              <a:srgbClr val="00897B"/>
            </a:solidFill>
            <a:prstDash val="solid"/>
          </a:ln>
        </p:spPr>
        <p:txBody>
          <a:bodyPr/>
          <a:lstStyle/>
          <a:p>
            <a:endParaRPr lang="en-IN" sz="2400"/>
          </a:p>
        </p:txBody>
      </p:sp>
      <p:sp>
        <p:nvSpPr>
          <p:cNvPr id="17" name="Text 15"/>
          <p:cNvSpPr/>
          <p:nvPr/>
        </p:nvSpPr>
        <p:spPr>
          <a:xfrm>
            <a:off x="877824" y="4974336"/>
            <a:ext cx="10485120" cy="390144"/>
          </a:xfrm>
          <a:prstGeom prst="rect">
            <a:avLst/>
          </a:prstGeom>
          <a:noFill/>
          <a:ln/>
        </p:spPr>
        <p:txBody>
          <a:bodyPr wrap="square" lIns="0" tIns="0" rIns="0" bIns="0" rtlCol="0" anchor="ctr"/>
          <a:lstStyle/>
          <a:p>
            <a:r>
              <a:rPr lang="en-US" sz="1600" b="1" dirty="0">
                <a:solidFill>
                  <a:srgbClr val="00897B"/>
                </a:solidFill>
                <a:latin typeface="Calibri" pitchFamily="34" charset="0"/>
                <a:ea typeface="Calibri" pitchFamily="34" charset="-122"/>
                <a:cs typeface="Calibri" pitchFamily="34" charset="-120"/>
              </a:rPr>
              <a:t>🔁  Swap the server — agent adapts automatically</a:t>
            </a:r>
            <a:endParaRPr lang="en-US" sz="1600" dirty="0"/>
          </a:p>
        </p:txBody>
      </p:sp>
      <p:sp>
        <p:nvSpPr>
          <p:cNvPr id="18" name="Text 16"/>
          <p:cNvSpPr/>
          <p:nvPr/>
        </p:nvSpPr>
        <p:spPr>
          <a:xfrm>
            <a:off x="877824" y="5388864"/>
            <a:ext cx="10485120" cy="755904"/>
          </a:xfrm>
          <a:prstGeom prst="rect">
            <a:avLst/>
          </a:prstGeom>
          <a:noFill/>
          <a:ln/>
        </p:spPr>
        <p:txBody>
          <a:bodyPr wrap="square" lIns="0" tIns="0" rIns="0" bIns="0" rtlCol="0" anchor="t"/>
          <a:lstStyle/>
          <a:p>
            <a:r>
              <a:rPr lang="en-US" sz="1400" dirty="0">
                <a:solidFill>
                  <a:srgbClr val="1A1A2E"/>
                </a:solidFill>
                <a:latin typeface="Calibri" pitchFamily="34" charset="0"/>
                <a:ea typeface="Calibri" pitchFamily="34" charset="-122"/>
                <a:cs typeface="Calibri" pitchFamily="34" charset="-120"/>
              </a:rPr>
              <a:t>Zerodha replaced by Angel One? Point your MCP client at the new server URL. Next capabilities call returns the new tool list. The agent reconstructs its prompt automatically. Your orchestration code stays unchanged.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Step 2 — Resource Fetch</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10972800" cy="365760"/>
          </a:xfrm>
          <a:prstGeom prst="rect">
            <a:avLst/>
          </a:prstGeom>
          <a:noFill/>
          <a:ln/>
        </p:spPr>
        <p:txBody>
          <a:bodyPr wrap="square" lIns="0" tIns="0" rIns="0" bIns="0" rtlCol="0" anchor="ctr"/>
          <a:lstStyle/>
          <a:p>
            <a:r>
              <a:rPr lang="en-US" sz="1600" i="1" dirty="0">
                <a:solidFill>
                  <a:srgbClr val="6B7280"/>
                </a:solidFill>
                <a:latin typeface="Calibri" pitchFamily="34" charset="0"/>
                <a:ea typeface="Calibri" pitchFamily="34" charset="-122"/>
                <a:cs typeface="Calibri" pitchFamily="34" charset="-120"/>
              </a:rPr>
              <a:t>The LLM decides what data it needs — the agent goes and gets it</a:t>
            </a:r>
            <a:endParaRPr lang="en-US" sz="1600" dirty="0"/>
          </a:p>
        </p:txBody>
      </p:sp>
      <p:sp>
        <p:nvSpPr>
          <p:cNvPr id="7" name="Shape 5"/>
          <p:cNvSpPr/>
          <p:nvPr/>
        </p:nvSpPr>
        <p:spPr>
          <a:xfrm>
            <a:off x="609600" y="1950720"/>
            <a:ext cx="10972800" cy="877824"/>
          </a:xfrm>
          <a:prstGeom prst="rect">
            <a:avLst/>
          </a:prstGeom>
          <a:solidFill>
            <a:srgbClr val="FFF8E7"/>
          </a:solidFill>
          <a:ln w="12700">
            <a:solidFill>
              <a:srgbClr val="F0AD00"/>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Shape 6"/>
          <p:cNvSpPr/>
          <p:nvPr/>
        </p:nvSpPr>
        <p:spPr>
          <a:xfrm>
            <a:off x="609600" y="1950720"/>
            <a:ext cx="73152" cy="877824"/>
          </a:xfrm>
          <a:prstGeom prst="rect">
            <a:avLst/>
          </a:prstGeom>
          <a:solidFill>
            <a:srgbClr val="F0AD00"/>
          </a:solidFill>
          <a:ln w="12700">
            <a:solidFill>
              <a:srgbClr val="F0AD00"/>
            </a:solidFill>
            <a:prstDash val="solid"/>
          </a:ln>
        </p:spPr>
        <p:txBody>
          <a:bodyPr/>
          <a:lstStyle/>
          <a:p>
            <a:endParaRPr lang="en-IN" sz="2400"/>
          </a:p>
        </p:txBody>
      </p:sp>
      <p:sp>
        <p:nvSpPr>
          <p:cNvPr id="9" name="Text 7"/>
          <p:cNvSpPr/>
          <p:nvPr/>
        </p:nvSpPr>
        <p:spPr>
          <a:xfrm>
            <a:off x="853440" y="1950720"/>
            <a:ext cx="1828800" cy="426720"/>
          </a:xfrm>
          <a:prstGeom prst="rect">
            <a:avLst/>
          </a:prstGeom>
          <a:noFill/>
          <a:ln/>
        </p:spPr>
        <p:txBody>
          <a:bodyPr wrap="square" lIns="0" tIns="0" rIns="0" bIns="0" rtlCol="0" anchor="ctr"/>
          <a:lstStyle/>
          <a:p>
            <a:r>
              <a:rPr lang="en-US" sz="1333" b="1" dirty="0">
                <a:solidFill>
                  <a:srgbClr val="C07800"/>
                </a:solidFill>
                <a:latin typeface="Calibri" pitchFamily="34" charset="0"/>
                <a:ea typeface="Calibri" pitchFamily="34" charset="-122"/>
                <a:cs typeface="Calibri" pitchFamily="34" charset="-120"/>
              </a:rPr>
              <a:t>LLM reasoning:</a:t>
            </a:r>
            <a:endParaRPr lang="en-US" sz="1333" dirty="0"/>
          </a:p>
        </p:txBody>
      </p:sp>
      <p:sp>
        <p:nvSpPr>
          <p:cNvPr id="10" name="Text 8"/>
          <p:cNvSpPr/>
          <p:nvPr/>
        </p:nvSpPr>
        <p:spPr>
          <a:xfrm>
            <a:off x="853440" y="2316480"/>
            <a:ext cx="10485120" cy="426720"/>
          </a:xfrm>
          <a:prstGeom prst="rect">
            <a:avLst/>
          </a:prstGeom>
          <a:noFill/>
          <a:ln/>
        </p:spPr>
        <p:txBody>
          <a:bodyPr wrap="square" lIns="0" tIns="0" rIns="0" bIns="0" rtlCol="0" anchor="ctr"/>
          <a:lstStyle/>
          <a:p>
            <a:r>
              <a:rPr lang="en-US" sz="1333" i="1" dirty="0">
                <a:solidFill>
                  <a:srgbClr val="1A1A2E"/>
                </a:solidFill>
                <a:latin typeface="Calibri" pitchFamily="34" charset="0"/>
                <a:ea typeface="Calibri" pitchFamily="34" charset="-122"/>
                <a:cs typeface="Calibri" pitchFamily="34" charset="-120"/>
              </a:rPr>
              <a:t>"User asks about buying HDFC Bank. I can see resources: portfolio, marketdata, margin. I need all three before I can give a recommendation. Fetch them."</a:t>
            </a:r>
            <a:endParaRPr lang="en-US" sz="1333" dirty="0"/>
          </a:p>
        </p:txBody>
      </p:sp>
      <p:sp>
        <p:nvSpPr>
          <p:cNvPr id="11" name="Shape 9"/>
          <p:cNvSpPr/>
          <p:nvPr/>
        </p:nvSpPr>
        <p:spPr>
          <a:xfrm>
            <a:off x="609600" y="3048000"/>
            <a:ext cx="3474720" cy="463296"/>
          </a:xfrm>
          <a:prstGeom prst="rect">
            <a:avLst/>
          </a:prstGeom>
          <a:solidFill>
            <a:srgbClr val="0F6CBD"/>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2" name="Text 10"/>
          <p:cNvSpPr/>
          <p:nvPr/>
        </p:nvSpPr>
        <p:spPr>
          <a:xfrm>
            <a:off x="609600" y="3048000"/>
            <a:ext cx="34747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R1: Portfolio</a:t>
            </a:r>
            <a:endParaRPr lang="en-US" sz="1467" dirty="0"/>
          </a:p>
        </p:txBody>
      </p:sp>
      <p:sp>
        <p:nvSpPr>
          <p:cNvPr id="13" name="Text 11"/>
          <p:cNvSpPr/>
          <p:nvPr/>
        </p:nvSpPr>
        <p:spPr>
          <a:xfrm>
            <a:off x="609600" y="3572256"/>
            <a:ext cx="3474720" cy="341376"/>
          </a:xfrm>
          <a:prstGeom prst="rect">
            <a:avLst/>
          </a:prstGeom>
          <a:noFill/>
          <a:ln/>
        </p:spPr>
        <p:txBody>
          <a:bodyPr wrap="square" lIns="0" tIns="0" rIns="0" bIns="0" rtlCol="0" anchor="ctr"/>
          <a:lstStyle/>
          <a:p>
            <a:pPr algn="ctr"/>
            <a:r>
              <a:rPr lang="en-US" sz="1200" dirty="0">
                <a:solidFill>
                  <a:srgbClr val="6B7280"/>
                </a:solidFill>
                <a:latin typeface="Consolas" pitchFamily="34" charset="0"/>
                <a:ea typeface="Consolas" pitchFamily="34" charset="-122"/>
                <a:cs typeface="Consolas" pitchFamily="34" charset="-120"/>
              </a:rPr>
              <a:t>GET zerodha://portfolio</a:t>
            </a:r>
            <a:endParaRPr lang="en-US" sz="1200" dirty="0"/>
          </a:p>
        </p:txBody>
      </p:sp>
      <p:sp>
        <p:nvSpPr>
          <p:cNvPr id="14" name="Text 12"/>
          <p:cNvSpPr/>
          <p:nvPr/>
        </p:nvSpPr>
        <p:spPr>
          <a:xfrm>
            <a:off x="2072640" y="3925824"/>
            <a:ext cx="548640" cy="304800"/>
          </a:xfrm>
          <a:prstGeom prst="rect">
            <a:avLst/>
          </a:prstGeom>
          <a:noFill/>
          <a:ln/>
        </p:spPr>
        <p:txBody>
          <a:bodyPr wrap="square" lIns="0" tIns="0" rIns="0" bIns="0" rtlCol="0" anchor="ctr"/>
          <a:lstStyle/>
          <a:p>
            <a:pPr algn="ctr"/>
            <a:r>
              <a:rPr lang="en-US" sz="1600" dirty="0">
                <a:solidFill>
                  <a:srgbClr val="0F6CBD"/>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609600" y="4242816"/>
            <a:ext cx="3474720" cy="1097280"/>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6" name="Shape 14"/>
          <p:cNvSpPr/>
          <p:nvPr/>
        </p:nvSpPr>
        <p:spPr>
          <a:xfrm>
            <a:off x="609600" y="4242816"/>
            <a:ext cx="73152" cy="1097280"/>
          </a:xfrm>
          <a:prstGeom prst="rect">
            <a:avLst/>
          </a:prstGeom>
          <a:solidFill>
            <a:srgbClr val="0F6CBD"/>
          </a:solidFill>
          <a:ln w="12700">
            <a:solidFill>
              <a:srgbClr val="0F6CBD"/>
            </a:solidFill>
            <a:prstDash val="solid"/>
          </a:ln>
        </p:spPr>
        <p:txBody>
          <a:bodyPr/>
          <a:lstStyle/>
          <a:p>
            <a:endParaRPr lang="en-IN" sz="2400"/>
          </a:p>
        </p:txBody>
      </p:sp>
      <p:sp>
        <p:nvSpPr>
          <p:cNvPr id="17" name="Text 15"/>
          <p:cNvSpPr/>
          <p:nvPr/>
        </p:nvSpPr>
        <p:spPr>
          <a:xfrm>
            <a:off x="792480" y="4267200"/>
            <a:ext cx="3169920" cy="1048512"/>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HDFCBANK: 150 shares @ ₹1,580 avg</a:t>
            </a:r>
            <a:endParaRPr lang="en-US" sz="1267" dirty="0"/>
          </a:p>
          <a:p>
            <a:r>
              <a:rPr lang="en-US" sz="1267" dirty="0">
                <a:solidFill>
                  <a:srgbClr val="1A1A2E"/>
                </a:solidFill>
                <a:latin typeface="Calibri" pitchFamily="34" charset="0"/>
                <a:ea typeface="Calibri" pitchFamily="34" charset="-122"/>
                <a:cs typeface="Calibri" pitchFamily="34" charset="-120"/>
              </a:rPr>
              <a:t>Total invested: ₹2,37,000</a:t>
            </a:r>
            <a:endParaRPr lang="en-US" sz="1267" dirty="0"/>
          </a:p>
        </p:txBody>
      </p:sp>
      <p:sp>
        <p:nvSpPr>
          <p:cNvPr id="18" name="Shape 16"/>
          <p:cNvSpPr/>
          <p:nvPr/>
        </p:nvSpPr>
        <p:spPr>
          <a:xfrm>
            <a:off x="4389120" y="3048000"/>
            <a:ext cx="3474720" cy="463296"/>
          </a:xfrm>
          <a:prstGeom prst="rect">
            <a:avLst/>
          </a:prstGeom>
          <a:solidFill>
            <a:srgbClr val="00897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9" name="Text 17"/>
          <p:cNvSpPr/>
          <p:nvPr/>
        </p:nvSpPr>
        <p:spPr>
          <a:xfrm>
            <a:off x="4389120" y="3048000"/>
            <a:ext cx="34747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R2: Market Data</a:t>
            </a:r>
            <a:endParaRPr lang="en-US" sz="1467" dirty="0"/>
          </a:p>
        </p:txBody>
      </p:sp>
      <p:sp>
        <p:nvSpPr>
          <p:cNvPr id="20" name="Text 18"/>
          <p:cNvSpPr/>
          <p:nvPr/>
        </p:nvSpPr>
        <p:spPr>
          <a:xfrm>
            <a:off x="4389120" y="3572256"/>
            <a:ext cx="3474720" cy="341376"/>
          </a:xfrm>
          <a:prstGeom prst="rect">
            <a:avLst/>
          </a:prstGeom>
          <a:noFill/>
          <a:ln/>
        </p:spPr>
        <p:txBody>
          <a:bodyPr wrap="square" lIns="0" tIns="0" rIns="0" bIns="0" rtlCol="0" anchor="ctr"/>
          <a:lstStyle/>
          <a:p>
            <a:pPr algn="ctr"/>
            <a:r>
              <a:rPr lang="en-US" sz="1200" dirty="0">
                <a:solidFill>
                  <a:srgbClr val="6B7280"/>
                </a:solidFill>
                <a:latin typeface="Consolas" pitchFamily="34" charset="0"/>
                <a:ea typeface="Consolas" pitchFamily="34" charset="-122"/>
                <a:cs typeface="Consolas" pitchFamily="34" charset="-120"/>
              </a:rPr>
              <a:t>GET zerodha://marketdata</a:t>
            </a:r>
            <a:endParaRPr lang="en-US" sz="1200" dirty="0"/>
          </a:p>
        </p:txBody>
      </p:sp>
      <p:sp>
        <p:nvSpPr>
          <p:cNvPr id="21" name="Text 19"/>
          <p:cNvSpPr/>
          <p:nvPr/>
        </p:nvSpPr>
        <p:spPr>
          <a:xfrm>
            <a:off x="5852160" y="3925824"/>
            <a:ext cx="548640" cy="304800"/>
          </a:xfrm>
          <a:prstGeom prst="rect">
            <a:avLst/>
          </a:prstGeom>
          <a:noFill/>
          <a:ln/>
        </p:spPr>
        <p:txBody>
          <a:bodyPr wrap="square" lIns="0" tIns="0" rIns="0" bIns="0" rtlCol="0" anchor="ctr"/>
          <a:lstStyle/>
          <a:p>
            <a:pPr algn="ctr"/>
            <a:r>
              <a:rPr lang="en-US" sz="1600" dirty="0">
                <a:solidFill>
                  <a:srgbClr val="00897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4389120" y="4242816"/>
            <a:ext cx="3474720" cy="1097280"/>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3" name="Shape 21"/>
          <p:cNvSpPr/>
          <p:nvPr/>
        </p:nvSpPr>
        <p:spPr>
          <a:xfrm>
            <a:off x="4389120" y="4242816"/>
            <a:ext cx="73152" cy="1097280"/>
          </a:xfrm>
          <a:prstGeom prst="rect">
            <a:avLst/>
          </a:prstGeom>
          <a:solidFill>
            <a:srgbClr val="00897B"/>
          </a:solidFill>
          <a:ln w="12700">
            <a:solidFill>
              <a:srgbClr val="00897B"/>
            </a:solidFill>
            <a:prstDash val="solid"/>
          </a:ln>
        </p:spPr>
        <p:txBody>
          <a:bodyPr/>
          <a:lstStyle/>
          <a:p>
            <a:endParaRPr lang="en-IN" sz="2400"/>
          </a:p>
        </p:txBody>
      </p:sp>
      <p:sp>
        <p:nvSpPr>
          <p:cNvPr id="24" name="Text 22"/>
          <p:cNvSpPr/>
          <p:nvPr/>
        </p:nvSpPr>
        <p:spPr>
          <a:xfrm>
            <a:off x="4572000" y="4267200"/>
            <a:ext cx="3169920" cy="1048512"/>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HDFCBANK CMP: ₹1,642  (+1.8%)</a:t>
            </a:r>
            <a:endParaRPr lang="en-US" sz="1267" dirty="0"/>
          </a:p>
          <a:p>
            <a:r>
              <a:rPr lang="en-US" sz="1267" dirty="0">
                <a:solidFill>
                  <a:srgbClr val="1A1A2E"/>
                </a:solidFill>
                <a:latin typeface="Calibri" pitchFamily="34" charset="0"/>
                <a:ea typeface="Calibri" pitchFamily="34" charset="-122"/>
                <a:cs typeface="Calibri" pitchFamily="34" charset="-120"/>
              </a:rPr>
              <a:t>52W High: ₹1,880  |  P/E: 19.2</a:t>
            </a:r>
            <a:endParaRPr lang="en-US" sz="1267" dirty="0"/>
          </a:p>
        </p:txBody>
      </p:sp>
      <p:sp>
        <p:nvSpPr>
          <p:cNvPr id="25" name="Shape 23"/>
          <p:cNvSpPr/>
          <p:nvPr/>
        </p:nvSpPr>
        <p:spPr>
          <a:xfrm>
            <a:off x="8168640" y="3048000"/>
            <a:ext cx="3474720" cy="463296"/>
          </a:xfrm>
          <a:prstGeom prst="rect">
            <a:avLst/>
          </a:prstGeom>
          <a:solidFill>
            <a:srgbClr val="7B5EA7"/>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6" name="Text 24"/>
          <p:cNvSpPr/>
          <p:nvPr/>
        </p:nvSpPr>
        <p:spPr>
          <a:xfrm>
            <a:off x="8168640" y="3048000"/>
            <a:ext cx="34747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R3: Margin</a:t>
            </a:r>
            <a:endParaRPr lang="en-US" sz="1467" dirty="0"/>
          </a:p>
        </p:txBody>
      </p:sp>
      <p:sp>
        <p:nvSpPr>
          <p:cNvPr id="27" name="Text 25"/>
          <p:cNvSpPr/>
          <p:nvPr/>
        </p:nvSpPr>
        <p:spPr>
          <a:xfrm>
            <a:off x="8168640" y="3572256"/>
            <a:ext cx="3474720" cy="341376"/>
          </a:xfrm>
          <a:prstGeom prst="rect">
            <a:avLst/>
          </a:prstGeom>
          <a:noFill/>
          <a:ln/>
        </p:spPr>
        <p:txBody>
          <a:bodyPr wrap="square" lIns="0" tIns="0" rIns="0" bIns="0" rtlCol="0" anchor="ctr"/>
          <a:lstStyle/>
          <a:p>
            <a:pPr algn="ctr"/>
            <a:r>
              <a:rPr lang="en-US" sz="1200" dirty="0">
                <a:solidFill>
                  <a:srgbClr val="6B7280"/>
                </a:solidFill>
                <a:latin typeface="Consolas" pitchFamily="34" charset="0"/>
                <a:ea typeface="Consolas" pitchFamily="34" charset="-122"/>
                <a:cs typeface="Consolas" pitchFamily="34" charset="-120"/>
              </a:rPr>
              <a:t>GET zerodha://margin</a:t>
            </a:r>
            <a:endParaRPr lang="en-US" sz="1200" dirty="0"/>
          </a:p>
        </p:txBody>
      </p:sp>
      <p:sp>
        <p:nvSpPr>
          <p:cNvPr id="28" name="Text 26"/>
          <p:cNvSpPr/>
          <p:nvPr/>
        </p:nvSpPr>
        <p:spPr>
          <a:xfrm>
            <a:off x="9631680" y="3925824"/>
            <a:ext cx="548640" cy="304800"/>
          </a:xfrm>
          <a:prstGeom prst="rect">
            <a:avLst/>
          </a:prstGeom>
          <a:noFill/>
          <a:ln/>
        </p:spPr>
        <p:txBody>
          <a:bodyPr wrap="square" lIns="0" tIns="0" rIns="0" bIns="0" rtlCol="0" anchor="ctr"/>
          <a:lstStyle/>
          <a:p>
            <a:pPr algn="ctr"/>
            <a:r>
              <a:rPr lang="en-US" sz="1600" dirty="0">
                <a:solidFill>
                  <a:srgbClr val="7B5EA7"/>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8168640" y="4242816"/>
            <a:ext cx="3474720" cy="1097280"/>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30" name="Shape 28"/>
          <p:cNvSpPr/>
          <p:nvPr/>
        </p:nvSpPr>
        <p:spPr>
          <a:xfrm>
            <a:off x="8168640" y="4242816"/>
            <a:ext cx="73152" cy="1097280"/>
          </a:xfrm>
          <a:prstGeom prst="rect">
            <a:avLst/>
          </a:prstGeom>
          <a:solidFill>
            <a:srgbClr val="7B5EA7"/>
          </a:solidFill>
          <a:ln w="12700">
            <a:solidFill>
              <a:srgbClr val="7B5EA7"/>
            </a:solidFill>
            <a:prstDash val="solid"/>
          </a:ln>
        </p:spPr>
        <p:txBody>
          <a:bodyPr/>
          <a:lstStyle/>
          <a:p>
            <a:endParaRPr lang="en-IN" sz="2400"/>
          </a:p>
        </p:txBody>
      </p:sp>
      <p:sp>
        <p:nvSpPr>
          <p:cNvPr id="31" name="Text 29"/>
          <p:cNvSpPr/>
          <p:nvPr/>
        </p:nvSpPr>
        <p:spPr>
          <a:xfrm>
            <a:off x="8351520" y="4267200"/>
            <a:ext cx="3169920" cy="1048512"/>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Available cash: ₹85,400</a:t>
            </a:r>
            <a:endParaRPr lang="en-US" sz="1267" dirty="0"/>
          </a:p>
          <a:p>
            <a:r>
              <a:rPr lang="en-US" sz="1267" dirty="0">
                <a:solidFill>
                  <a:srgbClr val="1A1A2E"/>
                </a:solidFill>
                <a:latin typeface="Calibri" pitchFamily="34" charset="0"/>
                <a:ea typeface="Calibri" pitchFamily="34" charset="-122"/>
                <a:cs typeface="Calibri" pitchFamily="34" charset="-120"/>
              </a:rPr>
              <a:t>Max buyable @ CMP: ~52 shares</a:t>
            </a:r>
            <a:endParaRPr lang="en-US" sz="1267"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Step 3 — Tool Invocation</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10972800" cy="365760"/>
          </a:xfrm>
          <a:prstGeom prst="rect">
            <a:avLst/>
          </a:prstGeom>
          <a:noFill/>
          <a:ln/>
        </p:spPr>
        <p:txBody>
          <a:bodyPr wrap="square" lIns="0" tIns="0" rIns="0" bIns="0" rtlCol="0" anchor="ctr"/>
          <a:lstStyle/>
          <a:p>
            <a:r>
              <a:rPr lang="en-US" sz="1600" i="1" dirty="0">
                <a:solidFill>
                  <a:srgbClr val="6B7280"/>
                </a:solidFill>
                <a:latin typeface="Calibri" pitchFamily="34" charset="0"/>
                <a:ea typeface="Calibri" pitchFamily="34" charset="-122"/>
                <a:cs typeface="Calibri" pitchFamily="34" charset="-120"/>
              </a:rPr>
              <a:t>The LLM recommends an action — the agent decides whether to execute</a:t>
            </a:r>
            <a:endParaRPr lang="en-US" sz="1600" dirty="0"/>
          </a:p>
        </p:txBody>
      </p:sp>
      <p:sp>
        <p:nvSpPr>
          <p:cNvPr id="7" name="Shape 5"/>
          <p:cNvSpPr/>
          <p:nvPr/>
        </p:nvSpPr>
        <p:spPr>
          <a:xfrm>
            <a:off x="609600" y="1950720"/>
            <a:ext cx="6461760" cy="3048000"/>
          </a:xfrm>
          <a:prstGeom prst="rect">
            <a:avLst/>
          </a:prstGeom>
          <a:solidFill>
            <a:srgbClr val="1E293B"/>
          </a:solidFill>
          <a:ln w="12700">
            <a:solidFill>
              <a:srgbClr val="374151"/>
            </a:solidFill>
            <a:prstDash val="solid"/>
          </a:ln>
          <a:effectLst>
            <a:outerShdw blurRad="76200" dist="25400" dir="8100000" algn="bl" rotWithShape="0">
              <a:srgbClr val="000000">
                <a:alpha val="15000"/>
              </a:srgbClr>
            </a:outerShdw>
          </a:effectLst>
        </p:spPr>
        <p:txBody>
          <a:bodyPr/>
          <a:lstStyle/>
          <a:p>
            <a:endParaRPr lang="en-IN" sz="2400"/>
          </a:p>
        </p:txBody>
      </p:sp>
      <p:sp>
        <p:nvSpPr>
          <p:cNvPr id="8" name="Text 6"/>
          <p:cNvSpPr/>
          <p:nvPr/>
        </p:nvSpPr>
        <p:spPr>
          <a:xfrm>
            <a:off x="792480" y="2072640"/>
            <a:ext cx="6096000" cy="2804160"/>
          </a:xfrm>
          <a:prstGeom prst="rect">
            <a:avLst/>
          </a:prstGeom>
          <a:noFill/>
          <a:ln/>
        </p:spPr>
        <p:txBody>
          <a:bodyPr wrap="square" lIns="0" tIns="0" rIns="0" bIns="0" rtlCol="0" anchor="t"/>
          <a:lstStyle/>
          <a:p>
            <a:r>
              <a:rPr lang="en-US" sz="1267" dirty="0">
                <a:solidFill>
                  <a:srgbClr val="E2E8F0"/>
                </a:solidFill>
                <a:latin typeface="Consolas" pitchFamily="34" charset="0"/>
                <a:ea typeface="Consolas" pitchFamily="34" charset="-122"/>
                <a:cs typeface="Consolas" pitchFamily="34" charset="-120"/>
              </a:rPr>
              <a:t># LLM returns a structured tool call recommendation:</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a:p>
            <a:r>
              <a:rPr lang="en-US" sz="1267" dirty="0">
                <a:solidFill>
                  <a:srgbClr val="E2E8F0"/>
                </a:solidFill>
                <a:latin typeface="Consolas" pitchFamily="34" charset="0"/>
                <a:ea typeface="Consolas" pitchFamily="34" charset="-122"/>
                <a:cs typeface="Consolas" pitchFamily="34" charset="-120"/>
              </a:rPr>
              <a:t>  "tool": "place_order",</a:t>
            </a:r>
            <a:endParaRPr lang="en-US" sz="1267" dirty="0"/>
          </a:p>
          <a:p>
            <a:r>
              <a:rPr lang="en-US" sz="1267" dirty="0">
                <a:solidFill>
                  <a:srgbClr val="E2E8F0"/>
                </a:solidFill>
                <a:latin typeface="Consolas" pitchFamily="34" charset="0"/>
                <a:ea typeface="Consolas" pitchFamily="34" charset="-122"/>
                <a:cs typeface="Consolas" pitchFamily="34" charset="-120"/>
              </a:rPr>
              <a:t>  "parameters": {</a:t>
            </a:r>
            <a:endParaRPr lang="en-US" sz="1267" dirty="0"/>
          </a:p>
          <a:p>
            <a:r>
              <a:rPr lang="en-US" sz="1267" dirty="0">
                <a:solidFill>
                  <a:srgbClr val="E2E8F0"/>
                </a:solidFill>
                <a:latin typeface="Consolas" pitchFamily="34" charset="0"/>
                <a:ea typeface="Consolas" pitchFamily="34" charset="-122"/>
                <a:cs typeface="Consolas" pitchFamily="34" charset="-120"/>
              </a:rPr>
              <a:t>    "ticker":     "HDFCBANK",</a:t>
            </a:r>
            <a:endParaRPr lang="en-US" sz="1267" dirty="0"/>
          </a:p>
          <a:p>
            <a:r>
              <a:rPr lang="en-US" sz="1267" dirty="0">
                <a:solidFill>
                  <a:srgbClr val="E2E8F0"/>
                </a:solidFill>
                <a:latin typeface="Consolas" pitchFamily="34" charset="0"/>
                <a:ea typeface="Consolas" pitchFamily="34" charset="-122"/>
                <a:cs typeface="Consolas" pitchFamily="34" charset="-120"/>
              </a:rPr>
              <a:t>    "exchange":   "NSE",</a:t>
            </a:r>
            <a:endParaRPr lang="en-US" sz="1267" dirty="0"/>
          </a:p>
          <a:p>
            <a:r>
              <a:rPr lang="en-US" sz="1267" dirty="0">
                <a:solidFill>
                  <a:srgbClr val="E2E8F0"/>
                </a:solidFill>
                <a:latin typeface="Consolas" pitchFamily="34" charset="0"/>
                <a:ea typeface="Consolas" pitchFamily="34" charset="-122"/>
                <a:cs typeface="Consolas" pitchFamily="34" charset="-120"/>
              </a:rPr>
              <a:t>    "qty":        25,</a:t>
            </a:r>
            <a:endParaRPr lang="en-US" sz="1267" dirty="0"/>
          </a:p>
          <a:p>
            <a:r>
              <a:rPr lang="en-US" sz="1267" dirty="0">
                <a:solidFill>
                  <a:srgbClr val="E2E8F0"/>
                </a:solidFill>
                <a:latin typeface="Consolas" pitchFamily="34" charset="0"/>
                <a:ea typeface="Consolas" pitchFamily="34" charset="-122"/>
                <a:cs typeface="Consolas" pitchFamily="34" charset="-120"/>
              </a:rPr>
              <a:t>    "order_type": "LIMIT",</a:t>
            </a:r>
            <a:endParaRPr lang="en-US" sz="1267" dirty="0"/>
          </a:p>
          <a:p>
            <a:r>
              <a:rPr lang="en-US" sz="1267" dirty="0">
                <a:solidFill>
                  <a:srgbClr val="E2E8F0"/>
                </a:solidFill>
                <a:latin typeface="Consolas" pitchFamily="34" charset="0"/>
                <a:ea typeface="Consolas" pitchFamily="34" charset="-122"/>
                <a:cs typeface="Consolas" pitchFamily="34" charset="-120"/>
              </a:rPr>
              <a:t>    "price":      1638.00,</a:t>
            </a:r>
            <a:endParaRPr lang="en-US" sz="1267" dirty="0"/>
          </a:p>
          <a:p>
            <a:r>
              <a:rPr lang="en-US" sz="1267" dirty="0">
                <a:solidFill>
                  <a:srgbClr val="E2E8F0"/>
                </a:solidFill>
                <a:latin typeface="Consolas" pitchFamily="34" charset="0"/>
                <a:ea typeface="Consolas" pitchFamily="34" charset="-122"/>
                <a:cs typeface="Consolas" pitchFamily="34" charset="-120"/>
              </a:rPr>
              <a:t>    "rationale":  "Stock is 12.6% below 52W high. Avg cost</a:t>
            </a:r>
            <a:endParaRPr lang="en-US" sz="1267" dirty="0"/>
          </a:p>
          <a:p>
            <a:r>
              <a:rPr lang="en-US" sz="1267" dirty="0">
                <a:solidFill>
                  <a:srgbClr val="E2E8F0"/>
                </a:solidFill>
                <a:latin typeface="Consolas" pitchFamily="34" charset="0"/>
                <a:ea typeface="Consolas" pitchFamily="34" charset="-122"/>
                <a:cs typeface="Consolas" pitchFamily="34" charset="-120"/>
              </a:rPr>
              <a:t>                   ₹1,580. Adding at ₹1,638 improves DCA."</a:t>
            </a:r>
            <a:endParaRPr lang="en-US" sz="1267" dirty="0"/>
          </a:p>
          <a:p>
            <a:r>
              <a:rPr lang="en-US" sz="1267" dirty="0">
                <a:solidFill>
                  <a:srgbClr val="E2E8F0"/>
                </a:solidFill>
                <a:latin typeface="Consolas" pitchFamily="34" charset="0"/>
                <a:ea typeface="Consolas" pitchFamily="34" charset="-122"/>
                <a:cs typeface="Consolas" pitchFamily="34" charset="-120"/>
              </a:rPr>
              <a:t>  }</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p:txBody>
      </p:sp>
      <p:sp>
        <p:nvSpPr>
          <p:cNvPr id="9" name="Shape 7"/>
          <p:cNvSpPr/>
          <p:nvPr/>
        </p:nvSpPr>
        <p:spPr>
          <a:xfrm>
            <a:off x="7315200" y="1950720"/>
            <a:ext cx="4145280" cy="304800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0" name="Shape 8"/>
          <p:cNvSpPr/>
          <p:nvPr/>
        </p:nvSpPr>
        <p:spPr>
          <a:xfrm>
            <a:off x="7315200" y="1950720"/>
            <a:ext cx="73152" cy="3048000"/>
          </a:xfrm>
          <a:prstGeom prst="rect">
            <a:avLst/>
          </a:prstGeom>
          <a:solidFill>
            <a:srgbClr val="00897B"/>
          </a:solidFill>
          <a:ln w="12700">
            <a:solidFill>
              <a:srgbClr val="00897B"/>
            </a:solidFill>
            <a:prstDash val="solid"/>
          </a:ln>
        </p:spPr>
        <p:txBody>
          <a:bodyPr/>
          <a:lstStyle/>
          <a:p>
            <a:endParaRPr lang="en-IN" sz="2400"/>
          </a:p>
        </p:txBody>
      </p:sp>
      <p:sp>
        <p:nvSpPr>
          <p:cNvPr id="11" name="Text 9"/>
          <p:cNvSpPr/>
          <p:nvPr/>
        </p:nvSpPr>
        <p:spPr>
          <a:xfrm>
            <a:off x="7559040" y="2072640"/>
            <a:ext cx="3657600" cy="365760"/>
          </a:xfrm>
          <a:prstGeom prst="rect">
            <a:avLst/>
          </a:prstGeom>
          <a:noFill/>
          <a:ln/>
        </p:spPr>
        <p:txBody>
          <a:bodyPr wrap="square" lIns="0" tIns="0" rIns="0" bIns="0" rtlCol="0" anchor="ctr"/>
          <a:lstStyle/>
          <a:p>
            <a:r>
              <a:rPr lang="en-US" sz="1467" b="1" dirty="0">
                <a:solidFill>
                  <a:srgbClr val="00897B"/>
                </a:solidFill>
                <a:latin typeface="Calibri" pitchFamily="34" charset="0"/>
                <a:ea typeface="Calibri" pitchFamily="34" charset="-122"/>
                <a:cs typeface="Calibri" pitchFamily="34" charset="-120"/>
              </a:rPr>
              <a:t>Agent executes:</a:t>
            </a:r>
            <a:endParaRPr lang="en-US" sz="1467" dirty="0"/>
          </a:p>
        </p:txBody>
      </p:sp>
      <p:sp>
        <p:nvSpPr>
          <p:cNvPr id="12" name="Text 10"/>
          <p:cNvSpPr/>
          <p:nvPr/>
        </p:nvSpPr>
        <p:spPr>
          <a:xfrm>
            <a:off x="7559040" y="2560320"/>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1. Validate parameters</a:t>
            </a:r>
            <a:endParaRPr lang="en-US" sz="1333" dirty="0"/>
          </a:p>
        </p:txBody>
      </p:sp>
      <p:sp>
        <p:nvSpPr>
          <p:cNvPr id="13" name="Text 11"/>
          <p:cNvSpPr/>
          <p:nvPr/>
        </p:nvSpPr>
        <p:spPr>
          <a:xfrm>
            <a:off x="7559040" y="2962656"/>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2. Check margin (again)</a:t>
            </a:r>
            <a:endParaRPr lang="en-US" sz="1333" dirty="0"/>
          </a:p>
        </p:txBody>
      </p:sp>
      <p:sp>
        <p:nvSpPr>
          <p:cNvPr id="14" name="Text 12"/>
          <p:cNvSpPr/>
          <p:nvPr/>
        </p:nvSpPr>
        <p:spPr>
          <a:xfrm>
            <a:off x="7559040" y="3364992"/>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3. POST to Zerodha API</a:t>
            </a:r>
            <a:endParaRPr lang="en-US" sz="1333" dirty="0"/>
          </a:p>
        </p:txBody>
      </p:sp>
      <p:sp>
        <p:nvSpPr>
          <p:cNvPr id="15" name="Text 13"/>
          <p:cNvSpPr/>
          <p:nvPr/>
        </p:nvSpPr>
        <p:spPr>
          <a:xfrm>
            <a:off x="7559040" y="3767328"/>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4. Receive order_id</a:t>
            </a:r>
            <a:endParaRPr lang="en-US" sz="1333" dirty="0"/>
          </a:p>
        </p:txBody>
      </p:sp>
      <p:sp>
        <p:nvSpPr>
          <p:cNvPr id="16" name="Text 14"/>
          <p:cNvSpPr/>
          <p:nvPr/>
        </p:nvSpPr>
        <p:spPr>
          <a:xfrm>
            <a:off x="7559040" y="4169664"/>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5. Call set_stop_loss()</a:t>
            </a:r>
            <a:endParaRPr lang="en-US" sz="1333" dirty="0"/>
          </a:p>
        </p:txBody>
      </p:sp>
      <p:sp>
        <p:nvSpPr>
          <p:cNvPr id="17" name="Text 15"/>
          <p:cNvSpPr/>
          <p:nvPr/>
        </p:nvSpPr>
        <p:spPr>
          <a:xfrm>
            <a:off x="7559040" y="4572000"/>
            <a:ext cx="3657600" cy="36576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6. Call send_notification()</a:t>
            </a:r>
            <a:endParaRPr lang="en-US" sz="1333" dirty="0"/>
          </a:p>
        </p:txBody>
      </p:sp>
      <p:sp>
        <p:nvSpPr>
          <p:cNvPr id="18" name="Shape 16"/>
          <p:cNvSpPr/>
          <p:nvPr/>
        </p:nvSpPr>
        <p:spPr>
          <a:xfrm>
            <a:off x="609600" y="5145024"/>
            <a:ext cx="10972800" cy="1036320"/>
          </a:xfrm>
          <a:prstGeom prst="rect">
            <a:avLst/>
          </a:prstGeom>
          <a:solidFill>
            <a:srgbClr val="FEF2F2"/>
          </a:solidFill>
          <a:ln w="12700">
            <a:solidFill>
              <a:srgbClr val="C0392B"/>
            </a:solidFill>
            <a:prstDash val="solid"/>
          </a:ln>
          <a:effectLst>
            <a:outerShdw blurRad="50800" dist="12700" dir="8100000" algn="bl" rotWithShape="0">
              <a:srgbClr val="000000">
                <a:alpha val="7000"/>
              </a:srgbClr>
            </a:outerShdw>
          </a:effectLst>
        </p:spPr>
        <p:txBody>
          <a:bodyPr/>
          <a:lstStyle/>
          <a:p>
            <a:endParaRPr lang="en-IN" sz="2400"/>
          </a:p>
        </p:txBody>
      </p:sp>
      <p:sp>
        <p:nvSpPr>
          <p:cNvPr id="19" name="Shape 17"/>
          <p:cNvSpPr/>
          <p:nvPr/>
        </p:nvSpPr>
        <p:spPr>
          <a:xfrm>
            <a:off x="609600" y="5145024"/>
            <a:ext cx="73152" cy="1036320"/>
          </a:xfrm>
          <a:prstGeom prst="rect">
            <a:avLst/>
          </a:prstGeom>
          <a:solidFill>
            <a:srgbClr val="C0392B"/>
          </a:solidFill>
          <a:ln w="12700">
            <a:solidFill>
              <a:srgbClr val="C0392B"/>
            </a:solidFill>
            <a:prstDash val="solid"/>
          </a:ln>
        </p:spPr>
        <p:txBody>
          <a:bodyPr/>
          <a:lstStyle/>
          <a:p>
            <a:endParaRPr lang="en-IN" sz="2400"/>
          </a:p>
        </p:txBody>
      </p:sp>
      <p:sp>
        <p:nvSpPr>
          <p:cNvPr id="20" name="Text 18"/>
          <p:cNvSpPr/>
          <p:nvPr/>
        </p:nvSpPr>
        <p:spPr>
          <a:xfrm>
            <a:off x="853440" y="5205984"/>
            <a:ext cx="4876800" cy="365760"/>
          </a:xfrm>
          <a:prstGeom prst="rect">
            <a:avLst/>
          </a:prstGeom>
          <a:noFill/>
          <a:ln/>
        </p:spPr>
        <p:txBody>
          <a:bodyPr wrap="square" lIns="0" tIns="0" rIns="0" bIns="0" rtlCol="0" anchor="ctr"/>
          <a:lstStyle/>
          <a:p>
            <a:r>
              <a:rPr lang="en-US" sz="1600" b="1" dirty="0">
                <a:solidFill>
                  <a:srgbClr val="C0392B"/>
                </a:solidFill>
                <a:latin typeface="Calibri" pitchFamily="34" charset="0"/>
                <a:ea typeface="Calibri" pitchFamily="34" charset="-122"/>
                <a:cs typeface="Calibri" pitchFamily="34" charset="-120"/>
              </a:rPr>
              <a:t>🛡  The LLM never executes directly.</a:t>
            </a:r>
            <a:endParaRPr lang="en-US" sz="1600" dirty="0"/>
          </a:p>
        </p:txBody>
      </p:sp>
      <p:sp>
        <p:nvSpPr>
          <p:cNvPr id="21" name="Text 19"/>
          <p:cNvSpPr/>
          <p:nvPr/>
        </p:nvSpPr>
        <p:spPr>
          <a:xfrm>
            <a:off x="853440" y="5547360"/>
            <a:ext cx="10607040" cy="54864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Claude, GPT, Gemini — none will reach into your network and call an API. They return a recommendation. Your agent code decides whether to fire. This is where you add human approval gates, spend limits, compliance checks — before anything irreversible happens.</a:t>
            </a:r>
            <a:endParaRPr lang="en-US" sz="133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The ReAct Loop — How the Agent Actually Thinks</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38656"/>
            <a:ext cx="10972800" cy="341376"/>
          </a:xfrm>
          <a:prstGeom prst="rect">
            <a:avLst/>
          </a:prstGeom>
          <a:noFill/>
          <a:ln/>
        </p:spPr>
        <p:txBody>
          <a:bodyPr wrap="square" lIns="0" tIns="0" rIns="0" bIns="0" rtlCol="0" anchor="ctr"/>
          <a:lstStyle/>
          <a:p>
            <a:r>
              <a:rPr lang="en-US" sz="1467" i="1" dirty="0">
                <a:solidFill>
                  <a:srgbClr val="6B7280"/>
                </a:solidFill>
                <a:latin typeface="Calibri" pitchFamily="34" charset="0"/>
                <a:ea typeface="Calibri" pitchFamily="34" charset="-122"/>
                <a:cs typeface="Calibri" pitchFamily="34" charset="-120"/>
              </a:rPr>
              <a:t>ReAct = Reasoning + Acting. Every agentic framework runs this pattern.</a:t>
            </a:r>
            <a:endParaRPr lang="en-US" sz="1467" dirty="0"/>
          </a:p>
        </p:txBody>
      </p:sp>
      <p:sp>
        <p:nvSpPr>
          <p:cNvPr id="7" name="Shape 5"/>
          <p:cNvSpPr/>
          <p:nvPr/>
        </p:nvSpPr>
        <p:spPr>
          <a:xfrm>
            <a:off x="4572000" y="1853184"/>
            <a:ext cx="3048000" cy="1219200"/>
          </a:xfrm>
          <a:prstGeom prst="rect">
            <a:avLst/>
          </a:prstGeom>
          <a:solidFill>
            <a:srgbClr val="FFFFFF"/>
          </a:solidFill>
          <a:ln w="31750">
            <a:solidFill>
              <a:srgbClr val="7B5EA7"/>
            </a:solidFill>
            <a:prstDash val="solid"/>
          </a:ln>
          <a:effectLst>
            <a:outerShdw blurRad="63500" dist="25400" dir="8100000" algn="bl" rotWithShape="0">
              <a:srgbClr val="000000">
                <a:alpha val="10000"/>
              </a:srgbClr>
            </a:outerShdw>
          </a:effectLst>
        </p:spPr>
        <p:txBody>
          <a:bodyPr/>
          <a:lstStyle/>
          <a:p>
            <a:endParaRPr lang="en-IN" sz="2400"/>
          </a:p>
        </p:txBody>
      </p:sp>
      <p:sp>
        <p:nvSpPr>
          <p:cNvPr id="8" name="Shape 6"/>
          <p:cNvSpPr/>
          <p:nvPr/>
        </p:nvSpPr>
        <p:spPr>
          <a:xfrm>
            <a:off x="4572000" y="1853184"/>
            <a:ext cx="3048000" cy="426720"/>
          </a:xfrm>
          <a:prstGeom prst="rect">
            <a:avLst/>
          </a:prstGeom>
          <a:solidFill>
            <a:srgbClr val="7B5EA7"/>
          </a:solidFill>
          <a:ln w="12700">
            <a:solidFill>
              <a:srgbClr val="7B5EA7"/>
            </a:solidFill>
            <a:prstDash val="solid"/>
          </a:ln>
        </p:spPr>
        <p:txBody>
          <a:bodyPr/>
          <a:lstStyle/>
          <a:p>
            <a:endParaRPr lang="en-IN" sz="2400"/>
          </a:p>
        </p:txBody>
      </p:sp>
      <p:sp>
        <p:nvSpPr>
          <p:cNvPr id="9" name="Text 7"/>
          <p:cNvSpPr/>
          <p:nvPr/>
        </p:nvSpPr>
        <p:spPr>
          <a:xfrm>
            <a:off x="4572000" y="1853184"/>
            <a:ext cx="304800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THINK</a:t>
            </a:r>
            <a:endParaRPr lang="en-US" sz="1733" dirty="0"/>
          </a:p>
        </p:txBody>
      </p:sp>
      <p:sp>
        <p:nvSpPr>
          <p:cNvPr id="10" name="Text 8"/>
          <p:cNvSpPr/>
          <p:nvPr/>
        </p:nvSpPr>
        <p:spPr>
          <a:xfrm>
            <a:off x="4572000" y="2316480"/>
            <a:ext cx="3048000" cy="755904"/>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LLM is called.</a:t>
            </a:r>
            <a:endParaRPr lang="en-US" sz="1267" dirty="0"/>
          </a:p>
          <a:p>
            <a:pPr algn="ctr"/>
            <a:r>
              <a:rPr lang="en-US" sz="1267" dirty="0">
                <a:solidFill>
                  <a:srgbClr val="1A1A2E"/>
                </a:solidFill>
                <a:latin typeface="Calibri" pitchFamily="34" charset="0"/>
                <a:ea typeface="Calibri" pitchFamily="34" charset="-122"/>
                <a:cs typeface="Calibri" pitchFamily="34" charset="-120"/>
              </a:rPr>
              <a:t>Reads conversation history.</a:t>
            </a:r>
            <a:endParaRPr lang="en-US" sz="1267" dirty="0"/>
          </a:p>
          <a:p>
            <a:pPr algn="ctr"/>
            <a:r>
              <a:rPr lang="en-US" sz="1267" dirty="0">
                <a:solidFill>
                  <a:srgbClr val="1A1A2E"/>
                </a:solidFill>
                <a:latin typeface="Calibri" pitchFamily="34" charset="0"/>
                <a:ea typeface="Calibri" pitchFamily="34" charset="-122"/>
                <a:cs typeface="Calibri" pitchFamily="34" charset="-120"/>
              </a:rPr>
              <a:t>Decides next action.</a:t>
            </a:r>
            <a:endParaRPr lang="en-US" sz="1267" dirty="0"/>
          </a:p>
        </p:txBody>
      </p:sp>
      <p:sp>
        <p:nvSpPr>
          <p:cNvPr id="11" name="Shape 9"/>
          <p:cNvSpPr/>
          <p:nvPr/>
        </p:nvSpPr>
        <p:spPr>
          <a:xfrm>
            <a:off x="8046720" y="3535680"/>
            <a:ext cx="3048000" cy="1219200"/>
          </a:xfrm>
          <a:prstGeom prst="rect">
            <a:avLst/>
          </a:prstGeom>
          <a:solidFill>
            <a:srgbClr val="FFFFFF"/>
          </a:solidFill>
          <a:ln w="31750">
            <a:solidFill>
              <a:srgbClr val="0F6CBD"/>
            </a:solidFill>
            <a:prstDash val="solid"/>
          </a:ln>
          <a:effectLst>
            <a:outerShdw blurRad="63500" dist="25400" dir="8100000" algn="bl" rotWithShape="0">
              <a:srgbClr val="000000">
                <a:alpha val="10000"/>
              </a:srgbClr>
            </a:outerShdw>
          </a:effectLst>
        </p:spPr>
        <p:txBody>
          <a:bodyPr/>
          <a:lstStyle/>
          <a:p>
            <a:endParaRPr lang="en-IN" sz="2400"/>
          </a:p>
        </p:txBody>
      </p:sp>
      <p:sp>
        <p:nvSpPr>
          <p:cNvPr id="12" name="Shape 10"/>
          <p:cNvSpPr/>
          <p:nvPr/>
        </p:nvSpPr>
        <p:spPr>
          <a:xfrm>
            <a:off x="8046720" y="3535680"/>
            <a:ext cx="3048000" cy="426720"/>
          </a:xfrm>
          <a:prstGeom prst="rect">
            <a:avLst/>
          </a:prstGeom>
          <a:solidFill>
            <a:srgbClr val="0F6CBD"/>
          </a:solidFill>
          <a:ln w="12700">
            <a:solidFill>
              <a:srgbClr val="0F6CBD"/>
            </a:solidFill>
            <a:prstDash val="solid"/>
          </a:ln>
        </p:spPr>
        <p:txBody>
          <a:bodyPr/>
          <a:lstStyle/>
          <a:p>
            <a:endParaRPr lang="en-IN" sz="2400"/>
          </a:p>
        </p:txBody>
      </p:sp>
      <p:sp>
        <p:nvSpPr>
          <p:cNvPr id="13" name="Text 11"/>
          <p:cNvSpPr/>
          <p:nvPr/>
        </p:nvSpPr>
        <p:spPr>
          <a:xfrm>
            <a:off x="8046720" y="3535680"/>
            <a:ext cx="304800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ACT</a:t>
            </a:r>
            <a:endParaRPr lang="en-US" sz="1733" dirty="0"/>
          </a:p>
        </p:txBody>
      </p:sp>
      <p:sp>
        <p:nvSpPr>
          <p:cNvPr id="14" name="Text 12"/>
          <p:cNvSpPr/>
          <p:nvPr/>
        </p:nvSpPr>
        <p:spPr>
          <a:xfrm>
            <a:off x="8046720" y="3998976"/>
            <a:ext cx="3048000" cy="755904"/>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Agent code runs.</a:t>
            </a:r>
            <a:endParaRPr lang="en-US" sz="1267" dirty="0"/>
          </a:p>
          <a:p>
            <a:pPr algn="ctr"/>
            <a:r>
              <a:rPr lang="en-US" sz="1267" dirty="0">
                <a:solidFill>
                  <a:srgbClr val="1A1A2E"/>
                </a:solidFill>
                <a:latin typeface="Calibri" pitchFamily="34" charset="0"/>
                <a:ea typeface="Calibri" pitchFamily="34" charset="-122"/>
                <a:cs typeface="Calibri" pitchFamily="34" charset="-120"/>
              </a:rPr>
              <a:t>Calls MCP server.</a:t>
            </a:r>
            <a:endParaRPr lang="en-US" sz="1267" dirty="0"/>
          </a:p>
          <a:p>
            <a:pPr algn="ctr"/>
            <a:r>
              <a:rPr lang="en-US" sz="1267" dirty="0">
                <a:solidFill>
                  <a:srgbClr val="1A1A2E"/>
                </a:solidFill>
                <a:latin typeface="Calibri" pitchFamily="34" charset="0"/>
                <a:ea typeface="Calibri" pitchFamily="34" charset="-122"/>
                <a:cs typeface="Calibri" pitchFamily="34" charset="-120"/>
              </a:rPr>
              <a:t>Fetches resource or invokes tool.</a:t>
            </a:r>
            <a:endParaRPr lang="en-US" sz="1267" dirty="0"/>
          </a:p>
        </p:txBody>
      </p:sp>
      <p:sp>
        <p:nvSpPr>
          <p:cNvPr id="15" name="Shape 13"/>
          <p:cNvSpPr/>
          <p:nvPr/>
        </p:nvSpPr>
        <p:spPr>
          <a:xfrm>
            <a:off x="975360" y="3535680"/>
            <a:ext cx="3048000" cy="1219200"/>
          </a:xfrm>
          <a:prstGeom prst="rect">
            <a:avLst/>
          </a:prstGeom>
          <a:solidFill>
            <a:srgbClr val="FFFFFF"/>
          </a:solidFill>
          <a:ln w="31750">
            <a:solidFill>
              <a:srgbClr val="00897B"/>
            </a:solidFill>
            <a:prstDash val="solid"/>
          </a:ln>
          <a:effectLst>
            <a:outerShdw blurRad="63500" dist="25400" dir="8100000" algn="bl" rotWithShape="0">
              <a:srgbClr val="000000">
                <a:alpha val="10000"/>
              </a:srgbClr>
            </a:outerShdw>
          </a:effectLst>
        </p:spPr>
        <p:txBody>
          <a:bodyPr/>
          <a:lstStyle/>
          <a:p>
            <a:endParaRPr lang="en-IN" sz="2400"/>
          </a:p>
        </p:txBody>
      </p:sp>
      <p:sp>
        <p:nvSpPr>
          <p:cNvPr id="16" name="Shape 14"/>
          <p:cNvSpPr/>
          <p:nvPr/>
        </p:nvSpPr>
        <p:spPr>
          <a:xfrm>
            <a:off x="975360" y="3535680"/>
            <a:ext cx="3048000" cy="426720"/>
          </a:xfrm>
          <a:prstGeom prst="rect">
            <a:avLst/>
          </a:prstGeom>
          <a:solidFill>
            <a:srgbClr val="00897B"/>
          </a:solidFill>
          <a:ln w="12700">
            <a:solidFill>
              <a:srgbClr val="00897B"/>
            </a:solidFill>
            <a:prstDash val="solid"/>
          </a:ln>
        </p:spPr>
        <p:txBody>
          <a:bodyPr/>
          <a:lstStyle/>
          <a:p>
            <a:endParaRPr lang="en-IN" sz="2400"/>
          </a:p>
        </p:txBody>
      </p:sp>
      <p:sp>
        <p:nvSpPr>
          <p:cNvPr id="17" name="Text 15"/>
          <p:cNvSpPr/>
          <p:nvPr/>
        </p:nvSpPr>
        <p:spPr>
          <a:xfrm>
            <a:off x="975360" y="3535680"/>
            <a:ext cx="304800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OBSERVE</a:t>
            </a:r>
            <a:endParaRPr lang="en-US" sz="1733" dirty="0"/>
          </a:p>
        </p:txBody>
      </p:sp>
      <p:sp>
        <p:nvSpPr>
          <p:cNvPr id="18" name="Text 16"/>
          <p:cNvSpPr/>
          <p:nvPr/>
        </p:nvSpPr>
        <p:spPr>
          <a:xfrm>
            <a:off x="975360" y="3998976"/>
            <a:ext cx="3048000" cy="755904"/>
          </a:xfrm>
          <a:prstGeom prst="rect">
            <a:avLst/>
          </a:prstGeom>
          <a:noFill/>
          <a:ln/>
        </p:spPr>
        <p:txBody>
          <a:bodyPr wrap="square" lIns="0" tIns="0" rIns="0" bIns="0" rtlCol="0" anchor="ctr"/>
          <a:lstStyle/>
          <a:p>
            <a:pPr algn="ctr"/>
            <a:r>
              <a:rPr lang="en-US" sz="1267" dirty="0">
                <a:solidFill>
                  <a:srgbClr val="1A1A2E"/>
                </a:solidFill>
                <a:latin typeface="Calibri" pitchFamily="34" charset="0"/>
                <a:ea typeface="Calibri" pitchFamily="34" charset="-122"/>
                <a:cs typeface="Calibri" pitchFamily="34" charset="-120"/>
              </a:rPr>
              <a:t>Result appended to</a:t>
            </a:r>
            <a:endParaRPr lang="en-US" sz="1267" dirty="0"/>
          </a:p>
          <a:p>
            <a:pPr algn="ctr"/>
            <a:r>
              <a:rPr lang="en-US" sz="1267" dirty="0">
                <a:solidFill>
                  <a:srgbClr val="1A1A2E"/>
                </a:solidFill>
                <a:latin typeface="Calibri" pitchFamily="34" charset="0"/>
                <a:ea typeface="Calibri" pitchFamily="34" charset="-122"/>
                <a:cs typeface="Calibri" pitchFamily="34" charset="-120"/>
              </a:rPr>
              <a:t>conversation history.</a:t>
            </a:r>
            <a:endParaRPr lang="en-US" sz="1267" dirty="0"/>
          </a:p>
          <a:p>
            <a:pPr algn="ctr"/>
            <a:r>
              <a:rPr lang="en-US" sz="1267" dirty="0">
                <a:solidFill>
                  <a:srgbClr val="1A1A2E"/>
                </a:solidFill>
                <a:latin typeface="Calibri" pitchFamily="34" charset="0"/>
                <a:ea typeface="Calibri" pitchFamily="34" charset="-122"/>
                <a:cs typeface="Calibri" pitchFamily="34" charset="-120"/>
              </a:rPr>
              <a:t>LLM sees this next call.</a:t>
            </a:r>
            <a:endParaRPr lang="en-US" sz="1267" dirty="0"/>
          </a:p>
        </p:txBody>
      </p:sp>
      <p:sp>
        <p:nvSpPr>
          <p:cNvPr id="19" name="Text 17"/>
          <p:cNvSpPr/>
          <p:nvPr/>
        </p:nvSpPr>
        <p:spPr>
          <a:xfrm>
            <a:off x="7559040" y="2316480"/>
            <a:ext cx="487680" cy="365760"/>
          </a:xfrm>
          <a:prstGeom prst="rect">
            <a:avLst/>
          </a:prstGeom>
          <a:noFill/>
          <a:ln/>
        </p:spPr>
        <p:txBody>
          <a:bodyPr wrap="square" lIns="0" tIns="0" rIns="0" bIns="0" rtlCol="0" anchor="ctr"/>
          <a:lstStyle/>
          <a:p>
            <a:pPr algn="ctr"/>
            <a:r>
              <a:rPr lang="en-US" sz="1867" dirty="0">
                <a:solidFill>
                  <a:srgbClr val="7B5EA7"/>
                </a:solidFill>
                <a:latin typeface="Calibri" pitchFamily="34" charset="0"/>
                <a:ea typeface="Calibri" pitchFamily="34" charset="-122"/>
                <a:cs typeface="Calibri" pitchFamily="34" charset="-120"/>
              </a:rPr>
              <a:t>▶</a:t>
            </a:r>
            <a:endParaRPr lang="en-US" sz="1867" dirty="0"/>
          </a:p>
        </p:txBody>
      </p:sp>
      <p:sp>
        <p:nvSpPr>
          <p:cNvPr id="20" name="Text 18"/>
          <p:cNvSpPr/>
          <p:nvPr/>
        </p:nvSpPr>
        <p:spPr>
          <a:xfrm>
            <a:off x="9509760" y="4779264"/>
            <a:ext cx="487680" cy="365760"/>
          </a:xfrm>
          <a:prstGeom prst="rect">
            <a:avLst/>
          </a:prstGeom>
          <a:noFill/>
          <a:ln/>
        </p:spPr>
        <p:txBody>
          <a:bodyPr wrap="square" lIns="0" tIns="0" rIns="0" bIns="0" rtlCol="0" anchor="ctr"/>
          <a:lstStyle/>
          <a:p>
            <a:pPr algn="ctr"/>
            <a:r>
              <a:rPr lang="en-US" sz="1867" dirty="0">
                <a:solidFill>
                  <a:srgbClr val="0F6CBD"/>
                </a:solidFill>
                <a:latin typeface="Calibri" pitchFamily="34" charset="0"/>
                <a:ea typeface="Calibri" pitchFamily="34" charset="-122"/>
                <a:cs typeface="Calibri" pitchFamily="34" charset="-120"/>
              </a:rPr>
              <a:t>▼</a:t>
            </a:r>
            <a:endParaRPr lang="en-US" sz="1867" dirty="0"/>
          </a:p>
        </p:txBody>
      </p:sp>
      <p:sp>
        <p:nvSpPr>
          <p:cNvPr id="21" name="Text 19"/>
          <p:cNvSpPr/>
          <p:nvPr/>
        </p:nvSpPr>
        <p:spPr>
          <a:xfrm>
            <a:off x="4023360" y="3596640"/>
            <a:ext cx="487680" cy="365760"/>
          </a:xfrm>
          <a:prstGeom prst="rect">
            <a:avLst/>
          </a:prstGeom>
          <a:noFill/>
          <a:ln/>
        </p:spPr>
        <p:txBody>
          <a:bodyPr wrap="square" lIns="0" tIns="0" rIns="0" bIns="0" rtlCol="0" anchor="ctr"/>
          <a:lstStyle/>
          <a:p>
            <a:pPr algn="ctr"/>
            <a:r>
              <a:rPr lang="en-US" sz="1867" dirty="0">
                <a:solidFill>
                  <a:srgbClr val="00897B"/>
                </a:solidFill>
                <a:latin typeface="Calibri" pitchFamily="34" charset="0"/>
                <a:ea typeface="Calibri" pitchFamily="34" charset="-122"/>
                <a:cs typeface="Calibri" pitchFamily="34" charset="-120"/>
              </a:rPr>
              <a:t>◀</a:t>
            </a:r>
            <a:endParaRPr lang="en-US" sz="1867" dirty="0"/>
          </a:p>
        </p:txBody>
      </p:sp>
      <p:sp>
        <p:nvSpPr>
          <p:cNvPr id="22" name="Text 20"/>
          <p:cNvSpPr/>
          <p:nvPr/>
        </p:nvSpPr>
        <p:spPr>
          <a:xfrm>
            <a:off x="4572000" y="3108960"/>
            <a:ext cx="3048000" cy="268224"/>
          </a:xfrm>
          <a:prstGeom prst="rect">
            <a:avLst/>
          </a:prstGeom>
          <a:noFill/>
          <a:ln/>
        </p:spPr>
        <p:txBody>
          <a:bodyPr wrap="square" lIns="0" tIns="0" rIns="0" bIns="0" rtlCol="0" anchor="ctr"/>
          <a:lstStyle/>
          <a:p>
            <a:pPr algn="ctr"/>
            <a:r>
              <a:rPr lang="en-US" sz="1133" i="1" dirty="0">
                <a:solidFill>
                  <a:srgbClr val="7B5EA7"/>
                </a:solidFill>
                <a:latin typeface="Calibri" pitchFamily="34" charset="0"/>
                <a:ea typeface="Calibri" pitchFamily="34" charset="-122"/>
                <a:cs typeface="Calibri" pitchFamily="34" charset="-120"/>
              </a:rPr>
              <a:t>LLM's job</a:t>
            </a:r>
            <a:endParaRPr lang="en-US" sz="1133" dirty="0"/>
          </a:p>
        </p:txBody>
      </p:sp>
      <p:sp>
        <p:nvSpPr>
          <p:cNvPr id="23" name="Text 21"/>
          <p:cNvSpPr/>
          <p:nvPr/>
        </p:nvSpPr>
        <p:spPr>
          <a:xfrm>
            <a:off x="8046720" y="4791456"/>
            <a:ext cx="3048000" cy="268224"/>
          </a:xfrm>
          <a:prstGeom prst="rect">
            <a:avLst/>
          </a:prstGeom>
          <a:noFill/>
          <a:ln/>
        </p:spPr>
        <p:txBody>
          <a:bodyPr wrap="square" lIns="0" tIns="0" rIns="0" bIns="0" rtlCol="0" anchor="ctr"/>
          <a:lstStyle/>
          <a:p>
            <a:pPr algn="ctr"/>
            <a:r>
              <a:rPr lang="en-US" sz="1133" i="1" dirty="0">
                <a:solidFill>
                  <a:srgbClr val="0F6CBD"/>
                </a:solidFill>
                <a:latin typeface="Calibri" pitchFamily="34" charset="0"/>
                <a:ea typeface="Calibri" pitchFamily="34" charset="-122"/>
                <a:cs typeface="Calibri" pitchFamily="34" charset="-120"/>
              </a:rPr>
              <a:t>Agent code's job</a:t>
            </a:r>
            <a:endParaRPr lang="en-US" sz="1133" dirty="0"/>
          </a:p>
        </p:txBody>
      </p:sp>
      <p:sp>
        <p:nvSpPr>
          <p:cNvPr id="24" name="Text 22"/>
          <p:cNvSpPr/>
          <p:nvPr/>
        </p:nvSpPr>
        <p:spPr>
          <a:xfrm>
            <a:off x="975360" y="4791456"/>
            <a:ext cx="3048000" cy="268224"/>
          </a:xfrm>
          <a:prstGeom prst="rect">
            <a:avLst/>
          </a:prstGeom>
          <a:noFill/>
          <a:ln/>
        </p:spPr>
        <p:txBody>
          <a:bodyPr wrap="square" lIns="0" tIns="0" rIns="0" bIns="0" rtlCol="0" anchor="ctr"/>
          <a:lstStyle/>
          <a:p>
            <a:pPr algn="ctr"/>
            <a:r>
              <a:rPr lang="en-US" sz="1133" i="1" dirty="0">
                <a:solidFill>
                  <a:srgbClr val="00897B"/>
                </a:solidFill>
                <a:latin typeface="Calibri" pitchFamily="34" charset="0"/>
                <a:ea typeface="Calibri" pitchFamily="34" charset="-122"/>
                <a:cs typeface="Calibri" pitchFamily="34" charset="-120"/>
              </a:rPr>
              <a:t>Memory mechanism</a:t>
            </a:r>
            <a:endParaRPr lang="en-US" sz="1133" dirty="0"/>
          </a:p>
        </p:txBody>
      </p:sp>
      <p:sp>
        <p:nvSpPr>
          <p:cNvPr id="25" name="Text 23"/>
          <p:cNvSpPr/>
          <p:nvPr/>
        </p:nvSpPr>
        <p:spPr>
          <a:xfrm>
            <a:off x="609600" y="5218176"/>
            <a:ext cx="10972800" cy="341376"/>
          </a:xfrm>
          <a:prstGeom prst="rect">
            <a:avLst/>
          </a:prstGeom>
          <a:noFill/>
          <a:ln/>
        </p:spPr>
        <p:txBody>
          <a:bodyPr wrap="square" lIns="0" tIns="0" rIns="0" bIns="0" rtlCol="0" anchor="ctr"/>
          <a:lstStyle/>
          <a:p>
            <a:pPr algn="ctr"/>
            <a:r>
              <a:rPr lang="en-US" sz="1333" i="1" dirty="0">
                <a:solidFill>
                  <a:srgbClr val="6B7280"/>
                </a:solidFill>
                <a:latin typeface="Calibri" pitchFamily="34" charset="0"/>
                <a:ea typeface="Calibri" pitchFamily="34" charset="-122"/>
                <a:cs typeface="Calibri" pitchFamily="34" charset="-120"/>
              </a:rPr>
              <a:t>EXIT: When THINK produces a final answer instead of an action → return to user</a:t>
            </a:r>
            <a:endParaRPr lang="en-US" sz="1333" dirty="0"/>
          </a:p>
        </p:txBody>
      </p:sp>
      <p:sp>
        <p:nvSpPr>
          <p:cNvPr id="26" name="Shape 24"/>
          <p:cNvSpPr/>
          <p:nvPr/>
        </p:nvSpPr>
        <p:spPr>
          <a:xfrm>
            <a:off x="609600" y="5632704"/>
            <a:ext cx="10972800" cy="670560"/>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7" name="Shape 25"/>
          <p:cNvSpPr/>
          <p:nvPr/>
        </p:nvSpPr>
        <p:spPr>
          <a:xfrm>
            <a:off x="609600" y="5632704"/>
            <a:ext cx="73152" cy="670560"/>
          </a:xfrm>
          <a:prstGeom prst="rect">
            <a:avLst/>
          </a:prstGeom>
          <a:solidFill>
            <a:srgbClr val="1A1A2E"/>
          </a:solidFill>
          <a:ln w="12700">
            <a:solidFill>
              <a:srgbClr val="1A1A2E"/>
            </a:solidFill>
            <a:prstDash val="solid"/>
          </a:ln>
        </p:spPr>
        <p:txBody>
          <a:bodyPr/>
          <a:lstStyle/>
          <a:p>
            <a:endParaRPr lang="en-IN" sz="2400"/>
          </a:p>
        </p:txBody>
      </p:sp>
      <p:sp>
        <p:nvSpPr>
          <p:cNvPr id="28" name="Text 26"/>
          <p:cNvSpPr/>
          <p:nvPr/>
        </p:nvSpPr>
        <p:spPr>
          <a:xfrm>
            <a:off x="853440" y="5681472"/>
            <a:ext cx="2438400" cy="268224"/>
          </a:xfrm>
          <a:prstGeom prst="rect">
            <a:avLst/>
          </a:prstGeom>
          <a:noFill/>
          <a:ln/>
        </p:spPr>
        <p:txBody>
          <a:bodyPr wrap="square" lIns="0" tIns="0" rIns="0" bIns="0" rtlCol="0" anchor="ctr"/>
          <a:lstStyle/>
          <a:p>
            <a:r>
              <a:rPr lang="en-US" sz="1267" b="1" dirty="0">
                <a:solidFill>
                  <a:srgbClr val="1A1A2E"/>
                </a:solidFill>
                <a:latin typeface="Calibri" pitchFamily="34" charset="0"/>
                <a:ea typeface="Calibri" pitchFamily="34" charset="-122"/>
                <a:cs typeface="Calibri" pitchFamily="34" charset="-120"/>
              </a:rPr>
              <a:t>Zerodha example trace:</a:t>
            </a:r>
            <a:endParaRPr lang="en-US" sz="1267" dirty="0"/>
          </a:p>
        </p:txBody>
      </p:sp>
      <p:sp>
        <p:nvSpPr>
          <p:cNvPr id="29" name="Text 27"/>
          <p:cNvSpPr/>
          <p:nvPr/>
        </p:nvSpPr>
        <p:spPr>
          <a:xfrm>
            <a:off x="853440" y="5949696"/>
            <a:ext cx="10485120" cy="268224"/>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Think → fetch portfolio  |  Think → fetch market data  |  Think → fetch margin  |  Think → recommend order  |  Think → done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How Many LLM Calls? The Honest Accounting</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38656"/>
            <a:ext cx="10972800" cy="341376"/>
          </a:xfrm>
          <a:prstGeom prst="rect">
            <a:avLst/>
          </a:prstGeom>
          <a:noFill/>
          <a:ln/>
        </p:spPr>
        <p:txBody>
          <a:bodyPr wrap="square" lIns="0" tIns="0" rIns="0" bIns="0" rtlCol="0" anchor="ctr"/>
          <a:lstStyle/>
          <a:p>
            <a:r>
              <a:rPr lang="en-US" sz="1467" i="1" dirty="0">
                <a:solidFill>
                  <a:srgbClr val="6B7280"/>
                </a:solidFill>
                <a:latin typeface="Calibri" pitchFamily="34" charset="0"/>
                <a:ea typeface="Calibri" pitchFamily="34" charset="-122"/>
                <a:cs typeface="Calibri" pitchFamily="34" charset="-120"/>
              </a:rPr>
              <a:t>Every THINK step in the ReAct loop = one LLM call. Here's what that means for our example:</a:t>
            </a:r>
            <a:endParaRPr lang="en-US" sz="1467" dirty="0"/>
          </a:p>
        </p:txBody>
      </p:sp>
      <p:sp>
        <p:nvSpPr>
          <p:cNvPr id="7" name="Shape 5"/>
          <p:cNvSpPr/>
          <p:nvPr/>
        </p:nvSpPr>
        <p:spPr>
          <a:xfrm>
            <a:off x="609600" y="1926336"/>
            <a:ext cx="10972800" cy="585216"/>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Shape 6"/>
          <p:cNvSpPr/>
          <p:nvPr/>
        </p:nvSpPr>
        <p:spPr>
          <a:xfrm>
            <a:off x="609600" y="1926336"/>
            <a:ext cx="73152" cy="585216"/>
          </a:xfrm>
          <a:prstGeom prst="rect">
            <a:avLst/>
          </a:prstGeom>
          <a:solidFill>
            <a:srgbClr val="7B5EA7"/>
          </a:solidFill>
          <a:ln w="12700">
            <a:solidFill>
              <a:srgbClr val="7B5EA7"/>
            </a:solidFill>
            <a:prstDash val="solid"/>
          </a:ln>
        </p:spPr>
        <p:txBody>
          <a:bodyPr/>
          <a:lstStyle/>
          <a:p>
            <a:endParaRPr lang="en-IN" sz="2400"/>
          </a:p>
        </p:txBody>
      </p:sp>
      <p:sp>
        <p:nvSpPr>
          <p:cNvPr id="9" name="Shape 7"/>
          <p:cNvSpPr/>
          <p:nvPr/>
        </p:nvSpPr>
        <p:spPr>
          <a:xfrm>
            <a:off x="792480" y="2048256"/>
            <a:ext cx="877824" cy="341376"/>
          </a:xfrm>
          <a:prstGeom prst="rect">
            <a:avLst/>
          </a:prstGeom>
          <a:solidFill>
            <a:srgbClr val="7B5EA7"/>
          </a:solidFill>
          <a:ln w="12700">
            <a:solidFill>
              <a:srgbClr val="7B5EA7"/>
            </a:solidFill>
            <a:prstDash val="solid"/>
          </a:ln>
        </p:spPr>
        <p:txBody>
          <a:bodyPr/>
          <a:lstStyle/>
          <a:p>
            <a:endParaRPr lang="en-IN" sz="2400"/>
          </a:p>
        </p:txBody>
      </p:sp>
      <p:sp>
        <p:nvSpPr>
          <p:cNvPr id="10" name="Text 8"/>
          <p:cNvSpPr/>
          <p:nvPr/>
        </p:nvSpPr>
        <p:spPr>
          <a:xfrm>
            <a:off x="792480" y="2048256"/>
            <a:ext cx="877824" cy="341376"/>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Call 1</a:t>
            </a:r>
            <a:endParaRPr lang="en-US" sz="1133" dirty="0"/>
          </a:p>
        </p:txBody>
      </p:sp>
      <p:sp>
        <p:nvSpPr>
          <p:cNvPr id="11" name="Text 9"/>
          <p:cNvSpPr/>
          <p:nvPr/>
        </p:nvSpPr>
        <p:spPr>
          <a:xfrm>
            <a:off x="1767840" y="1987296"/>
            <a:ext cx="2804160" cy="268224"/>
          </a:xfrm>
          <a:prstGeom prst="rect">
            <a:avLst/>
          </a:prstGeom>
          <a:noFill/>
          <a:ln/>
        </p:spPr>
        <p:txBody>
          <a:bodyPr wrap="square" lIns="0" tIns="0" rIns="0" bIns="0" rtlCol="0" anchor="ctr"/>
          <a:lstStyle/>
          <a:p>
            <a:r>
              <a:rPr lang="en-US" sz="1333" b="1" dirty="0">
                <a:solidFill>
                  <a:srgbClr val="1A1A2E"/>
                </a:solidFill>
                <a:latin typeface="Calibri" pitchFamily="34" charset="0"/>
                <a:ea typeface="Calibri" pitchFamily="34" charset="-122"/>
                <a:cs typeface="Calibri" pitchFamily="34" charset="-120"/>
              </a:rPr>
              <a:t>Planning</a:t>
            </a:r>
            <a:endParaRPr lang="en-US" sz="1333" dirty="0"/>
          </a:p>
        </p:txBody>
      </p:sp>
      <p:sp>
        <p:nvSpPr>
          <p:cNvPr id="12" name="Text 10"/>
          <p:cNvSpPr/>
          <p:nvPr/>
        </p:nvSpPr>
        <p:spPr>
          <a:xfrm>
            <a:off x="1767840" y="2255520"/>
            <a:ext cx="9631680" cy="219456"/>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User question + capabilities list → LLM decides: fetch portfolio, market data, margin</a:t>
            </a:r>
            <a:endParaRPr lang="en-US" sz="1200" dirty="0"/>
          </a:p>
        </p:txBody>
      </p:sp>
      <p:sp>
        <p:nvSpPr>
          <p:cNvPr id="13" name="Shape 11"/>
          <p:cNvSpPr/>
          <p:nvPr/>
        </p:nvSpPr>
        <p:spPr>
          <a:xfrm>
            <a:off x="609600" y="2584704"/>
            <a:ext cx="10972800" cy="585216"/>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4" name="Shape 12"/>
          <p:cNvSpPr/>
          <p:nvPr/>
        </p:nvSpPr>
        <p:spPr>
          <a:xfrm>
            <a:off x="609600" y="2584704"/>
            <a:ext cx="73152" cy="585216"/>
          </a:xfrm>
          <a:prstGeom prst="rect">
            <a:avLst/>
          </a:prstGeom>
          <a:solidFill>
            <a:srgbClr val="0F6CBD"/>
          </a:solidFill>
          <a:ln w="12700">
            <a:solidFill>
              <a:srgbClr val="0F6CBD"/>
            </a:solidFill>
            <a:prstDash val="solid"/>
          </a:ln>
        </p:spPr>
        <p:txBody>
          <a:bodyPr/>
          <a:lstStyle/>
          <a:p>
            <a:endParaRPr lang="en-IN" sz="2400"/>
          </a:p>
        </p:txBody>
      </p:sp>
      <p:sp>
        <p:nvSpPr>
          <p:cNvPr id="15" name="Shape 13"/>
          <p:cNvSpPr/>
          <p:nvPr/>
        </p:nvSpPr>
        <p:spPr>
          <a:xfrm>
            <a:off x="792480" y="2706624"/>
            <a:ext cx="877824" cy="341376"/>
          </a:xfrm>
          <a:prstGeom prst="rect">
            <a:avLst/>
          </a:prstGeom>
          <a:solidFill>
            <a:srgbClr val="0F6CBD"/>
          </a:solidFill>
          <a:ln w="12700">
            <a:solidFill>
              <a:srgbClr val="0F6CBD"/>
            </a:solidFill>
            <a:prstDash val="solid"/>
          </a:ln>
        </p:spPr>
        <p:txBody>
          <a:bodyPr/>
          <a:lstStyle/>
          <a:p>
            <a:endParaRPr lang="en-IN" sz="2400"/>
          </a:p>
        </p:txBody>
      </p:sp>
      <p:sp>
        <p:nvSpPr>
          <p:cNvPr id="16" name="Text 14"/>
          <p:cNvSpPr/>
          <p:nvPr/>
        </p:nvSpPr>
        <p:spPr>
          <a:xfrm>
            <a:off x="792480" y="2706624"/>
            <a:ext cx="877824" cy="341376"/>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Call 2</a:t>
            </a:r>
            <a:endParaRPr lang="en-US" sz="1133" dirty="0"/>
          </a:p>
        </p:txBody>
      </p:sp>
      <p:sp>
        <p:nvSpPr>
          <p:cNvPr id="17" name="Text 15"/>
          <p:cNvSpPr/>
          <p:nvPr/>
        </p:nvSpPr>
        <p:spPr>
          <a:xfrm>
            <a:off x="1767840" y="2645664"/>
            <a:ext cx="2804160" cy="268224"/>
          </a:xfrm>
          <a:prstGeom prst="rect">
            <a:avLst/>
          </a:prstGeom>
          <a:noFill/>
          <a:ln/>
        </p:spPr>
        <p:txBody>
          <a:bodyPr wrap="square" lIns="0" tIns="0" rIns="0" bIns="0" rtlCol="0" anchor="ctr"/>
          <a:lstStyle/>
          <a:p>
            <a:r>
              <a:rPr lang="en-US" sz="1333" b="1" dirty="0">
                <a:solidFill>
                  <a:srgbClr val="1A1A2E"/>
                </a:solidFill>
                <a:latin typeface="Calibri" pitchFamily="34" charset="0"/>
                <a:ea typeface="Calibri" pitchFamily="34" charset="-122"/>
                <a:cs typeface="Calibri" pitchFamily="34" charset="-120"/>
              </a:rPr>
              <a:t>After portfolio fetch</a:t>
            </a:r>
            <a:endParaRPr lang="en-US" sz="1333" dirty="0"/>
          </a:p>
        </p:txBody>
      </p:sp>
      <p:sp>
        <p:nvSpPr>
          <p:cNvPr id="18" name="Text 16"/>
          <p:cNvSpPr/>
          <p:nvPr/>
        </p:nvSpPr>
        <p:spPr>
          <a:xfrm>
            <a:off x="1767840" y="2913888"/>
            <a:ext cx="9631680" cy="219456"/>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History + portfolio result → LLM decides: still need market data</a:t>
            </a:r>
            <a:endParaRPr lang="en-US" sz="1200" dirty="0"/>
          </a:p>
        </p:txBody>
      </p:sp>
      <p:sp>
        <p:nvSpPr>
          <p:cNvPr id="19" name="Shape 17"/>
          <p:cNvSpPr/>
          <p:nvPr/>
        </p:nvSpPr>
        <p:spPr>
          <a:xfrm>
            <a:off x="609600" y="3243072"/>
            <a:ext cx="10972800" cy="585216"/>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20" name="Shape 18"/>
          <p:cNvSpPr/>
          <p:nvPr/>
        </p:nvSpPr>
        <p:spPr>
          <a:xfrm>
            <a:off x="609600" y="3243072"/>
            <a:ext cx="73152" cy="585216"/>
          </a:xfrm>
          <a:prstGeom prst="rect">
            <a:avLst/>
          </a:prstGeom>
          <a:solidFill>
            <a:srgbClr val="0F6CBD"/>
          </a:solidFill>
          <a:ln w="12700">
            <a:solidFill>
              <a:srgbClr val="0F6CBD"/>
            </a:solidFill>
            <a:prstDash val="solid"/>
          </a:ln>
        </p:spPr>
        <p:txBody>
          <a:bodyPr/>
          <a:lstStyle/>
          <a:p>
            <a:endParaRPr lang="en-IN" sz="2400"/>
          </a:p>
        </p:txBody>
      </p:sp>
      <p:sp>
        <p:nvSpPr>
          <p:cNvPr id="21" name="Shape 19"/>
          <p:cNvSpPr/>
          <p:nvPr/>
        </p:nvSpPr>
        <p:spPr>
          <a:xfrm>
            <a:off x="792480" y="3364992"/>
            <a:ext cx="877824" cy="341376"/>
          </a:xfrm>
          <a:prstGeom prst="rect">
            <a:avLst/>
          </a:prstGeom>
          <a:solidFill>
            <a:srgbClr val="0F6CBD"/>
          </a:solidFill>
          <a:ln w="12700">
            <a:solidFill>
              <a:srgbClr val="0F6CBD"/>
            </a:solidFill>
            <a:prstDash val="solid"/>
          </a:ln>
        </p:spPr>
        <p:txBody>
          <a:bodyPr/>
          <a:lstStyle/>
          <a:p>
            <a:endParaRPr lang="en-IN" sz="2400"/>
          </a:p>
        </p:txBody>
      </p:sp>
      <p:sp>
        <p:nvSpPr>
          <p:cNvPr id="22" name="Text 20"/>
          <p:cNvSpPr/>
          <p:nvPr/>
        </p:nvSpPr>
        <p:spPr>
          <a:xfrm>
            <a:off x="792480" y="3364992"/>
            <a:ext cx="877824" cy="341376"/>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Call 3</a:t>
            </a:r>
            <a:endParaRPr lang="en-US" sz="1133" dirty="0"/>
          </a:p>
        </p:txBody>
      </p:sp>
      <p:sp>
        <p:nvSpPr>
          <p:cNvPr id="23" name="Text 21"/>
          <p:cNvSpPr/>
          <p:nvPr/>
        </p:nvSpPr>
        <p:spPr>
          <a:xfrm>
            <a:off x="1767840" y="3304032"/>
            <a:ext cx="2804160" cy="268224"/>
          </a:xfrm>
          <a:prstGeom prst="rect">
            <a:avLst/>
          </a:prstGeom>
          <a:noFill/>
          <a:ln/>
        </p:spPr>
        <p:txBody>
          <a:bodyPr wrap="square" lIns="0" tIns="0" rIns="0" bIns="0" rtlCol="0" anchor="ctr"/>
          <a:lstStyle/>
          <a:p>
            <a:r>
              <a:rPr lang="en-US" sz="1333" b="1" dirty="0">
                <a:solidFill>
                  <a:srgbClr val="1A1A2E"/>
                </a:solidFill>
                <a:latin typeface="Calibri" pitchFamily="34" charset="0"/>
                <a:ea typeface="Calibri" pitchFamily="34" charset="-122"/>
                <a:cs typeface="Calibri" pitchFamily="34" charset="-120"/>
              </a:rPr>
              <a:t>After market data fetch</a:t>
            </a:r>
            <a:endParaRPr lang="en-US" sz="1333" dirty="0"/>
          </a:p>
        </p:txBody>
      </p:sp>
      <p:sp>
        <p:nvSpPr>
          <p:cNvPr id="24" name="Text 22"/>
          <p:cNvSpPr/>
          <p:nvPr/>
        </p:nvSpPr>
        <p:spPr>
          <a:xfrm>
            <a:off x="1767840" y="3572256"/>
            <a:ext cx="9631680" cy="219456"/>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History + market data → LLM decides: still need margin</a:t>
            </a:r>
            <a:endParaRPr lang="en-US" sz="1200" dirty="0"/>
          </a:p>
        </p:txBody>
      </p:sp>
      <p:sp>
        <p:nvSpPr>
          <p:cNvPr id="25" name="Shape 23"/>
          <p:cNvSpPr/>
          <p:nvPr/>
        </p:nvSpPr>
        <p:spPr>
          <a:xfrm>
            <a:off x="609600" y="3901440"/>
            <a:ext cx="10972800" cy="585216"/>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6" name="Shape 24"/>
          <p:cNvSpPr/>
          <p:nvPr/>
        </p:nvSpPr>
        <p:spPr>
          <a:xfrm>
            <a:off x="609600" y="3901440"/>
            <a:ext cx="73152" cy="585216"/>
          </a:xfrm>
          <a:prstGeom prst="rect">
            <a:avLst/>
          </a:prstGeom>
          <a:solidFill>
            <a:srgbClr val="00897B"/>
          </a:solidFill>
          <a:ln w="12700">
            <a:solidFill>
              <a:srgbClr val="00897B"/>
            </a:solidFill>
            <a:prstDash val="solid"/>
          </a:ln>
        </p:spPr>
        <p:txBody>
          <a:bodyPr/>
          <a:lstStyle/>
          <a:p>
            <a:endParaRPr lang="en-IN" sz="2400"/>
          </a:p>
        </p:txBody>
      </p:sp>
      <p:sp>
        <p:nvSpPr>
          <p:cNvPr id="27" name="Shape 25"/>
          <p:cNvSpPr/>
          <p:nvPr/>
        </p:nvSpPr>
        <p:spPr>
          <a:xfrm>
            <a:off x="792480" y="4023360"/>
            <a:ext cx="877824" cy="341376"/>
          </a:xfrm>
          <a:prstGeom prst="rect">
            <a:avLst/>
          </a:prstGeom>
          <a:solidFill>
            <a:srgbClr val="00897B"/>
          </a:solidFill>
          <a:ln w="12700">
            <a:solidFill>
              <a:srgbClr val="00897B"/>
            </a:solidFill>
            <a:prstDash val="solid"/>
          </a:ln>
        </p:spPr>
        <p:txBody>
          <a:bodyPr/>
          <a:lstStyle/>
          <a:p>
            <a:endParaRPr lang="en-IN" sz="2400"/>
          </a:p>
        </p:txBody>
      </p:sp>
      <p:sp>
        <p:nvSpPr>
          <p:cNvPr id="28" name="Text 26"/>
          <p:cNvSpPr/>
          <p:nvPr/>
        </p:nvSpPr>
        <p:spPr>
          <a:xfrm>
            <a:off x="792480" y="4023360"/>
            <a:ext cx="877824" cy="341376"/>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Call 4</a:t>
            </a:r>
            <a:endParaRPr lang="en-US" sz="1133" dirty="0"/>
          </a:p>
        </p:txBody>
      </p:sp>
      <p:sp>
        <p:nvSpPr>
          <p:cNvPr id="29" name="Text 27"/>
          <p:cNvSpPr/>
          <p:nvPr/>
        </p:nvSpPr>
        <p:spPr>
          <a:xfrm>
            <a:off x="1767840" y="3962400"/>
            <a:ext cx="2804160" cy="268224"/>
          </a:xfrm>
          <a:prstGeom prst="rect">
            <a:avLst/>
          </a:prstGeom>
          <a:noFill/>
          <a:ln/>
        </p:spPr>
        <p:txBody>
          <a:bodyPr wrap="square" lIns="0" tIns="0" rIns="0" bIns="0" rtlCol="0" anchor="ctr"/>
          <a:lstStyle/>
          <a:p>
            <a:r>
              <a:rPr lang="en-US" sz="1333" b="1" dirty="0">
                <a:solidFill>
                  <a:srgbClr val="1A1A2E"/>
                </a:solidFill>
                <a:latin typeface="Calibri" pitchFamily="34" charset="0"/>
                <a:ea typeface="Calibri" pitchFamily="34" charset="-122"/>
                <a:cs typeface="Calibri" pitchFamily="34" charset="-120"/>
              </a:rPr>
              <a:t>After margin fetch</a:t>
            </a:r>
            <a:endParaRPr lang="en-US" sz="1333" dirty="0"/>
          </a:p>
        </p:txBody>
      </p:sp>
      <p:sp>
        <p:nvSpPr>
          <p:cNvPr id="30" name="Text 28"/>
          <p:cNvSpPr/>
          <p:nvPr/>
        </p:nvSpPr>
        <p:spPr>
          <a:xfrm>
            <a:off x="1767840" y="4230624"/>
            <a:ext cx="9631680" cy="219456"/>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History + all data → LLM decides: enough, here is my recommendation</a:t>
            </a:r>
            <a:endParaRPr lang="en-US" sz="1200" dirty="0"/>
          </a:p>
        </p:txBody>
      </p:sp>
      <p:sp>
        <p:nvSpPr>
          <p:cNvPr id="31" name="Shape 29"/>
          <p:cNvSpPr/>
          <p:nvPr/>
        </p:nvSpPr>
        <p:spPr>
          <a:xfrm>
            <a:off x="609600" y="4559808"/>
            <a:ext cx="10972800" cy="585216"/>
          </a:xfrm>
          <a:prstGeom prst="rect">
            <a:avLst/>
          </a:prstGeom>
          <a:solidFill>
            <a:srgbClr val="F9F9F9"/>
          </a:solidFill>
          <a:ln w="12700">
            <a:solidFill>
              <a:srgbClr val="6B7280"/>
            </a:solidFill>
            <a:prstDash val="solid"/>
          </a:ln>
          <a:effectLst>
            <a:outerShdw blurRad="50800" dist="12700" dir="8100000" algn="bl" rotWithShape="0">
              <a:srgbClr val="000000">
                <a:alpha val="7000"/>
              </a:srgbClr>
            </a:outerShdw>
          </a:effectLst>
        </p:spPr>
        <p:txBody>
          <a:bodyPr/>
          <a:lstStyle/>
          <a:p>
            <a:endParaRPr lang="en-IN" sz="2400"/>
          </a:p>
        </p:txBody>
      </p:sp>
      <p:sp>
        <p:nvSpPr>
          <p:cNvPr id="32" name="Shape 30"/>
          <p:cNvSpPr/>
          <p:nvPr/>
        </p:nvSpPr>
        <p:spPr>
          <a:xfrm>
            <a:off x="609600" y="4559808"/>
            <a:ext cx="73152" cy="585216"/>
          </a:xfrm>
          <a:prstGeom prst="rect">
            <a:avLst/>
          </a:prstGeom>
          <a:solidFill>
            <a:srgbClr val="6B7280"/>
          </a:solidFill>
          <a:ln w="12700">
            <a:solidFill>
              <a:srgbClr val="6B7280"/>
            </a:solidFill>
            <a:prstDash val="solid"/>
          </a:ln>
        </p:spPr>
        <p:txBody>
          <a:bodyPr/>
          <a:lstStyle/>
          <a:p>
            <a:endParaRPr lang="en-IN" sz="2400"/>
          </a:p>
        </p:txBody>
      </p:sp>
      <p:sp>
        <p:nvSpPr>
          <p:cNvPr id="33" name="Shape 31"/>
          <p:cNvSpPr/>
          <p:nvPr/>
        </p:nvSpPr>
        <p:spPr>
          <a:xfrm>
            <a:off x="792480" y="4681728"/>
            <a:ext cx="877824" cy="341376"/>
          </a:xfrm>
          <a:prstGeom prst="rect">
            <a:avLst/>
          </a:prstGeom>
          <a:solidFill>
            <a:srgbClr val="6B7280"/>
          </a:solidFill>
          <a:ln w="12700">
            <a:solidFill>
              <a:srgbClr val="6B7280"/>
            </a:solidFill>
            <a:prstDash val="solid"/>
          </a:ln>
        </p:spPr>
        <p:txBody>
          <a:bodyPr/>
          <a:lstStyle/>
          <a:p>
            <a:endParaRPr lang="en-IN" sz="2400"/>
          </a:p>
        </p:txBody>
      </p:sp>
      <p:sp>
        <p:nvSpPr>
          <p:cNvPr id="34" name="Text 32"/>
          <p:cNvSpPr/>
          <p:nvPr/>
        </p:nvSpPr>
        <p:spPr>
          <a:xfrm>
            <a:off x="792480" y="4681728"/>
            <a:ext cx="877824" cy="341376"/>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Call 5*</a:t>
            </a:r>
            <a:endParaRPr lang="en-US" sz="1133" dirty="0"/>
          </a:p>
        </p:txBody>
      </p:sp>
      <p:sp>
        <p:nvSpPr>
          <p:cNvPr id="35" name="Text 33"/>
          <p:cNvSpPr/>
          <p:nvPr/>
        </p:nvSpPr>
        <p:spPr>
          <a:xfrm>
            <a:off x="1767840" y="4620768"/>
            <a:ext cx="2804160" cy="268224"/>
          </a:xfrm>
          <a:prstGeom prst="rect">
            <a:avLst/>
          </a:prstGeom>
          <a:noFill/>
          <a:ln/>
        </p:spPr>
        <p:txBody>
          <a:bodyPr wrap="square" lIns="0" tIns="0" rIns="0" bIns="0" rtlCol="0" anchor="ctr"/>
          <a:lstStyle/>
          <a:p>
            <a:r>
              <a:rPr lang="en-US" sz="1333" b="1" dirty="0">
                <a:solidFill>
                  <a:srgbClr val="6B7280"/>
                </a:solidFill>
                <a:latin typeface="Calibri" pitchFamily="34" charset="0"/>
                <a:ea typeface="Calibri" pitchFamily="34" charset="-122"/>
                <a:cs typeface="Calibri" pitchFamily="34" charset="-120"/>
              </a:rPr>
              <a:t>Tool confirmation (optional)</a:t>
            </a:r>
            <a:endParaRPr lang="en-US" sz="1333" dirty="0"/>
          </a:p>
        </p:txBody>
      </p:sp>
      <p:sp>
        <p:nvSpPr>
          <p:cNvPr id="36" name="Text 34"/>
          <p:cNvSpPr/>
          <p:nvPr/>
        </p:nvSpPr>
        <p:spPr>
          <a:xfrm>
            <a:off x="1767840" y="4888992"/>
            <a:ext cx="9631680" cy="219456"/>
          </a:xfrm>
          <a:prstGeom prst="rect">
            <a:avLst/>
          </a:prstGeom>
          <a:noFill/>
          <a:ln/>
        </p:spPr>
        <p:txBody>
          <a:bodyPr wrap="square" lIns="0" tIns="0" rIns="0" bIns="0" rtlCol="0" anchor="ctr"/>
          <a:lstStyle/>
          <a:p>
            <a:r>
              <a:rPr lang="en-US" sz="1200" dirty="0">
                <a:solidFill>
                  <a:srgbClr val="6B7280"/>
                </a:solidFill>
                <a:latin typeface="Calibri" pitchFamily="34" charset="0"/>
                <a:ea typeface="Calibri" pitchFamily="34" charset="-122"/>
                <a:cs typeface="Calibri" pitchFamily="34" charset="-120"/>
              </a:rPr>
              <a:t>If agent asks LLM to confirm before executing — one more call before place_order fires</a:t>
            </a:r>
            <a:endParaRPr lang="en-US" sz="1200" dirty="0"/>
          </a:p>
        </p:txBody>
      </p:sp>
      <p:sp>
        <p:nvSpPr>
          <p:cNvPr id="37" name="Shape 35"/>
          <p:cNvSpPr/>
          <p:nvPr/>
        </p:nvSpPr>
        <p:spPr>
          <a:xfrm>
            <a:off x="609600" y="5388864"/>
            <a:ext cx="10972800" cy="877824"/>
          </a:xfrm>
          <a:prstGeom prst="rect">
            <a:avLst/>
          </a:prstGeom>
          <a:solidFill>
            <a:srgbClr val="1A1A2E"/>
          </a:solidFill>
          <a:ln w="12700">
            <a:solidFill>
              <a:srgbClr val="1A1A2E"/>
            </a:solidFill>
            <a:prstDash val="solid"/>
          </a:ln>
          <a:effectLst>
            <a:outerShdw blurRad="50800" dist="12700" dir="8100000" algn="bl" rotWithShape="0">
              <a:srgbClr val="000000">
                <a:alpha val="7000"/>
              </a:srgbClr>
            </a:outerShdw>
          </a:effectLst>
        </p:spPr>
        <p:txBody>
          <a:bodyPr/>
          <a:lstStyle/>
          <a:p>
            <a:endParaRPr lang="en-IN" sz="2400"/>
          </a:p>
        </p:txBody>
      </p:sp>
      <p:sp>
        <p:nvSpPr>
          <p:cNvPr id="38" name="Text 36"/>
          <p:cNvSpPr/>
          <p:nvPr/>
        </p:nvSpPr>
        <p:spPr>
          <a:xfrm>
            <a:off x="853440" y="5437632"/>
            <a:ext cx="2316480" cy="316992"/>
          </a:xfrm>
          <a:prstGeom prst="rect">
            <a:avLst/>
          </a:prstGeom>
          <a:noFill/>
          <a:ln/>
        </p:spPr>
        <p:txBody>
          <a:bodyPr wrap="square" lIns="0" tIns="0" rIns="0" bIns="0" rtlCol="0" anchor="ctr"/>
          <a:lstStyle/>
          <a:p>
            <a:r>
              <a:rPr lang="en-US" sz="1467" b="1" dirty="0">
                <a:solidFill>
                  <a:srgbClr val="00897B"/>
                </a:solidFill>
                <a:latin typeface="Calibri" pitchFamily="34" charset="0"/>
                <a:ea typeface="Calibri" pitchFamily="34" charset="-122"/>
                <a:cs typeface="Calibri" pitchFamily="34" charset="-120"/>
              </a:rPr>
              <a:t>Design principle:</a:t>
            </a:r>
            <a:endParaRPr lang="en-US" sz="1467" dirty="0"/>
          </a:p>
        </p:txBody>
      </p:sp>
      <p:sp>
        <p:nvSpPr>
          <p:cNvPr id="39" name="Text 37"/>
          <p:cNvSpPr/>
          <p:nvPr/>
        </p:nvSpPr>
        <p:spPr>
          <a:xfrm>
            <a:off x="853440" y="5766816"/>
            <a:ext cx="10485120" cy="426720"/>
          </a:xfrm>
          <a:prstGeom prst="rect">
            <a:avLst/>
          </a:prstGeom>
          <a:noFill/>
          <a:ln/>
        </p:spPr>
        <p:txBody>
          <a:bodyPr wrap="square" lIns="0" tIns="0" rIns="0" bIns="0" rtlCol="0" anchor="ctr"/>
          <a:lstStyle/>
          <a:p>
            <a:r>
              <a:rPr lang="en-US" sz="1467" dirty="0">
                <a:solidFill>
                  <a:srgbClr val="FFFFFF"/>
                </a:solidFill>
                <a:latin typeface="Calibri" pitchFamily="34" charset="0"/>
                <a:ea typeface="Calibri" pitchFamily="34" charset="-122"/>
                <a:cs typeface="Calibri" pitchFamily="34" charset="-120"/>
              </a:rPr>
              <a:t>Static for data you always need. Dynamic only where the decision genuinely depends on what you find.</a:t>
            </a:r>
            <a:endParaRPr lang="en-US" sz="1467" dirty="0"/>
          </a:p>
        </p:txBody>
      </p:sp>
      <p:sp>
        <p:nvSpPr>
          <p:cNvPr id="40" name="Text 38"/>
          <p:cNvSpPr/>
          <p:nvPr/>
        </p:nvSpPr>
        <p:spPr>
          <a:xfrm>
            <a:off x="2347401" y="5462900"/>
            <a:ext cx="8046720" cy="316992"/>
          </a:xfrm>
          <a:prstGeom prst="rect">
            <a:avLst/>
          </a:prstGeom>
          <a:noFill/>
          <a:ln/>
        </p:spPr>
        <p:txBody>
          <a:bodyPr wrap="square" lIns="0" tIns="0" rIns="0" bIns="0" rtlCol="0" anchor="ctr"/>
          <a:lstStyle/>
          <a:p>
            <a:r>
              <a:rPr lang="en-US" sz="1267" i="1" dirty="0">
                <a:solidFill>
                  <a:srgbClr val="CCCCCC"/>
                </a:solidFill>
                <a:latin typeface="Calibri" pitchFamily="34" charset="0"/>
                <a:ea typeface="Calibri" pitchFamily="34" charset="-122"/>
                <a:cs typeface="Calibri" pitchFamily="34" charset="-120"/>
              </a:rPr>
              <a:t>For trading: always pre-fetch portfolio + price + margin in parallel (1 planning call). Dynamic only for the action phase.</a:t>
            </a:r>
            <a:endParaRPr lang="en-US" sz="1267"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MCP in Code — Server and Client</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5486400" cy="341376"/>
          </a:xfrm>
          <a:prstGeom prst="rect">
            <a:avLst/>
          </a:prstGeom>
          <a:noFill/>
          <a:ln/>
        </p:spPr>
        <p:txBody>
          <a:bodyPr wrap="square" lIns="0" tIns="0" rIns="0" bIns="0" rtlCol="0" anchor="ctr"/>
          <a:lstStyle/>
          <a:p>
            <a:r>
              <a:rPr lang="en-US" sz="1467" b="1" dirty="0">
                <a:solidFill>
                  <a:srgbClr val="00897B"/>
                </a:solidFill>
                <a:latin typeface="Calibri" pitchFamily="34" charset="0"/>
                <a:ea typeface="Calibri" pitchFamily="34" charset="-122"/>
                <a:cs typeface="Calibri" pitchFamily="34" charset="-120"/>
              </a:rPr>
              <a:t>Server side (what Zerodha publishes):</a:t>
            </a:r>
            <a:endParaRPr lang="en-US" sz="1467" dirty="0"/>
          </a:p>
        </p:txBody>
      </p:sp>
      <p:grpSp>
        <p:nvGrpSpPr>
          <p:cNvPr id="12" name="Group 11">
            <a:extLst>
              <a:ext uri="{FF2B5EF4-FFF2-40B4-BE49-F238E27FC236}">
                <a16:creationId xmlns:a16="http://schemas.microsoft.com/office/drawing/2014/main" id="{3DE9B6E7-E1D2-99D6-03A8-43BBD81D1CE2}"/>
              </a:ext>
            </a:extLst>
          </p:cNvPr>
          <p:cNvGrpSpPr/>
          <p:nvPr/>
        </p:nvGrpSpPr>
        <p:grpSpPr>
          <a:xfrm>
            <a:off x="609600" y="1889760"/>
            <a:ext cx="5486400" cy="4389120"/>
            <a:chOff x="457200" y="1417320"/>
            <a:chExt cx="4114800" cy="3291840"/>
          </a:xfrm>
        </p:grpSpPr>
        <p:sp>
          <p:nvSpPr>
            <p:cNvPr id="7" name="Shape 5"/>
            <p:cNvSpPr/>
            <p:nvPr/>
          </p:nvSpPr>
          <p:spPr>
            <a:xfrm>
              <a:off x="457200" y="1417320"/>
              <a:ext cx="4114800" cy="3291840"/>
            </a:xfrm>
            <a:prstGeom prst="rect">
              <a:avLst/>
            </a:prstGeom>
            <a:solidFill>
              <a:srgbClr val="1E293B"/>
            </a:solidFill>
            <a:ln w="12700">
              <a:solidFill>
                <a:srgbClr val="374151"/>
              </a:solidFill>
              <a:prstDash val="solid"/>
            </a:ln>
            <a:effectLst>
              <a:outerShdw blurRad="76200" dist="25400" dir="8100000" algn="bl" rotWithShape="0">
                <a:srgbClr val="000000">
                  <a:alpha val="15000"/>
                </a:srgbClr>
              </a:outerShdw>
            </a:effectLst>
          </p:spPr>
          <p:txBody>
            <a:bodyPr/>
            <a:lstStyle/>
            <a:p>
              <a:endParaRPr lang="en-IN" sz="2400"/>
            </a:p>
          </p:txBody>
        </p:sp>
        <p:sp>
          <p:nvSpPr>
            <p:cNvPr id="8" name="Text 6"/>
            <p:cNvSpPr/>
            <p:nvPr/>
          </p:nvSpPr>
          <p:spPr>
            <a:xfrm>
              <a:off x="594360" y="1508760"/>
              <a:ext cx="3840480" cy="3108960"/>
            </a:xfrm>
            <a:prstGeom prst="rect">
              <a:avLst/>
            </a:prstGeom>
            <a:noFill/>
            <a:ln/>
          </p:spPr>
          <p:txBody>
            <a:bodyPr wrap="square" lIns="0" tIns="0" rIns="0" bIns="0" rtlCol="0" anchor="t"/>
            <a:lstStyle/>
            <a:p>
              <a:r>
                <a:rPr lang="en-US" sz="1267" dirty="0">
                  <a:solidFill>
                    <a:srgbClr val="E2E8F0"/>
                  </a:solidFill>
                  <a:latin typeface="Consolas" pitchFamily="34" charset="0"/>
                  <a:ea typeface="Consolas" pitchFamily="34" charset="-122"/>
                  <a:cs typeface="Consolas" pitchFamily="34" charset="-120"/>
                </a:rPr>
                <a:t>from mcp.server import MCPServer</a:t>
              </a:r>
              <a:endParaRPr lang="en-US" sz="1267" dirty="0"/>
            </a:p>
            <a:p>
              <a:r>
                <a:rPr lang="en-US" sz="1267" dirty="0">
                  <a:solidFill>
                    <a:srgbClr val="E2E8F0"/>
                  </a:solidFill>
                  <a:latin typeface="Consolas" pitchFamily="34" charset="0"/>
                  <a:ea typeface="Consolas" pitchFamily="34" charset="-122"/>
                  <a:cs typeface="Consolas" pitchFamily="34" charset="-120"/>
                </a:rPr>
                <a:t>from mcp.types import Tool, Resource</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server = MCPServer("zerodha-trading")</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@server.tool()</a:t>
              </a:r>
              <a:endParaRPr lang="en-US" sz="1267" dirty="0"/>
            </a:p>
            <a:p>
              <a:r>
                <a:rPr lang="en-US" sz="1267" dirty="0">
                  <a:solidFill>
                    <a:srgbClr val="E2E8F0"/>
                  </a:solidFill>
                  <a:latin typeface="Consolas" pitchFamily="34" charset="0"/>
                  <a:ea typeface="Consolas" pitchFamily="34" charset="-122"/>
                  <a:cs typeface="Consolas" pitchFamily="34" charset="-120"/>
                </a:rPr>
                <a:t>def place_order(ticker: str, qty: int,</a:t>
              </a:r>
              <a:endParaRPr lang="en-US" sz="1267" dirty="0"/>
            </a:p>
            <a:p>
              <a:r>
                <a:rPr lang="en-US" sz="1267" dirty="0">
                  <a:solidFill>
                    <a:srgbClr val="E2E8F0"/>
                  </a:solidFill>
                  <a:latin typeface="Consolas" pitchFamily="34" charset="0"/>
                  <a:ea typeface="Consolas" pitchFamily="34" charset="-122"/>
                  <a:cs typeface="Consolas" pitchFamily="34" charset="-120"/>
                </a:rPr>
                <a:t>                price: float) -&gt; dict:</a:t>
              </a:r>
              <a:endParaRPr lang="en-US" sz="1267" dirty="0"/>
            </a:p>
            <a:p>
              <a:r>
                <a:rPr lang="en-US" sz="1267" dirty="0">
                  <a:solidFill>
                    <a:srgbClr val="E2E8F0"/>
                  </a:solidFill>
                  <a:latin typeface="Consolas" pitchFamily="34" charset="0"/>
                  <a:ea typeface="Consolas" pitchFamily="34" charset="-122"/>
                  <a:cs typeface="Consolas" pitchFamily="34" charset="-120"/>
                </a:rPr>
                <a:t>    """Place a buy/sell order on NSE/BSE"""</a:t>
              </a:r>
              <a:endParaRPr lang="en-US" sz="1267" dirty="0"/>
            </a:p>
            <a:p>
              <a:r>
                <a:rPr lang="en-US" sz="1267" dirty="0">
                  <a:solidFill>
                    <a:srgbClr val="E2E8F0"/>
                  </a:solidFill>
                  <a:latin typeface="Consolas" pitchFamily="34" charset="0"/>
                  <a:ea typeface="Consolas" pitchFamily="34" charset="-122"/>
                  <a:cs typeface="Consolas" pitchFamily="34" charset="-120"/>
                </a:rPr>
                <a:t>    return zerodha_api.place_order(</a:t>
              </a:r>
              <a:endParaRPr lang="en-US" sz="1267" dirty="0"/>
            </a:p>
            <a:p>
              <a:r>
                <a:rPr lang="en-US" sz="1267" dirty="0">
                  <a:solidFill>
                    <a:srgbClr val="E2E8F0"/>
                  </a:solidFill>
                  <a:latin typeface="Consolas" pitchFamily="34" charset="0"/>
                  <a:ea typeface="Consolas" pitchFamily="34" charset="-122"/>
                  <a:cs typeface="Consolas" pitchFamily="34" charset="-120"/>
                </a:rPr>
                <a:t>        ticker, qty, price</a:t>
              </a:r>
              <a:endParaRPr lang="en-US" sz="1267" dirty="0"/>
            </a:p>
            <a:p>
              <a:r>
                <a:rPr lang="en-US" sz="1267" dirty="0">
                  <a:solidFill>
                    <a:srgbClr val="E2E8F0"/>
                  </a:solidFill>
                  <a:latin typeface="Consolas" pitchFamily="34" charset="0"/>
                  <a:ea typeface="Consolas" pitchFamily="34" charset="-122"/>
                  <a:cs typeface="Consolas" pitchFamily="34" charset="-120"/>
                </a:rPr>
                <a:t>    )</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@server.resource("zerodha://portfolio")</a:t>
              </a:r>
              <a:endParaRPr lang="en-US" sz="1267" dirty="0"/>
            </a:p>
            <a:p>
              <a:r>
                <a:rPr lang="en-US" sz="1267" dirty="0">
                  <a:solidFill>
                    <a:srgbClr val="E2E8F0"/>
                  </a:solidFill>
                  <a:latin typeface="Consolas" pitchFamily="34" charset="0"/>
                  <a:ea typeface="Consolas" pitchFamily="34" charset="-122"/>
                  <a:cs typeface="Consolas" pitchFamily="34" charset="-120"/>
                </a:rPr>
                <a:t>def get_portfolio() -&gt; str:</a:t>
              </a:r>
              <a:endParaRPr lang="en-US" sz="1267" dirty="0"/>
            </a:p>
            <a:p>
              <a:r>
                <a:rPr lang="en-US" sz="1267" dirty="0">
                  <a:solidFill>
                    <a:srgbClr val="E2E8F0"/>
                  </a:solidFill>
                  <a:latin typeface="Consolas" pitchFamily="34" charset="0"/>
                  <a:ea typeface="Consolas" pitchFamily="34" charset="-122"/>
                  <a:cs typeface="Consolas" pitchFamily="34" charset="-120"/>
                </a:rPr>
                <a:t>    """Current holdings &amp; avg buy prices"""</a:t>
              </a:r>
              <a:endParaRPr lang="en-US" sz="1267" dirty="0"/>
            </a:p>
            <a:p>
              <a:r>
                <a:rPr lang="en-US" sz="1267" dirty="0">
                  <a:solidFill>
                    <a:srgbClr val="E2E8F0"/>
                  </a:solidFill>
                  <a:latin typeface="Consolas" pitchFamily="34" charset="0"/>
                  <a:ea typeface="Consolas" pitchFamily="34" charset="-122"/>
                  <a:cs typeface="Consolas" pitchFamily="34" charset="-120"/>
                </a:rPr>
                <a:t>    return zerodha_api.get_holdings()</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server.run(host="0.0.0.0", port=8080)</a:t>
              </a:r>
              <a:endParaRPr lang="en-US" sz="1267" dirty="0"/>
            </a:p>
          </p:txBody>
        </p:sp>
      </p:grpSp>
      <p:sp>
        <p:nvSpPr>
          <p:cNvPr id="9" name="Text 7"/>
          <p:cNvSpPr/>
          <p:nvPr/>
        </p:nvSpPr>
        <p:spPr>
          <a:xfrm>
            <a:off x="6339840" y="1463040"/>
            <a:ext cx="5486400" cy="341376"/>
          </a:xfrm>
          <a:prstGeom prst="rect">
            <a:avLst/>
          </a:prstGeom>
          <a:noFill/>
          <a:ln/>
        </p:spPr>
        <p:txBody>
          <a:bodyPr wrap="square" lIns="0" tIns="0" rIns="0" bIns="0" rtlCol="0" anchor="ctr"/>
          <a:lstStyle/>
          <a:p>
            <a:r>
              <a:rPr lang="en-US" sz="1467" b="1" dirty="0">
                <a:solidFill>
                  <a:srgbClr val="0F6CBD"/>
                </a:solidFill>
                <a:latin typeface="Calibri" pitchFamily="34" charset="0"/>
                <a:ea typeface="Calibri" pitchFamily="34" charset="-122"/>
                <a:cs typeface="Calibri" pitchFamily="34" charset="-120"/>
              </a:rPr>
              <a:t>Client side (your agent):</a:t>
            </a:r>
            <a:endParaRPr lang="en-US" sz="1467" dirty="0"/>
          </a:p>
        </p:txBody>
      </p:sp>
      <p:grpSp>
        <p:nvGrpSpPr>
          <p:cNvPr id="13" name="Group 12">
            <a:extLst>
              <a:ext uri="{FF2B5EF4-FFF2-40B4-BE49-F238E27FC236}">
                <a16:creationId xmlns:a16="http://schemas.microsoft.com/office/drawing/2014/main" id="{46DBD643-9FA0-9FB3-FC87-C48147700ED6}"/>
              </a:ext>
            </a:extLst>
          </p:cNvPr>
          <p:cNvGrpSpPr/>
          <p:nvPr/>
        </p:nvGrpSpPr>
        <p:grpSpPr>
          <a:xfrm>
            <a:off x="6339840" y="1889760"/>
            <a:ext cx="5120640" cy="4389120"/>
            <a:chOff x="4754880" y="1417320"/>
            <a:chExt cx="3840480" cy="3291840"/>
          </a:xfrm>
        </p:grpSpPr>
        <p:sp>
          <p:nvSpPr>
            <p:cNvPr id="10" name="Shape 8"/>
            <p:cNvSpPr/>
            <p:nvPr/>
          </p:nvSpPr>
          <p:spPr>
            <a:xfrm>
              <a:off x="4754880" y="1417320"/>
              <a:ext cx="3840480" cy="3291840"/>
            </a:xfrm>
            <a:prstGeom prst="rect">
              <a:avLst/>
            </a:prstGeom>
            <a:solidFill>
              <a:srgbClr val="1E293B"/>
            </a:solidFill>
            <a:ln w="12700">
              <a:solidFill>
                <a:srgbClr val="374151"/>
              </a:solidFill>
              <a:prstDash val="solid"/>
            </a:ln>
            <a:effectLst>
              <a:outerShdw blurRad="76200" dist="25400" dir="8100000" algn="bl" rotWithShape="0">
                <a:srgbClr val="000000">
                  <a:alpha val="15000"/>
                </a:srgbClr>
              </a:outerShdw>
            </a:effectLst>
          </p:spPr>
          <p:txBody>
            <a:bodyPr/>
            <a:lstStyle/>
            <a:p>
              <a:endParaRPr lang="en-IN" sz="2400"/>
            </a:p>
          </p:txBody>
        </p:sp>
        <p:sp>
          <p:nvSpPr>
            <p:cNvPr id="11" name="Text 9"/>
            <p:cNvSpPr/>
            <p:nvPr/>
          </p:nvSpPr>
          <p:spPr>
            <a:xfrm>
              <a:off x="4892040" y="1508760"/>
              <a:ext cx="3566160" cy="3108960"/>
            </a:xfrm>
            <a:prstGeom prst="rect">
              <a:avLst/>
            </a:prstGeom>
            <a:noFill/>
            <a:ln/>
          </p:spPr>
          <p:txBody>
            <a:bodyPr wrap="square" lIns="0" tIns="0" rIns="0" bIns="0" rtlCol="0" anchor="t"/>
            <a:lstStyle/>
            <a:p>
              <a:r>
                <a:rPr lang="en-US" sz="1267" dirty="0">
                  <a:solidFill>
                    <a:srgbClr val="E2E8F0"/>
                  </a:solidFill>
                  <a:latin typeface="Consolas" pitchFamily="34" charset="0"/>
                  <a:ea typeface="Consolas" pitchFamily="34" charset="-122"/>
                  <a:cs typeface="Consolas" pitchFamily="34" charset="-120"/>
                </a:rPr>
                <a:t>from mcp.client import MCPClient</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 Connect once — session is stateful</a:t>
              </a:r>
              <a:endParaRPr lang="en-US" sz="1267" dirty="0"/>
            </a:p>
            <a:p>
              <a:r>
                <a:rPr lang="en-US" sz="1267" dirty="0">
                  <a:solidFill>
                    <a:srgbClr val="E2E8F0"/>
                  </a:solidFill>
                  <a:latin typeface="Consolas" pitchFamily="34" charset="0"/>
                  <a:ea typeface="Consolas" pitchFamily="34" charset="-122"/>
                  <a:cs typeface="Consolas" pitchFamily="34" charset="-120"/>
                </a:rPr>
                <a:t>client = MCPClient(</a:t>
              </a:r>
              <a:endParaRPr lang="en-US" sz="1267" dirty="0"/>
            </a:p>
            <a:p>
              <a:r>
                <a:rPr lang="en-US" sz="1267" dirty="0">
                  <a:solidFill>
                    <a:srgbClr val="E2E8F0"/>
                  </a:solidFill>
                  <a:latin typeface="Consolas" pitchFamily="34" charset="0"/>
                  <a:ea typeface="Consolas" pitchFamily="34" charset="-122"/>
                  <a:cs typeface="Consolas" pitchFamily="34" charset="-120"/>
                </a:rPr>
                <a:t>    "https://zerodha-mcp.broker.com"</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 Discover capabilities at runtime</a:t>
              </a:r>
              <a:endParaRPr lang="en-US" sz="1267" dirty="0"/>
            </a:p>
            <a:p>
              <a:r>
                <a:rPr lang="en-US" sz="1267" dirty="0">
                  <a:solidFill>
                    <a:srgbClr val="E2E8F0"/>
                  </a:solidFill>
                  <a:latin typeface="Consolas" pitchFamily="34" charset="0"/>
                  <a:ea typeface="Consolas" pitchFamily="34" charset="-122"/>
                  <a:cs typeface="Consolas" pitchFamily="34" charset="-120"/>
                </a:rPr>
                <a:t>caps = client.get_capabilities()</a:t>
              </a:r>
              <a:endParaRPr lang="en-US" sz="1267" dirty="0"/>
            </a:p>
            <a:p>
              <a:r>
                <a:rPr lang="en-US" sz="1267" dirty="0">
                  <a:solidFill>
                    <a:srgbClr val="E2E8F0"/>
                  </a:solidFill>
                  <a:latin typeface="Consolas" pitchFamily="34" charset="0"/>
                  <a:ea typeface="Consolas" pitchFamily="34" charset="-122"/>
                  <a:cs typeface="Consolas" pitchFamily="34" charset="-120"/>
                </a:rPr>
                <a:t># → formatted &amp; injected into prompt</a:t>
              </a:r>
              <a:endParaRPr lang="en-US" sz="1267" dirty="0"/>
            </a:p>
            <a:p>
              <a:r>
                <a:rPr lang="en-US" sz="1267" dirty="0">
                  <a:solidFill>
                    <a:srgbClr val="E2E8F0"/>
                  </a:solidFill>
                  <a:latin typeface="Consolas" pitchFamily="34" charset="0"/>
                  <a:ea typeface="Consolas" pitchFamily="34" charset="-122"/>
                  <a:cs typeface="Consolas" pitchFamily="34" charset="-120"/>
                </a:rPr>
                <a:t># → LLM reads formatted text</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 Fetch a resource (triggered by LLM)</a:t>
              </a:r>
              <a:endParaRPr lang="en-US" sz="1267" dirty="0"/>
            </a:p>
            <a:p>
              <a:r>
                <a:rPr lang="en-US" sz="1267" dirty="0">
                  <a:solidFill>
                    <a:srgbClr val="E2E8F0"/>
                  </a:solidFill>
                  <a:latin typeface="Consolas" pitchFamily="34" charset="0"/>
                  <a:ea typeface="Consolas" pitchFamily="34" charset="-122"/>
                  <a:cs typeface="Consolas" pitchFamily="34" charset="-120"/>
                </a:rPr>
                <a:t>portfolio = client.get_resource(</a:t>
              </a:r>
              <a:endParaRPr lang="en-US" sz="1267" dirty="0"/>
            </a:p>
            <a:p>
              <a:r>
                <a:rPr lang="en-US" sz="1267" dirty="0">
                  <a:solidFill>
                    <a:srgbClr val="E2E8F0"/>
                  </a:solidFill>
                  <a:latin typeface="Consolas" pitchFamily="34" charset="0"/>
                  <a:ea typeface="Consolas" pitchFamily="34" charset="-122"/>
                  <a:cs typeface="Consolas" pitchFamily="34" charset="-120"/>
                </a:rPr>
                <a:t>    "zerodha://portfolio"</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a:p>
              <a:endParaRPr lang="en-US" sz="1267" dirty="0"/>
            </a:p>
            <a:p>
              <a:r>
                <a:rPr lang="en-US" sz="1267" dirty="0">
                  <a:solidFill>
                    <a:srgbClr val="E2E8F0"/>
                  </a:solidFill>
                  <a:latin typeface="Consolas" pitchFamily="34" charset="0"/>
                  <a:ea typeface="Consolas" pitchFamily="34" charset="-122"/>
                  <a:cs typeface="Consolas" pitchFamily="34" charset="-120"/>
                </a:rPr>
                <a:t># Invoke a tool (triggered by LLM)</a:t>
              </a:r>
              <a:endParaRPr lang="en-US" sz="1267" dirty="0"/>
            </a:p>
            <a:p>
              <a:r>
                <a:rPr lang="en-US" sz="1267" dirty="0">
                  <a:solidFill>
                    <a:srgbClr val="E2E8F0"/>
                  </a:solidFill>
                  <a:latin typeface="Consolas" pitchFamily="34" charset="0"/>
                  <a:ea typeface="Consolas" pitchFamily="34" charset="-122"/>
                  <a:cs typeface="Consolas" pitchFamily="34" charset="-120"/>
                </a:rPr>
                <a:t>result = client.call_tool("place_order", {</a:t>
              </a:r>
              <a:endParaRPr lang="en-US" sz="1267" dirty="0"/>
            </a:p>
            <a:p>
              <a:r>
                <a:rPr lang="en-US" sz="1267" dirty="0">
                  <a:solidFill>
                    <a:srgbClr val="E2E8F0"/>
                  </a:solidFill>
                  <a:latin typeface="Consolas" pitchFamily="34" charset="0"/>
                  <a:ea typeface="Consolas" pitchFamily="34" charset="-122"/>
                  <a:cs typeface="Consolas" pitchFamily="34" charset="-120"/>
                </a:rPr>
                <a:t>    "ticker": "HDFCBANK",</a:t>
              </a:r>
              <a:endParaRPr lang="en-US" sz="1267" dirty="0"/>
            </a:p>
            <a:p>
              <a:r>
                <a:rPr lang="en-US" sz="1267" dirty="0">
                  <a:solidFill>
                    <a:srgbClr val="E2E8F0"/>
                  </a:solidFill>
                  <a:latin typeface="Consolas" pitchFamily="34" charset="0"/>
                  <a:ea typeface="Consolas" pitchFamily="34" charset="-122"/>
                  <a:cs typeface="Consolas" pitchFamily="34" charset="-120"/>
                </a:rPr>
                <a:t>    "qty": 25,</a:t>
              </a:r>
              <a:endParaRPr lang="en-US" sz="1267" dirty="0"/>
            </a:p>
            <a:p>
              <a:r>
                <a:rPr lang="en-US" sz="1267" dirty="0">
                  <a:solidFill>
                    <a:srgbClr val="E2E8F0"/>
                  </a:solidFill>
                  <a:latin typeface="Consolas" pitchFamily="34" charset="0"/>
                  <a:ea typeface="Consolas" pitchFamily="34" charset="-122"/>
                  <a:cs typeface="Consolas" pitchFamily="34" charset="-120"/>
                </a:rPr>
                <a:t>    "price": 1638.00</a:t>
              </a:r>
              <a:endParaRPr lang="en-US" sz="1267" dirty="0"/>
            </a:p>
            <a:p>
              <a:r>
                <a:rPr lang="en-US" sz="1267" dirty="0">
                  <a:solidFill>
                    <a:srgbClr val="E2E8F0"/>
                  </a:solidFill>
                  <a:latin typeface="Consolas" pitchFamily="34" charset="0"/>
                  <a:ea typeface="Consolas" pitchFamily="34" charset="-122"/>
                  <a:cs typeface="Consolas" pitchFamily="34" charset="-120"/>
                </a:rPr>
                <a:t>})</a:t>
              </a:r>
              <a:endParaRPr lang="en-US" sz="1267"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But Now the Ask Gets Bigger...</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Shape 4"/>
          <p:cNvSpPr/>
          <p:nvPr/>
        </p:nvSpPr>
        <p:spPr>
          <a:xfrm>
            <a:off x="609600" y="1524000"/>
            <a:ext cx="4876800" cy="731520"/>
          </a:xfrm>
          <a:prstGeom prst="rect">
            <a:avLst/>
          </a:prstGeom>
          <a:solidFill>
            <a:srgbClr val="EBF5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7" name="Shape 5"/>
          <p:cNvSpPr/>
          <p:nvPr/>
        </p:nvSpPr>
        <p:spPr>
          <a:xfrm>
            <a:off x="609600" y="1524000"/>
            <a:ext cx="73152" cy="731520"/>
          </a:xfrm>
          <a:prstGeom prst="rect">
            <a:avLst/>
          </a:prstGeom>
          <a:solidFill>
            <a:srgbClr val="0F6CBD"/>
          </a:solidFill>
          <a:ln w="12700">
            <a:solidFill>
              <a:srgbClr val="0F6CBD"/>
            </a:solidFill>
            <a:prstDash val="solid"/>
          </a:ln>
        </p:spPr>
        <p:txBody>
          <a:bodyPr/>
          <a:lstStyle/>
          <a:p>
            <a:endParaRPr lang="en-IN" sz="2400"/>
          </a:p>
        </p:txBody>
      </p:sp>
      <p:sp>
        <p:nvSpPr>
          <p:cNvPr id="8" name="Text 6"/>
          <p:cNvSpPr/>
          <p:nvPr/>
        </p:nvSpPr>
        <p:spPr>
          <a:xfrm>
            <a:off x="792480" y="1524000"/>
            <a:ext cx="4572000" cy="7315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Before: "Should I buy more HDFC Bank today?"</a:t>
            </a:r>
            <a:endParaRPr lang="en-US" sz="1333" dirty="0"/>
          </a:p>
        </p:txBody>
      </p:sp>
      <p:sp>
        <p:nvSpPr>
          <p:cNvPr id="9" name="Text 7"/>
          <p:cNvSpPr/>
          <p:nvPr/>
        </p:nvSpPr>
        <p:spPr>
          <a:xfrm>
            <a:off x="5669280" y="1682496"/>
            <a:ext cx="5852160" cy="426720"/>
          </a:xfrm>
          <a:prstGeom prst="rect">
            <a:avLst/>
          </a:prstGeom>
          <a:noFill/>
          <a:ln/>
        </p:spPr>
        <p:txBody>
          <a:bodyPr wrap="square" lIns="0" tIns="0" rIns="0" bIns="0" rtlCol="0" anchor="ctr"/>
          <a:lstStyle/>
          <a:p>
            <a:r>
              <a:rPr lang="en-US" sz="1467" i="1" dirty="0">
                <a:solidFill>
                  <a:srgbClr val="00897B"/>
                </a:solidFill>
                <a:latin typeface="Calibri" pitchFamily="34" charset="0"/>
                <a:ea typeface="Calibri" pitchFamily="34" charset="-122"/>
                <a:cs typeface="Calibri" pitchFamily="34" charset="-120"/>
              </a:rPr>
              <a:t>→  One agent. MCP tools. Solved. ✓</a:t>
            </a:r>
            <a:endParaRPr lang="en-US" sz="1467" dirty="0"/>
          </a:p>
        </p:txBody>
      </p:sp>
      <p:sp>
        <p:nvSpPr>
          <p:cNvPr id="10" name="Shape 8"/>
          <p:cNvSpPr/>
          <p:nvPr/>
        </p:nvSpPr>
        <p:spPr>
          <a:xfrm>
            <a:off x="609600" y="2438400"/>
            <a:ext cx="10972800" cy="853440"/>
          </a:xfrm>
          <a:prstGeom prst="rect">
            <a:avLst/>
          </a:prstGeom>
          <a:solidFill>
            <a:srgbClr val="2D3561"/>
          </a:solidFill>
          <a:ln w="12700">
            <a:solidFill>
              <a:srgbClr val="2D3561"/>
            </a:solidFill>
            <a:prstDash val="solid"/>
          </a:ln>
          <a:effectLst>
            <a:outerShdw blurRad="50800" dist="12700" dir="8100000" algn="bl" rotWithShape="0">
              <a:srgbClr val="000000">
                <a:alpha val="7000"/>
              </a:srgbClr>
            </a:outerShdw>
          </a:effectLst>
        </p:spPr>
        <p:txBody>
          <a:bodyPr/>
          <a:lstStyle/>
          <a:p>
            <a:endParaRPr lang="en-IN" sz="2400"/>
          </a:p>
        </p:txBody>
      </p:sp>
      <p:sp>
        <p:nvSpPr>
          <p:cNvPr id="11" name="Text 9"/>
          <p:cNvSpPr/>
          <p:nvPr/>
        </p:nvSpPr>
        <p:spPr>
          <a:xfrm>
            <a:off x="609600" y="2438400"/>
            <a:ext cx="10972800" cy="8534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Now: "Rebalance my entire portfolio for a market downturn scenario."</a:t>
            </a:r>
            <a:endParaRPr lang="en-US" sz="2133" dirty="0"/>
          </a:p>
        </p:txBody>
      </p:sp>
      <p:sp>
        <p:nvSpPr>
          <p:cNvPr id="12" name="Text 10"/>
          <p:cNvSpPr/>
          <p:nvPr/>
        </p:nvSpPr>
        <p:spPr>
          <a:xfrm>
            <a:off x="609600" y="3474720"/>
            <a:ext cx="5486400" cy="341376"/>
          </a:xfrm>
          <a:prstGeom prst="rect">
            <a:avLst/>
          </a:prstGeom>
          <a:noFill/>
          <a:ln/>
        </p:spPr>
        <p:txBody>
          <a:bodyPr wrap="square" lIns="0" tIns="0" rIns="0" bIns="0" rtlCol="0" anchor="ctr"/>
          <a:lstStyle/>
          <a:p>
            <a:r>
              <a:rPr lang="en-US" sz="1467" dirty="0">
                <a:solidFill>
                  <a:srgbClr val="6B7280"/>
                </a:solidFill>
                <a:latin typeface="Calibri" pitchFamily="34" charset="0"/>
                <a:ea typeface="Calibri" pitchFamily="34" charset="-122"/>
                <a:cs typeface="Calibri" pitchFamily="34" charset="-120"/>
              </a:rPr>
              <a:t>One agent is now being asked to:</a:t>
            </a:r>
            <a:endParaRPr lang="en-US" sz="1467" dirty="0"/>
          </a:p>
        </p:txBody>
      </p:sp>
      <p:sp>
        <p:nvSpPr>
          <p:cNvPr id="13" name="Shape 11"/>
          <p:cNvSpPr/>
          <p:nvPr/>
        </p:nvSpPr>
        <p:spPr>
          <a:xfrm>
            <a:off x="609600" y="3901440"/>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4" name="Shape 12"/>
          <p:cNvSpPr/>
          <p:nvPr/>
        </p:nvSpPr>
        <p:spPr>
          <a:xfrm>
            <a:off x="609600" y="3901440"/>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15" name="Text 13"/>
          <p:cNvSpPr/>
          <p:nvPr/>
        </p:nvSpPr>
        <p:spPr>
          <a:xfrm>
            <a:off x="853440" y="3901440"/>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Analyse macro conditions &amp; sector exposure</a:t>
            </a:r>
            <a:endParaRPr lang="en-US" sz="1333" dirty="0"/>
          </a:p>
        </p:txBody>
      </p:sp>
      <p:sp>
        <p:nvSpPr>
          <p:cNvPr id="16" name="Shape 14"/>
          <p:cNvSpPr/>
          <p:nvPr/>
        </p:nvSpPr>
        <p:spPr>
          <a:xfrm>
            <a:off x="609600" y="4535424"/>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17" name="Shape 15"/>
          <p:cNvSpPr/>
          <p:nvPr/>
        </p:nvSpPr>
        <p:spPr>
          <a:xfrm>
            <a:off x="609600" y="4535424"/>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18" name="Text 16"/>
          <p:cNvSpPr/>
          <p:nvPr/>
        </p:nvSpPr>
        <p:spPr>
          <a:xfrm>
            <a:off x="853440" y="4535424"/>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Review every holding for risk/return</a:t>
            </a:r>
            <a:endParaRPr lang="en-US" sz="1333" dirty="0"/>
          </a:p>
        </p:txBody>
      </p:sp>
      <p:sp>
        <p:nvSpPr>
          <p:cNvPr id="19" name="Shape 17"/>
          <p:cNvSpPr/>
          <p:nvPr/>
        </p:nvSpPr>
        <p:spPr>
          <a:xfrm>
            <a:off x="609600" y="5169408"/>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0" name="Shape 18"/>
          <p:cNvSpPr/>
          <p:nvPr/>
        </p:nvSpPr>
        <p:spPr>
          <a:xfrm>
            <a:off x="609600" y="5169408"/>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21" name="Text 19"/>
          <p:cNvSpPr/>
          <p:nvPr/>
        </p:nvSpPr>
        <p:spPr>
          <a:xfrm>
            <a:off x="853440" y="5169408"/>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Calculate tax implications of each sale</a:t>
            </a:r>
            <a:endParaRPr lang="en-US" sz="1333" dirty="0"/>
          </a:p>
        </p:txBody>
      </p:sp>
      <p:sp>
        <p:nvSpPr>
          <p:cNvPr id="22" name="Shape 20"/>
          <p:cNvSpPr/>
          <p:nvPr/>
        </p:nvSpPr>
        <p:spPr>
          <a:xfrm>
            <a:off x="6339840" y="3901440"/>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3" name="Shape 21"/>
          <p:cNvSpPr/>
          <p:nvPr/>
        </p:nvSpPr>
        <p:spPr>
          <a:xfrm>
            <a:off x="6339840" y="3901440"/>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24" name="Text 22"/>
          <p:cNvSpPr/>
          <p:nvPr/>
        </p:nvSpPr>
        <p:spPr>
          <a:xfrm>
            <a:off x="6583680" y="3901440"/>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Verify SEBI regulatory limits</a:t>
            </a:r>
            <a:endParaRPr lang="en-US" sz="1333" dirty="0"/>
          </a:p>
        </p:txBody>
      </p:sp>
      <p:sp>
        <p:nvSpPr>
          <p:cNvPr id="25" name="Shape 23"/>
          <p:cNvSpPr/>
          <p:nvPr/>
        </p:nvSpPr>
        <p:spPr>
          <a:xfrm>
            <a:off x="6339840" y="4535424"/>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6" name="Shape 24"/>
          <p:cNvSpPr/>
          <p:nvPr/>
        </p:nvSpPr>
        <p:spPr>
          <a:xfrm>
            <a:off x="6339840" y="4535424"/>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27" name="Text 25"/>
          <p:cNvSpPr/>
          <p:nvPr/>
        </p:nvSpPr>
        <p:spPr>
          <a:xfrm>
            <a:off x="6583680" y="4535424"/>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Execute 12 trades in the right sequence</a:t>
            </a:r>
            <a:endParaRPr lang="en-US" sz="1333" dirty="0"/>
          </a:p>
        </p:txBody>
      </p:sp>
      <p:sp>
        <p:nvSpPr>
          <p:cNvPr id="28" name="Shape 26"/>
          <p:cNvSpPr/>
          <p:nvPr/>
        </p:nvSpPr>
        <p:spPr>
          <a:xfrm>
            <a:off x="6339840" y="5169408"/>
            <a:ext cx="5242560" cy="560832"/>
          </a:xfrm>
          <a:prstGeom prst="rect">
            <a:avLst/>
          </a:prstGeom>
          <a:solidFill>
            <a:srgbClr val="F4F6FB"/>
          </a:solidFill>
          <a:ln w="12700">
            <a:solidFill>
              <a:srgbClr val="D0D8E8"/>
            </a:solidFill>
            <a:prstDash val="solid"/>
          </a:ln>
          <a:effectLst>
            <a:outerShdw blurRad="50800" dist="12700" dir="8100000" algn="bl" rotWithShape="0">
              <a:srgbClr val="000000">
                <a:alpha val="7000"/>
              </a:srgbClr>
            </a:outerShdw>
          </a:effectLst>
        </p:spPr>
        <p:txBody>
          <a:bodyPr/>
          <a:lstStyle/>
          <a:p>
            <a:endParaRPr lang="en-IN" sz="2400"/>
          </a:p>
        </p:txBody>
      </p:sp>
      <p:sp>
        <p:nvSpPr>
          <p:cNvPr id="29" name="Shape 27"/>
          <p:cNvSpPr/>
          <p:nvPr/>
        </p:nvSpPr>
        <p:spPr>
          <a:xfrm>
            <a:off x="6339840" y="5169408"/>
            <a:ext cx="73152" cy="560832"/>
          </a:xfrm>
          <a:prstGeom prst="rect">
            <a:avLst/>
          </a:prstGeom>
          <a:solidFill>
            <a:srgbClr val="C0392B"/>
          </a:solidFill>
          <a:ln w="12700">
            <a:solidFill>
              <a:srgbClr val="C0392B"/>
            </a:solidFill>
            <a:prstDash val="solid"/>
          </a:ln>
        </p:spPr>
        <p:txBody>
          <a:bodyPr/>
          <a:lstStyle/>
          <a:p>
            <a:endParaRPr lang="en-IN" sz="2400"/>
          </a:p>
        </p:txBody>
      </p:sp>
      <p:sp>
        <p:nvSpPr>
          <p:cNvPr id="30" name="Text 28"/>
          <p:cNvSpPr/>
          <p:nvPr/>
        </p:nvSpPr>
        <p:spPr>
          <a:xfrm>
            <a:off x="6583680" y="5169408"/>
            <a:ext cx="4815840" cy="560832"/>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  Generate a compliance report</a:t>
            </a:r>
            <a:endParaRPr lang="en-US" sz="133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Agent-to-Agent (A2A) — Agents as Services</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63040"/>
            <a:ext cx="10972800" cy="341376"/>
          </a:xfrm>
          <a:prstGeom prst="rect">
            <a:avLst/>
          </a:prstGeom>
          <a:noFill/>
          <a:ln/>
        </p:spPr>
        <p:txBody>
          <a:bodyPr wrap="square" lIns="0" tIns="0" rIns="0" bIns="0" rtlCol="0" anchor="ctr"/>
          <a:lstStyle/>
          <a:p>
            <a:r>
              <a:rPr lang="en-US" sz="1400" i="1" dirty="0">
                <a:solidFill>
                  <a:srgbClr val="6B7280"/>
                </a:solidFill>
                <a:latin typeface="Calibri" pitchFamily="34" charset="0"/>
                <a:ea typeface="Calibri" pitchFamily="34" charset="-122"/>
                <a:cs typeface="Calibri" pitchFamily="34" charset="-120"/>
              </a:rPr>
              <a:t>Developed by Google with ecosystem partners  |  Agents discover, delegate, and coordinate across boundaries</a:t>
            </a:r>
            <a:endParaRPr lang="en-US" sz="1400" dirty="0"/>
          </a:p>
        </p:txBody>
      </p:sp>
      <p:sp>
        <p:nvSpPr>
          <p:cNvPr id="7" name="Shape 5"/>
          <p:cNvSpPr/>
          <p:nvPr/>
        </p:nvSpPr>
        <p:spPr>
          <a:xfrm>
            <a:off x="4267200" y="1950720"/>
            <a:ext cx="3657600" cy="877824"/>
          </a:xfrm>
          <a:prstGeom prst="rect">
            <a:avLst/>
          </a:prstGeom>
          <a:solidFill>
            <a:srgbClr val="2D3561"/>
          </a:solidFill>
          <a:ln w="12700">
            <a:solidFill>
              <a:srgbClr val="2D3561"/>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Text 6"/>
          <p:cNvSpPr/>
          <p:nvPr/>
        </p:nvSpPr>
        <p:spPr>
          <a:xfrm>
            <a:off x="4267200" y="1950720"/>
            <a:ext cx="3657600" cy="877824"/>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Supervisor Agent</a:t>
            </a:r>
            <a:endParaRPr lang="en-US" sz="1600" dirty="0"/>
          </a:p>
          <a:p>
            <a:pPr algn="ctr"/>
            <a:r>
              <a:rPr lang="en-US" sz="1600" b="1" dirty="0">
                <a:solidFill>
                  <a:srgbClr val="FFFFFF"/>
                </a:solidFill>
                <a:latin typeface="Calibri" pitchFamily="34" charset="0"/>
                <a:ea typeface="Calibri" pitchFamily="34" charset="-122"/>
                <a:cs typeface="Calibri" pitchFamily="34" charset="-120"/>
              </a:rPr>
              <a:t>(Portfolio Manager)</a:t>
            </a:r>
            <a:endParaRPr lang="en-US" sz="1600" dirty="0"/>
          </a:p>
        </p:txBody>
      </p:sp>
      <p:sp>
        <p:nvSpPr>
          <p:cNvPr id="9" name="Shape 7"/>
          <p:cNvSpPr/>
          <p:nvPr/>
        </p:nvSpPr>
        <p:spPr>
          <a:xfrm>
            <a:off x="1828800" y="3108960"/>
            <a:ext cx="48768" cy="670560"/>
          </a:xfrm>
          <a:prstGeom prst="rect">
            <a:avLst/>
          </a:prstGeom>
          <a:solidFill>
            <a:srgbClr val="6B7280"/>
          </a:solidFill>
          <a:ln w="12700">
            <a:solidFill>
              <a:srgbClr val="6B7280"/>
            </a:solidFill>
            <a:prstDash val="solid"/>
          </a:ln>
        </p:spPr>
        <p:txBody>
          <a:bodyPr/>
          <a:lstStyle/>
          <a:p>
            <a:endParaRPr lang="en-IN" sz="2400"/>
          </a:p>
        </p:txBody>
      </p:sp>
      <p:sp>
        <p:nvSpPr>
          <p:cNvPr id="10" name="Shape 8"/>
          <p:cNvSpPr/>
          <p:nvPr/>
        </p:nvSpPr>
        <p:spPr>
          <a:xfrm>
            <a:off x="4876800" y="3108960"/>
            <a:ext cx="48768" cy="670560"/>
          </a:xfrm>
          <a:prstGeom prst="rect">
            <a:avLst/>
          </a:prstGeom>
          <a:solidFill>
            <a:srgbClr val="6B7280"/>
          </a:solidFill>
          <a:ln w="12700">
            <a:solidFill>
              <a:srgbClr val="6B7280"/>
            </a:solidFill>
            <a:prstDash val="solid"/>
          </a:ln>
        </p:spPr>
        <p:txBody>
          <a:bodyPr/>
          <a:lstStyle/>
          <a:p>
            <a:endParaRPr lang="en-IN" sz="2400"/>
          </a:p>
        </p:txBody>
      </p:sp>
      <p:sp>
        <p:nvSpPr>
          <p:cNvPr id="11" name="Shape 9"/>
          <p:cNvSpPr/>
          <p:nvPr/>
        </p:nvSpPr>
        <p:spPr>
          <a:xfrm>
            <a:off x="7924800" y="3108960"/>
            <a:ext cx="48768" cy="670560"/>
          </a:xfrm>
          <a:prstGeom prst="rect">
            <a:avLst/>
          </a:prstGeom>
          <a:solidFill>
            <a:srgbClr val="6B7280"/>
          </a:solidFill>
          <a:ln w="12700">
            <a:solidFill>
              <a:srgbClr val="6B7280"/>
            </a:solidFill>
            <a:prstDash val="solid"/>
          </a:ln>
        </p:spPr>
        <p:txBody>
          <a:bodyPr/>
          <a:lstStyle/>
          <a:p>
            <a:endParaRPr lang="en-IN" sz="2400"/>
          </a:p>
        </p:txBody>
      </p:sp>
      <p:sp>
        <p:nvSpPr>
          <p:cNvPr id="12" name="Shape 10"/>
          <p:cNvSpPr/>
          <p:nvPr/>
        </p:nvSpPr>
        <p:spPr>
          <a:xfrm>
            <a:off x="10241280" y="3108960"/>
            <a:ext cx="48768" cy="670560"/>
          </a:xfrm>
          <a:prstGeom prst="rect">
            <a:avLst/>
          </a:prstGeom>
          <a:solidFill>
            <a:srgbClr val="6B7280"/>
          </a:solidFill>
          <a:ln w="12700">
            <a:solidFill>
              <a:srgbClr val="6B7280"/>
            </a:solidFill>
            <a:prstDash val="solid"/>
          </a:ln>
        </p:spPr>
        <p:txBody>
          <a:bodyPr/>
          <a:lstStyle/>
          <a:p>
            <a:endParaRPr lang="en-IN" sz="2400"/>
          </a:p>
        </p:txBody>
      </p:sp>
      <p:sp>
        <p:nvSpPr>
          <p:cNvPr id="13" name="Shape 11"/>
          <p:cNvSpPr/>
          <p:nvPr/>
        </p:nvSpPr>
        <p:spPr>
          <a:xfrm>
            <a:off x="1828800" y="3108960"/>
            <a:ext cx="8461248" cy="48768"/>
          </a:xfrm>
          <a:prstGeom prst="rect">
            <a:avLst/>
          </a:prstGeom>
          <a:solidFill>
            <a:srgbClr val="6B7280"/>
          </a:solidFill>
          <a:ln w="12700">
            <a:solidFill>
              <a:srgbClr val="6B7280"/>
            </a:solidFill>
            <a:prstDash val="solid"/>
          </a:ln>
        </p:spPr>
        <p:txBody>
          <a:bodyPr/>
          <a:lstStyle/>
          <a:p>
            <a:endParaRPr lang="en-IN" sz="2400"/>
          </a:p>
        </p:txBody>
      </p:sp>
      <p:sp>
        <p:nvSpPr>
          <p:cNvPr id="14" name="Shape 12"/>
          <p:cNvSpPr/>
          <p:nvPr/>
        </p:nvSpPr>
        <p:spPr>
          <a:xfrm>
            <a:off x="609600" y="3779520"/>
            <a:ext cx="2560320" cy="877824"/>
          </a:xfrm>
          <a:prstGeom prst="rect">
            <a:avLst/>
          </a:prstGeom>
          <a:solidFill>
            <a:srgbClr val="0F6CBD"/>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5" name="Text 13"/>
          <p:cNvSpPr/>
          <p:nvPr/>
        </p:nvSpPr>
        <p:spPr>
          <a:xfrm>
            <a:off x="609600" y="3779520"/>
            <a:ext cx="2560320" cy="87782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Research</a:t>
            </a:r>
            <a:endParaRPr lang="en-US" sz="1467" dirty="0"/>
          </a:p>
          <a:p>
            <a:pPr algn="ctr"/>
            <a:r>
              <a:rPr lang="en-US" sz="1467" b="1" dirty="0">
                <a:solidFill>
                  <a:srgbClr val="FFFFFF"/>
                </a:solidFill>
                <a:latin typeface="Calibri" pitchFamily="34" charset="0"/>
                <a:ea typeface="Calibri" pitchFamily="34" charset="-122"/>
                <a:cs typeface="Calibri" pitchFamily="34" charset="-120"/>
              </a:rPr>
              <a:t>Agent</a:t>
            </a:r>
            <a:endParaRPr lang="en-US" sz="1467" dirty="0"/>
          </a:p>
        </p:txBody>
      </p:sp>
      <p:sp>
        <p:nvSpPr>
          <p:cNvPr id="16" name="Shape 14"/>
          <p:cNvSpPr/>
          <p:nvPr/>
        </p:nvSpPr>
        <p:spPr>
          <a:xfrm>
            <a:off x="609600" y="4718304"/>
            <a:ext cx="2560320" cy="877824"/>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7" name="Text 15"/>
          <p:cNvSpPr/>
          <p:nvPr/>
        </p:nvSpPr>
        <p:spPr>
          <a:xfrm>
            <a:off x="731520" y="4718304"/>
            <a:ext cx="2316480" cy="877824"/>
          </a:xfrm>
          <a:prstGeom prst="rect">
            <a:avLst/>
          </a:prstGeom>
          <a:noFill/>
          <a:ln/>
        </p:spPr>
        <p:txBody>
          <a:bodyPr wrap="square" lIns="0" tIns="0" rIns="0" bIns="0" rtlCol="0" anchor="ctr"/>
          <a:lstStyle/>
          <a:p>
            <a:pPr algn="ctr"/>
            <a:r>
              <a:rPr lang="en-US" sz="1200" dirty="0">
                <a:solidFill>
                  <a:srgbClr val="6B7280"/>
                </a:solidFill>
                <a:latin typeface="Calibri" pitchFamily="34" charset="0"/>
                <a:ea typeface="Calibri" pitchFamily="34" charset="-122"/>
                <a:cs typeface="Calibri" pitchFamily="34" charset="-120"/>
              </a:rPr>
              <a:t>Web search</a:t>
            </a:r>
            <a:endParaRPr lang="en-US" sz="1200" dirty="0"/>
          </a:p>
          <a:p>
            <a:pPr algn="ctr"/>
            <a:r>
              <a:rPr lang="en-US" sz="1200" dirty="0">
                <a:solidFill>
                  <a:srgbClr val="6B7280"/>
                </a:solidFill>
                <a:latin typeface="Calibri" pitchFamily="34" charset="0"/>
                <a:ea typeface="Calibri" pitchFamily="34" charset="-122"/>
                <a:cs typeface="Calibri" pitchFamily="34" charset="-120"/>
              </a:rPr>
              <a:t>News APIs</a:t>
            </a:r>
            <a:endParaRPr lang="en-US" sz="1200" dirty="0"/>
          </a:p>
          <a:p>
            <a:pPr algn="ctr"/>
            <a:r>
              <a:rPr lang="en-US" sz="1200" dirty="0">
                <a:solidFill>
                  <a:srgbClr val="6B7280"/>
                </a:solidFill>
                <a:latin typeface="Calibri" pitchFamily="34" charset="0"/>
                <a:ea typeface="Calibri" pitchFamily="34" charset="-122"/>
                <a:cs typeface="Calibri" pitchFamily="34" charset="-120"/>
              </a:rPr>
              <a:t>Macro data</a:t>
            </a:r>
            <a:endParaRPr lang="en-US" sz="1200" dirty="0"/>
          </a:p>
        </p:txBody>
      </p:sp>
      <p:sp>
        <p:nvSpPr>
          <p:cNvPr id="18" name="Shape 16"/>
          <p:cNvSpPr/>
          <p:nvPr/>
        </p:nvSpPr>
        <p:spPr>
          <a:xfrm>
            <a:off x="3474720" y="3779520"/>
            <a:ext cx="2560320" cy="877824"/>
          </a:xfrm>
          <a:prstGeom prst="rect">
            <a:avLst/>
          </a:prstGeom>
          <a:solidFill>
            <a:srgbClr val="00897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9" name="Text 17"/>
          <p:cNvSpPr/>
          <p:nvPr/>
        </p:nvSpPr>
        <p:spPr>
          <a:xfrm>
            <a:off x="3474720" y="3779520"/>
            <a:ext cx="2560320" cy="87782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Risk &amp;</a:t>
            </a:r>
            <a:endParaRPr lang="en-US" sz="1467" dirty="0"/>
          </a:p>
          <a:p>
            <a:pPr algn="ctr"/>
            <a:r>
              <a:rPr lang="en-US" sz="1467" b="1" dirty="0">
                <a:solidFill>
                  <a:srgbClr val="FFFFFF"/>
                </a:solidFill>
                <a:latin typeface="Calibri" pitchFamily="34" charset="0"/>
                <a:ea typeface="Calibri" pitchFamily="34" charset="-122"/>
                <a:cs typeface="Calibri" pitchFamily="34" charset="-120"/>
              </a:rPr>
              <a:t>Tax Agent</a:t>
            </a:r>
            <a:endParaRPr lang="en-US" sz="1467" dirty="0"/>
          </a:p>
        </p:txBody>
      </p:sp>
      <p:sp>
        <p:nvSpPr>
          <p:cNvPr id="20" name="Shape 18"/>
          <p:cNvSpPr/>
          <p:nvPr/>
        </p:nvSpPr>
        <p:spPr>
          <a:xfrm>
            <a:off x="3474720" y="4718304"/>
            <a:ext cx="2560320" cy="877824"/>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1" name="Text 19"/>
          <p:cNvSpPr/>
          <p:nvPr/>
        </p:nvSpPr>
        <p:spPr>
          <a:xfrm>
            <a:off x="3596640" y="4718304"/>
            <a:ext cx="2316480" cy="877824"/>
          </a:xfrm>
          <a:prstGeom prst="rect">
            <a:avLst/>
          </a:prstGeom>
          <a:noFill/>
          <a:ln/>
        </p:spPr>
        <p:txBody>
          <a:bodyPr wrap="square" lIns="0" tIns="0" rIns="0" bIns="0" rtlCol="0" anchor="ctr"/>
          <a:lstStyle/>
          <a:p>
            <a:pPr algn="ctr"/>
            <a:r>
              <a:rPr lang="en-US" sz="1200" dirty="0">
                <a:solidFill>
                  <a:srgbClr val="6B7280"/>
                </a:solidFill>
                <a:latin typeface="Calibri" pitchFamily="34" charset="0"/>
                <a:ea typeface="Calibri" pitchFamily="34" charset="-122"/>
                <a:cs typeface="Calibri" pitchFamily="34" charset="-120"/>
              </a:rPr>
              <a:t>Tax engine</a:t>
            </a:r>
            <a:endParaRPr lang="en-US" sz="1200" dirty="0"/>
          </a:p>
          <a:p>
            <a:pPr algn="ctr"/>
            <a:r>
              <a:rPr lang="en-US" sz="1200" dirty="0">
                <a:solidFill>
                  <a:srgbClr val="6B7280"/>
                </a:solidFill>
                <a:latin typeface="Calibri" pitchFamily="34" charset="0"/>
                <a:ea typeface="Calibri" pitchFamily="34" charset="-122"/>
                <a:cs typeface="Calibri" pitchFamily="34" charset="-120"/>
              </a:rPr>
              <a:t>Risk models</a:t>
            </a:r>
            <a:endParaRPr lang="en-US" sz="1200" dirty="0"/>
          </a:p>
          <a:p>
            <a:pPr algn="ctr"/>
            <a:r>
              <a:rPr lang="en-US" sz="1200" dirty="0">
                <a:solidFill>
                  <a:srgbClr val="6B7280"/>
                </a:solidFill>
                <a:latin typeface="Calibri" pitchFamily="34" charset="0"/>
                <a:ea typeface="Calibri" pitchFamily="34" charset="-122"/>
                <a:cs typeface="Calibri" pitchFamily="34" charset="-120"/>
              </a:rPr>
              <a:t>Portfolio DB</a:t>
            </a:r>
            <a:endParaRPr lang="en-US" sz="1200" dirty="0"/>
          </a:p>
        </p:txBody>
      </p:sp>
      <p:sp>
        <p:nvSpPr>
          <p:cNvPr id="22" name="Shape 20"/>
          <p:cNvSpPr/>
          <p:nvPr/>
        </p:nvSpPr>
        <p:spPr>
          <a:xfrm>
            <a:off x="6339840" y="3779520"/>
            <a:ext cx="2560320" cy="877824"/>
          </a:xfrm>
          <a:prstGeom prst="rect">
            <a:avLst/>
          </a:prstGeom>
          <a:solidFill>
            <a:srgbClr val="7B5EA7"/>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3" name="Text 21"/>
          <p:cNvSpPr/>
          <p:nvPr/>
        </p:nvSpPr>
        <p:spPr>
          <a:xfrm>
            <a:off x="6339840" y="3779520"/>
            <a:ext cx="2560320" cy="87782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Compliance</a:t>
            </a:r>
            <a:endParaRPr lang="en-US" sz="1467" dirty="0"/>
          </a:p>
          <a:p>
            <a:pPr algn="ctr"/>
            <a:r>
              <a:rPr lang="en-US" sz="1467" b="1" dirty="0">
                <a:solidFill>
                  <a:srgbClr val="FFFFFF"/>
                </a:solidFill>
                <a:latin typeface="Calibri" pitchFamily="34" charset="0"/>
                <a:ea typeface="Calibri" pitchFamily="34" charset="-122"/>
                <a:cs typeface="Calibri" pitchFamily="34" charset="-120"/>
              </a:rPr>
              <a:t>Agent</a:t>
            </a:r>
            <a:endParaRPr lang="en-US" sz="1467" dirty="0"/>
          </a:p>
        </p:txBody>
      </p:sp>
      <p:sp>
        <p:nvSpPr>
          <p:cNvPr id="24" name="Shape 22"/>
          <p:cNvSpPr/>
          <p:nvPr/>
        </p:nvSpPr>
        <p:spPr>
          <a:xfrm>
            <a:off x="6339840" y="4718304"/>
            <a:ext cx="2560320" cy="877824"/>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5" name="Text 23"/>
          <p:cNvSpPr/>
          <p:nvPr/>
        </p:nvSpPr>
        <p:spPr>
          <a:xfrm>
            <a:off x="6461760" y="4718304"/>
            <a:ext cx="2316480" cy="877824"/>
          </a:xfrm>
          <a:prstGeom prst="rect">
            <a:avLst/>
          </a:prstGeom>
          <a:noFill/>
          <a:ln/>
        </p:spPr>
        <p:txBody>
          <a:bodyPr wrap="square" lIns="0" tIns="0" rIns="0" bIns="0" rtlCol="0" anchor="ctr"/>
          <a:lstStyle/>
          <a:p>
            <a:pPr algn="ctr"/>
            <a:r>
              <a:rPr lang="en-US" sz="1200" dirty="0">
                <a:solidFill>
                  <a:srgbClr val="6B7280"/>
                </a:solidFill>
                <a:latin typeface="Calibri" pitchFamily="34" charset="0"/>
                <a:ea typeface="Calibri" pitchFamily="34" charset="-122"/>
                <a:cs typeface="Calibri" pitchFamily="34" charset="-120"/>
              </a:rPr>
              <a:t>SEBI rules</a:t>
            </a:r>
            <a:endParaRPr lang="en-US" sz="1200" dirty="0"/>
          </a:p>
          <a:p>
            <a:pPr algn="ctr"/>
            <a:r>
              <a:rPr lang="en-US" sz="1200" dirty="0">
                <a:solidFill>
                  <a:srgbClr val="6B7280"/>
                </a:solidFill>
                <a:latin typeface="Calibri" pitchFamily="34" charset="0"/>
                <a:ea typeface="Calibri" pitchFamily="34" charset="-122"/>
                <a:cs typeface="Calibri" pitchFamily="34" charset="-120"/>
              </a:rPr>
              <a:t>Audit logger</a:t>
            </a:r>
            <a:endParaRPr lang="en-US" sz="1200" dirty="0"/>
          </a:p>
          <a:p>
            <a:pPr algn="ctr"/>
            <a:r>
              <a:rPr lang="en-US" sz="1200" dirty="0">
                <a:solidFill>
                  <a:srgbClr val="6B7280"/>
                </a:solidFill>
                <a:latin typeface="Calibri" pitchFamily="34" charset="0"/>
                <a:ea typeface="Calibri" pitchFamily="34" charset="-122"/>
                <a:cs typeface="Calibri" pitchFamily="34" charset="-120"/>
              </a:rPr>
              <a:t>Report gen</a:t>
            </a:r>
            <a:endParaRPr lang="en-US" sz="1200" dirty="0"/>
          </a:p>
        </p:txBody>
      </p:sp>
      <p:sp>
        <p:nvSpPr>
          <p:cNvPr id="26" name="Shape 24"/>
          <p:cNvSpPr/>
          <p:nvPr/>
        </p:nvSpPr>
        <p:spPr>
          <a:xfrm>
            <a:off x="9204960" y="3779520"/>
            <a:ext cx="2560320" cy="877824"/>
          </a:xfrm>
          <a:prstGeom prst="rect">
            <a:avLst/>
          </a:prstGeom>
          <a:solidFill>
            <a:srgbClr val="E67E22"/>
          </a:solidFill>
          <a:ln w="12700">
            <a:solidFill>
              <a:srgbClr val="E67E22"/>
            </a:solidFill>
            <a:prstDash val="solid"/>
          </a:ln>
          <a:effectLst>
            <a:outerShdw blurRad="50800" dist="12700" dir="8100000" algn="bl" rotWithShape="0">
              <a:srgbClr val="000000">
                <a:alpha val="7000"/>
              </a:srgbClr>
            </a:outerShdw>
          </a:effectLst>
        </p:spPr>
        <p:txBody>
          <a:bodyPr/>
          <a:lstStyle/>
          <a:p>
            <a:endParaRPr lang="en-IN" sz="2400"/>
          </a:p>
        </p:txBody>
      </p:sp>
      <p:sp>
        <p:nvSpPr>
          <p:cNvPr id="27" name="Text 25"/>
          <p:cNvSpPr/>
          <p:nvPr/>
        </p:nvSpPr>
        <p:spPr>
          <a:xfrm>
            <a:off x="9204960" y="3779520"/>
            <a:ext cx="2560320" cy="87782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Execution</a:t>
            </a:r>
            <a:endParaRPr lang="en-US" sz="1467" dirty="0"/>
          </a:p>
          <a:p>
            <a:pPr algn="ctr"/>
            <a:r>
              <a:rPr lang="en-US" sz="1467" b="1" dirty="0">
                <a:solidFill>
                  <a:srgbClr val="FFFFFF"/>
                </a:solidFill>
                <a:latin typeface="Calibri" pitchFamily="34" charset="0"/>
                <a:ea typeface="Calibri" pitchFamily="34" charset="-122"/>
                <a:cs typeface="Calibri" pitchFamily="34" charset="-120"/>
              </a:rPr>
              <a:t>Agent</a:t>
            </a:r>
            <a:endParaRPr lang="en-US" sz="1467" dirty="0"/>
          </a:p>
        </p:txBody>
      </p:sp>
      <p:sp>
        <p:nvSpPr>
          <p:cNvPr id="28" name="Shape 26"/>
          <p:cNvSpPr/>
          <p:nvPr/>
        </p:nvSpPr>
        <p:spPr>
          <a:xfrm>
            <a:off x="9204960" y="4718304"/>
            <a:ext cx="2560320" cy="877824"/>
          </a:xfrm>
          <a:prstGeom prst="rect">
            <a:avLst/>
          </a:prstGeom>
          <a:solidFill>
            <a:srgbClr val="F4F6FB"/>
          </a:solidFill>
          <a:ln w="12700">
            <a:solidFill>
              <a:srgbClr val="E67E22"/>
            </a:solidFill>
            <a:prstDash val="solid"/>
          </a:ln>
          <a:effectLst>
            <a:outerShdw blurRad="50800" dist="12700" dir="8100000" algn="bl" rotWithShape="0">
              <a:srgbClr val="000000">
                <a:alpha val="7000"/>
              </a:srgbClr>
            </a:outerShdw>
          </a:effectLst>
        </p:spPr>
        <p:txBody>
          <a:bodyPr/>
          <a:lstStyle/>
          <a:p>
            <a:endParaRPr lang="en-IN" sz="2400"/>
          </a:p>
        </p:txBody>
      </p:sp>
      <p:sp>
        <p:nvSpPr>
          <p:cNvPr id="29" name="Text 27"/>
          <p:cNvSpPr/>
          <p:nvPr/>
        </p:nvSpPr>
        <p:spPr>
          <a:xfrm>
            <a:off x="9326880" y="4718304"/>
            <a:ext cx="2316480" cy="877824"/>
          </a:xfrm>
          <a:prstGeom prst="rect">
            <a:avLst/>
          </a:prstGeom>
          <a:noFill/>
          <a:ln/>
        </p:spPr>
        <p:txBody>
          <a:bodyPr wrap="square" lIns="0" tIns="0" rIns="0" bIns="0" rtlCol="0" anchor="ctr"/>
          <a:lstStyle/>
          <a:p>
            <a:pPr algn="ctr"/>
            <a:r>
              <a:rPr lang="en-US" sz="1200" dirty="0">
                <a:solidFill>
                  <a:srgbClr val="6B7280"/>
                </a:solidFill>
                <a:latin typeface="Calibri" pitchFamily="34" charset="0"/>
                <a:ea typeface="Calibri" pitchFamily="34" charset="-122"/>
                <a:cs typeface="Calibri" pitchFamily="34" charset="-120"/>
              </a:rPr>
              <a:t>Zerodha MCP</a:t>
            </a:r>
            <a:endParaRPr lang="en-US" sz="1200" dirty="0"/>
          </a:p>
          <a:p>
            <a:pPr algn="ctr"/>
            <a:r>
              <a:rPr lang="en-US" sz="1200" dirty="0">
                <a:solidFill>
                  <a:srgbClr val="6B7280"/>
                </a:solidFill>
                <a:latin typeface="Calibri" pitchFamily="34" charset="0"/>
                <a:ea typeface="Calibri" pitchFamily="34" charset="-122"/>
                <a:cs typeface="Calibri" pitchFamily="34" charset="-120"/>
              </a:rPr>
              <a:t>Order mgmt</a:t>
            </a:r>
            <a:endParaRPr lang="en-US" sz="1200" dirty="0"/>
          </a:p>
          <a:p>
            <a:pPr algn="ctr"/>
            <a:r>
              <a:rPr lang="en-US" sz="1200" dirty="0">
                <a:solidFill>
                  <a:srgbClr val="6B7280"/>
                </a:solidFill>
                <a:latin typeface="Calibri" pitchFamily="34" charset="0"/>
                <a:ea typeface="Calibri" pitchFamily="34" charset="-122"/>
                <a:cs typeface="Calibri" pitchFamily="34" charset="-120"/>
              </a:rPr>
              <a:t>Notifications</a:t>
            </a:r>
            <a:endParaRPr lang="en-US" sz="1200" dirty="0"/>
          </a:p>
        </p:txBody>
      </p:sp>
      <p:sp>
        <p:nvSpPr>
          <p:cNvPr id="30" name="Text 28"/>
          <p:cNvSpPr/>
          <p:nvPr/>
        </p:nvSpPr>
        <p:spPr>
          <a:xfrm>
            <a:off x="4876800" y="3194304"/>
            <a:ext cx="2438400" cy="304800"/>
          </a:xfrm>
          <a:prstGeom prst="rect">
            <a:avLst/>
          </a:prstGeom>
          <a:noFill/>
          <a:ln/>
        </p:spPr>
        <p:txBody>
          <a:bodyPr wrap="square" lIns="0" tIns="0" rIns="0" bIns="0" rtlCol="0" anchor="ctr"/>
          <a:lstStyle/>
          <a:p>
            <a:pPr algn="ctr"/>
            <a:r>
              <a:rPr lang="en-US" sz="1133" i="1" dirty="0">
                <a:solidFill>
                  <a:srgbClr val="6B7280"/>
                </a:solidFill>
                <a:latin typeface="Calibri" pitchFamily="34" charset="0"/>
                <a:ea typeface="Calibri" pitchFamily="34" charset="-122"/>
                <a:cs typeface="Calibri" pitchFamily="34" charset="-120"/>
              </a:rPr>
              <a:t>A2A protocol</a:t>
            </a:r>
            <a:endParaRPr lang="en-US" sz="1133" dirty="0"/>
          </a:p>
        </p:txBody>
      </p:sp>
      <p:sp>
        <p:nvSpPr>
          <p:cNvPr id="31" name="Shape 29"/>
          <p:cNvSpPr/>
          <p:nvPr/>
        </p:nvSpPr>
        <p:spPr>
          <a:xfrm>
            <a:off x="609600" y="5754624"/>
            <a:ext cx="10972800" cy="548640"/>
          </a:xfrm>
          <a:prstGeom prst="rect">
            <a:avLst/>
          </a:prstGeom>
          <a:solidFill>
            <a:srgbClr val="EBF5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32" name="Shape 30"/>
          <p:cNvSpPr/>
          <p:nvPr/>
        </p:nvSpPr>
        <p:spPr>
          <a:xfrm>
            <a:off x="609600" y="5754624"/>
            <a:ext cx="73152" cy="548640"/>
          </a:xfrm>
          <a:prstGeom prst="rect">
            <a:avLst/>
          </a:prstGeom>
          <a:solidFill>
            <a:srgbClr val="0F6CBD"/>
          </a:solidFill>
          <a:ln w="12700">
            <a:solidFill>
              <a:srgbClr val="0F6CBD"/>
            </a:solidFill>
            <a:prstDash val="solid"/>
          </a:ln>
        </p:spPr>
        <p:txBody>
          <a:bodyPr/>
          <a:lstStyle/>
          <a:p>
            <a:endParaRPr lang="en-IN" sz="2400"/>
          </a:p>
        </p:txBody>
      </p:sp>
      <p:sp>
        <p:nvSpPr>
          <p:cNvPr id="33" name="Text 31"/>
          <p:cNvSpPr/>
          <p:nvPr/>
        </p:nvSpPr>
        <p:spPr>
          <a:xfrm>
            <a:off x="853440" y="5754624"/>
            <a:ext cx="10607040" cy="54864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Each agent is an independent service with its own tools (via MCP), its own LLM, its own ReAct loop. A2A is how they coordinate.</a:t>
            </a:r>
            <a:endParaRPr lang="en-US" sz="1333"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A2A in Action — Portfolio Rebalancing</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Shape 4"/>
          <p:cNvSpPr/>
          <p:nvPr/>
        </p:nvSpPr>
        <p:spPr>
          <a:xfrm>
            <a:off x="609600" y="1584960"/>
            <a:ext cx="10972800" cy="1072896"/>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7" name="Shape 5"/>
          <p:cNvSpPr/>
          <p:nvPr/>
        </p:nvSpPr>
        <p:spPr>
          <a:xfrm>
            <a:off x="609600" y="1584960"/>
            <a:ext cx="73152" cy="1072896"/>
          </a:xfrm>
          <a:prstGeom prst="rect">
            <a:avLst/>
          </a:prstGeom>
          <a:solidFill>
            <a:srgbClr val="0F6CBD"/>
          </a:solidFill>
          <a:ln w="12700">
            <a:solidFill>
              <a:srgbClr val="0F6CBD"/>
            </a:solidFill>
            <a:prstDash val="solid"/>
          </a:ln>
        </p:spPr>
        <p:txBody>
          <a:bodyPr/>
          <a:lstStyle/>
          <a:p>
            <a:endParaRPr lang="en-IN" sz="2400"/>
          </a:p>
        </p:txBody>
      </p:sp>
      <p:sp>
        <p:nvSpPr>
          <p:cNvPr id="8" name="Shape 6"/>
          <p:cNvSpPr/>
          <p:nvPr/>
        </p:nvSpPr>
        <p:spPr>
          <a:xfrm>
            <a:off x="780288" y="1926336"/>
            <a:ext cx="438912" cy="365760"/>
          </a:xfrm>
          <a:prstGeom prst="rect">
            <a:avLst/>
          </a:prstGeom>
          <a:solidFill>
            <a:srgbClr val="0F6CBD"/>
          </a:solidFill>
          <a:ln w="12700">
            <a:solidFill>
              <a:srgbClr val="0F6CBD"/>
            </a:solidFill>
            <a:prstDash val="solid"/>
          </a:ln>
        </p:spPr>
        <p:txBody>
          <a:bodyPr/>
          <a:lstStyle/>
          <a:p>
            <a:endParaRPr lang="en-IN" sz="2400"/>
          </a:p>
        </p:txBody>
      </p:sp>
      <p:sp>
        <p:nvSpPr>
          <p:cNvPr id="9" name="Text 7"/>
          <p:cNvSpPr/>
          <p:nvPr/>
        </p:nvSpPr>
        <p:spPr>
          <a:xfrm>
            <a:off x="780288" y="1926336"/>
            <a:ext cx="438912" cy="365760"/>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1</a:t>
            </a:r>
            <a:endParaRPr lang="en-US" sz="1133" dirty="0"/>
          </a:p>
        </p:txBody>
      </p:sp>
      <p:sp>
        <p:nvSpPr>
          <p:cNvPr id="10" name="Text 8"/>
          <p:cNvSpPr/>
          <p:nvPr/>
        </p:nvSpPr>
        <p:spPr>
          <a:xfrm>
            <a:off x="1365504" y="1658112"/>
            <a:ext cx="4267200" cy="341376"/>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Supervisor  →  Research Agent</a:t>
            </a:r>
            <a:endParaRPr lang="en-US" sz="1333" dirty="0"/>
          </a:p>
        </p:txBody>
      </p:sp>
      <p:sp>
        <p:nvSpPr>
          <p:cNvPr id="11" name="Text 9"/>
          <p:cNvSpPr/>
          <p:nvPr/>
        </p:nvSpPr>
        <p:spPr>
          <a:xfrm>
            <a:off x="1365504" y="1999488"/>
            <a:ext cx="5486400" cy="341376"/>
          </a:xfrm>
          <a:prstGeom prst="rect">
            <a:avLst/>
          </a:prstGeom>
          <a:noFill/>
          <a:ln/>
        </p:spPr>
        <p:txBody>
          <a:bodyPr wrap="square" lIns="0" tIns="0" rIns="0" bIns="0" rtlCol="0" anchor="ctr"/>
          <a:lstStyle/>
          <a:p>
            <a:r>
              <a:rPr lang="en-US" sz="1267" i="1" dirty="0">
                <a:solidFill>
                  <a:srgbClr val="1A1A2E"/>
                </a:solidFill>
                <a:latin typeface="Calibri" pitchFamily="34" charset="0"/>
                <a:ea typeface="Calibri" pitchFamily="34" charset="-122"/>
                <a:cs typeface="Calibri" pitchFamily="34" charset="-120"/>
              </a:rPr>
              <a:t>"Analyse HDFC, INFY, RELIANCE exposure vs sector benchmarks. Downturn scenario."</a:t>
            </a:r>
            <a:endParaRPr lang="en-US" sz="1267" dirty="0"/>
          </a:p>
        </p:txBody>
      </p:sp>
      <p:sp>
        <p:nvSpPr>
          <p:cNvPr id="12" name="Shape 10"/>
          <p:cNvSpPr/>
          <p:nvPr/>
        </p:nvSpPr>
        <p:spPr>
          <a:xfrm>
            <a:off x="7071360" y="1706880"/>
            <a:ext cx="4389120" cy="829056"/>
          </a:xfrm>
          <a:prstGeom prst="rect">
            <a:avLst/>
          </a:prstGeom>
          <a:solidFill>
            <a:srgbClr val="FFFFFF"/>
          </a:solidFill>
          <a:ln w="12700">
            <a:solidFill>
              <a:srgbClr val="0F6CBD"/>
            </a:solidFill>
            <a:prstDash val="solid"/>
          </a:ln>
        </p:spPr>
        <p:txBody>
          <a:bodyPr/>
          <a:lstStyle/>
          <a:p>
            <a:endParaRPr lang="en-IN" sz="2400"/>
          </a:p>
        </p:txBody>
      </p:sp>
      <p:sp>
        <p:nvSpPr>
          <p:cNvPr id="13" name="Text 11"/>
          <p:cNvSpPr/>
          <p:nvPr/>
        </p:nvSpPr>
        <p:spPr>
          <a:xfrm>
            <a:off x="7193280" y="1706880"/>
            <a:ext cx="4145280" cy="829056"/>
          </a:xfrm>
          <a:prstGeom prst="rect">
            <a:avLst/>
          </a:prstGeom>
          <a:noFill/>
          <a:ln/>
        </p:spPr>
        <p:txBody>
          <a:bodyPr wrap="square" lIns="0" tIns="0" rIns="0" bIns="0" rtlCol="0" anchor="ctr"/>
          <a:lstStyle/>
          <a:p>
            <a:r>
              <a:rPr lang="en-US" sz="1200" dirty="0">
                <a:solidFill>
                  <a:srgbClr val="1A1A2E"/>
                </a:solidFill>
                <a:latin typeface="Calibri" pitchFamily="34" charset="0"/>
                <a:ea typeface="Calibri" pitchFamily="34" charset="-122"/>
                <a:cs typeface="Calibri" pitchFamily="34" charset="-120"/>
              </a:rPr>
              <a:t>✓ Overweight INFY by 8%. HDFC within range. Reduce RELIANCE by 5%.</a:t>
            </a:r>
            <a:endParaRPr lang="en-US" sz="1200" dirty="0"/>
          </a:p>
        </p:txBody>
      </p:sp>
      <p:sp>
        <p:nvSpPr>
          <p:cNvPr id="14" name="Shape 12"/>
          <p:cNvSpPr/>
          <p:nvPr/>
        </p:nvSpPr>
        <p:spPr>
          <a:xfrm>
            <a:off x="609600" y="2804160"/>
            <a:ext cx="10972800" cy="1072896"/>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5" name="Shape 13"/>
          <p:cNvSpPr/>
          <p:nvPr/>
        </p:nvSpPr>
        <p:spPr>
          <a:xfrm>
            <a:off x="609600" y="2804160"/>
            <a:ext cx="73152" cy="1072896"/>
          </a:xfrm>
          <a:prstGeom prst="rect">
            <a:avLst/>
          </a:prstGeom>
          <a:solidFill>
            <a:srgbClr val="00897B"/>
          </a:solidFill>
          <a:ln w="12700">
            <a:solidFill>
              <a:srgbClr val="00897B"/>
            </a:solidFill>
            <a:prstDash val="solid"/>
          </a:ln>
        </p:spPr>
        <p:txBody>
          <a:bodyPr/>
          <a:lstStyle/>
          <a:p>
            <a:endParaRPr lang="en-IN" sz="2400"/>
          </a:p>
        </p:txBody>
      </p:sp>
      <p:sp>
        <p:nvSpPr>
          <p:cNvPr id="16" name="Shape 14"/>
          <p:cNvSpPr/>
          <p:nvPr/>
        </p:nvSpPr>
        <p:spPr>
          <a:xfrm>
            <a:off x="780288" y="3145536"/>
            <a:ext cx="438912" cy="365760"/>
          </a:xfrm>
          <a:prstGeom prst="rect">
            <a:avLst/>
          </a:prstGeom>
          <a:solidFill>
            <a:srgbClr val="00897B"/>
          </a:solidFill>
          <a:ln w="12700">
            <a:solidFill>
              <a:srgbClr val="00897B"/>
            </a:solidFill>
            <a:prstDash val="solid"/>
          </a:ln>
        </p:spPr>
        <p:txBody>
          <a:bodyPr/>
          <a:lstStyle/>
          <a:p>
            <a:endParaRPr lang="en-IN" sz="2400"/>
          </a:p>
        </p:txBody>
      </p:sp>
      <p:sp>
        <p:nvSpPr>
          <p:cNvPr id="17" name="Text 15"/>
          <p:cNvSpPr/>
          <p:nvPr/>
        </p:nvSpPr>
        <p:spPr>
          <a:xfrm>
            <a:off x="780288" y="3145536"/>
            <a:ext cx="438912" cy="365760"/>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2</a:t>
            </a:r>
            <a:endParaRPr lang="en-US" sz="1133" dirty="0"/>
          </a:p>
        </p:txBody>
      </p:sp>
      <p:sp>
        <p:nvSpPr>
          <p:cNvPr id="18" name="Text 16"/>
          <p:cNvSpPr/>
          <p:nvPr/>
        </p:nvSpPr>
        <p:spPr>
          <a:xfrm>
            <a:off x="1365504" y="2877312"/>
            <a:ext cx="4267200" cy="341376"/>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Supervisor  →  Risk &amp; Tax Agent</a:t>
            </a:r>
            <a:endParaRPr lang="en-US" sz="1333" dirty="0"/>
          </a:p>
        </p:txBody>
      </p:sp>
      <p:sp>
        <p:nvSpPr>
          <p:cNvPr id="19" name="Text 17"/>
          <p:cNvSpPr/>
          <p:nvPr/>
        </p:nvSpPr>
        <p:spPr>
          <a:xfrm>
            <a:off x="1365504" y="3218688"/>
            <a:ext cx="5486400" cy="341376"/>
          </a:xfrm>
          <a:prstGeom prst="rect">
            <a:avLst/>
          </a:prstGeom>
          <a:noFill/>
          <a:ln/>
        </p:spPr>
        <p:txBody>
          <a:bodyPr wrap="square" lIns="0" tIns="0" rIns="0" bIns="0" rtlCol="0" anchor="ctr"/>
          <a:lstStyle/>
          <a:p>
            <a:r>
              <a:rPr lang="en-US" sz="1267" i="1" dirty="0">
                <a:solidFill>
                  <a:srgbClr val="1A1A2E"/>
                </a:solidFill>
                <a:latin typeface="Calibri" pitchFamily="34" charset="0"/>
                <a:ea typeface="Calibri" pitchFamily="34" charset="-122"/>
                <a:cs typeface="Calibri" pitchFamily="34" charset="-120"/>
              </a:rPr>
              <a:t>"Given sell RELIANCE 200 shares — calculate tax liability and net proceeds."</a:t>
            </a:r>
            <a:endParaRPr lang="en-US" sz="1267" dirty="0"/>
          </a:p>
        </p:txBody>
      </p:sp>
      <p:sp>
        <p:nvSpPr>
          <p:cNvPr id="20" name="Shape 18"/>
          <p:cNvSpPr/>
          <p:nvPr/>
        </p:nvSpPr>
        <p:spPr>
          <a:xfrm>
            <a:off x="7071360" y="2926080"/>
            <a:ext cx="4389120" cy="829056"/>
          </a:xfrm>
          <a:prstGeom prst="rect">
            <a:avLst/>
          </a:prstGeom>
          <a:solidFill>
            <a:srgbClr val="FFFFFF"/>
          </a:solidFill>
          <a:ln w="12700">
            <a:solidFill>
              <a:srgbClr val="00897B"/>
            </a:solidFill>
            <a:prstDash val="solid"/>
          </a:ln>
        </p:spPr>
        <p:txBody>
          <a:bodyPr/>
          <a:lstStyle/>
          <a:p>
            <a:endParaRPr lang="en-IN" sz="2400"/>
          </a:p>
        </p:txBody>
      </p:sp>
      <p:sp>
        <p:nvSpPr>
          <p:cNvPr id="21" name="Text 19"/>
          <p:cNvSpPr/>
          <p:nvPr/>
        </p:nvSpPr>
        <p:spPr>
          <a:xfrm>
            <a:off x="7193280" y="2926080"/>
            <a:ext cx="4145280" cy="829056"/>
          </a:xfrm>
          <a:prstGeom prst="rect">
            <a:avLst/>
          </a:prstGeom>
          <a:noFill/>
          <a:ln/>
        </p:spPr>
        <p:txBody>
          <a:bodyPr wrap="square" lIns="0" tIns="0" rIns="0" bIns="0" rtlCol="0" anchor="ctr"/>
          <a:lstStyle/>
          <a:p>
            <a:r>
              <a:rPr lang="en-US" sz="1200" dirty="0">
                <a:solidFill>
                  <a:srgbClr val="1A1A2E"/>
                </a:solidFill>
                <a:latin typeface="Calibri" pitchFamily="34" charset="0"/>
                <a:ea typeface="Calibri" pitchFamily="34" charset="-122"/>
                <a:cs typeface="Calibri" pitchFamily="34" charset="-120"/>
              </a:rPr>
              <a:t>✓ STCG ₹18,400. Net proceeds after tax: ₹1,12,600.</a:t>
            </a:r>
            <a:endParaRPr lang="en-US" sz="1200" dirty="0"/>
          </a:p>
        </p:txBody>
      </p:sp>
      <p:sp>
        <p:nvSpPr>
          <p:cNvPr id="22" name="Shape 20"/>
          <p:cNvSpPr/>
          <p:nvPr/>
        </p:nvSpPr>
        <p:spPr>
          <a:xfrm>
            <a:off x="609600" y="4023360"/>
            <a:ext cx="10972800" cy="1072896"/>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3" name="Shape 21"/>
          <p:cNvSpPr/>
          <p:nvPr/>
        </p:nvSpPr>
        <p:spPr>
          <a:xfrm>
            <a:off x="609600" y="4023360"/>
            <a:ext cx="73152" cy="1072896"/>
          </a:xfrm>
          <a:prstGeom prst="rect">
            <a:avLst/>
          </a:prstGeom>
          <a:solidFill>
            <a:srgbClr val="7B5EA7"/>
          </a:solidFill>
          <a:ln w="12700">
            <a:solidFill>
              <a:srgbClr val="7B5EA7"/>
            </a:solidFill>
            <a:prstDash val="solid"/>
          </a:ln>
        </p:spPr>
        <p:txBody>
          <a:bodyPr/>
          <a:lstStyle/>
          <a:p>
            <a:endParaRPr lang="en-IN" sz="2400"/>
          </a:p>
        </p:txBody>
      </p:sp>
      <p:sp>
        <p:nvSpPr>
          <p:cNvPr id="24" name="Shape 22"/>
          <p:cNvSpPr/>
          <p:nvPr/>
        </p:nvSpPr>
        <p:spPr>
          <a:xfrm>
            <a:off x="780288" y="4364736"/>
            <a:ext cx="438912" cy="365760"/>
          </a:xfrm>
          <a:prstGeom prst="rect">
            <a:avLst/>
          </a:prstGeom>
          <a:solidFill>
            <a:srgbClr val="7B5EA7"/>
          </a:solidFill>
          <a:ln w="12700">
            <a:solidFill>
              <a:srgbClr val="7B5EA7"/>
            </a:solidFill>
            <a:prstDash val="solid"/>
          </a:ln>
        </p:spPr>
        <p:txBody>
          <a:bodyPr/>
          <a:lstStyle/>
          <a:p>
            <a:endParaRPr lang="en-IN" sz="2400"/>
          </a:p>
        </p:txBody>
      </p:sp>
      <p:sp>
        <p:nvSpPr>
          <p:cNvPr id="25" name="Text 23"/>
          <p:cNvSpPr/>
          <p:nvPr/>
        </p:nvSpPr>
        <p:spPr>
          <a:xfrm>
            <a:off x="780288" y="4364736"/>
            <a:ext cx="438912" cy="365760"/>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3</a:t>
            </a:r>
            <a:endParaRPr lang="en-US" sz="1133" dirty="0"/>
          </a:p>
        </p:txBody>
      </p:sp>
      <p:sp>
        <p:nvSpPr>
          <p:cNvPr id="26" name="Text 24"/>
          <p:cNvSpPr/>
          <p:nvPr/>
        </p:nvSpPr>
        <p:spPr>
          <a:xfrm>
            <a:off x="1365504" y="4096512"/>
            <a:ext cx="4267200" cy="341376"/>
          </a:xfrm>
          <a:prstGeom prst="rect">
            <a:avLst/>
          </a:prstGeom>
          <a:noFill/>
          <a:ln/>
        </p:spPr>
        <p:txBody>
          <a:bodyPr wrap="square" lIns="0" tIns="0" rIns="0" bIns="0" rtlCol="0" anchor="ctr"/>
          <a:lstStyle/>
          <a:p>
            <a:r>
              <a:rPr lang="en-US" sz="1333" b="1" dirty="0">
                <a:solidFill>
                  <a:srgbClr val="7B5EA7"/>
                </a:solidFill>
                <a:latin typeface="Calibri" pitchFamily="34" charset="0"/>
                <a:ea typeface="Calibri" pitchFamily="34" charset="-122"/>
                <a:cs typeface="Calibri" pitchFamily="34" charset="-120"/>
              </a:rPr>
              <a:t>Supervisor  →  Compliance Agent</a:t>
            </a:r>
            <a:endParaRPr lang="en-US" sz="1333" dirty="0"/>
          </a:p>
        </p:txBody>
      </p:sp>
      <p:sp>
        <p:nvSpPr>
          <p:cNvPr id="27" name="Text 25"/>
          <p:cNvSpPr/>
          <p:nvPr/>
        </p:nvSpPr>
        <p:spPr>
          <a:xfrm>
            <a:off x="1365504" y="4437888"/>
            <a:ext cx="5486400" cy="341376"/>
          </a:xfrm>
          <a:prstGeom prst="rect">
            <a:avLst/>
          </a:prstGeom>
          <a:noFill/>
          <a:ln/>
        </p:spPr>
        <p:txBody>
          <a:bodyPr wrap="square" lIns="0" tIns="0" rIns="0" bIns="0" rtlCol="0" anchor="ctr"/>
          <a:lstStyle/>
          <a:p>
            <a:r>
              <a:rPr lang="en-US" sz="1267" i="1" dirty="0">
                <a:solidFill>
                  <a:srgbClr val="1A1A2E"/>
                </a:solidFill>
                <a:latin typeface="Calibri" pitchFamily="34" charset="0"/>
                <a:ea typeface="Calibri" pitchFamily="34" charset="-122"/>
                <a:cs typeface="Calibri" pitchFamily="34" charset="-120"/>
              </a:rPr>
              <a:t>"Review proposed trades: Sell RELIANCE 200, Sell INFY 50, Buy HDFCBANK 40."</a:t>
            </a:r>
            <a:endParaRPr lang="en-US" sz="1267" dirty="0"/>
          </a:p>
        </p:txBody>
      </p:sp>
      <p:sp>
        <p:nvSpPr>
          <p:cNvPr id="28" name="Shape 26"/>
          <p:cNvSpPr/>
          <p:nvPr/>
        </p:nvSpPr>
        <p:spPr>
          <a:xfrm>
            <a:off x="7071360" y="4145280"/>
            <a:ext cx="4389120" cy="829056"/>
          </a:xfrm>
          <a:prstGeom prst="rect">
            <a:avLst/>
          </a:prstGeom>
          <a:solidFill>
            <a:srgbClr val="FFFFFF"/>
          </a:solidFill>
          <a:ln w="12700">
            <a:solidFill>
              <a:srgbClr val="7B5EA7"/>
            </a:solidFill>
            <a:prstDash val="solid"/>
          </a:ln>
        </p:spPr>
        <p:txBody>
          <a:bodyPr/>
          <a:lstStyle/>
          <a:p>
            <a:endParaRPr lang="en-IN" sz="2400"/>
          </a:p>
        </p:txBody>
      </p:sp>
      <p:sp>
        <p:nvSpPr>
          <p:cNvPr id="29" name="Text 27"/>
          <p:cNvSpPr/>
          <p:nvPr/>
        </p:nvSpPr>
        <p:spPr>
          <a:xfrm>
            <a:off x="7193280" y="4145280"/>
            <a:ext cx="4145280" cy="829056"/>
          </a:xfrm>
          <a:prstGeom prst="rect">
            <a:avLst/>
          </a:prstGeom>
          <a:noFill/>
          <a:ln/>
        </p:spPr>
        <p:txBody>
          <a:bodyPr wrap="square" lIns="0" tIns="0" rIns="0" bIns="0" rtlCol="0" anchor="ctr"/>
          <a:lstStyle/>
          <a:p>
            <a:r>
              <a:rPr lang="en-US" sz="1200" dirty="0">
                <a:solidFill>
                  <a:srgbClr val="1A1A2E"/>
                </a:solidFill>
                <a:latin typeface="Calibri" pitchFamily="34" charset="0"/>
                <a:ea typeface="Calibri" pitchFamily="34" charset="-122"/>
                <a:cs typeface="Calibri" pitchFamily="34" charset="-120"/>
              </a:rPr>
              <a:t>✓ All within SEBI limits. Approved. Audit log entry created.</a:t>
            </a:r>
            <a:endParaRPr lang="en-US" sz="1200" dirty="0"/>
          </a:p>
        </p:txBody>
      </p:sp>
      <p:sp>
        <p:nvSpPr>
          <p:cNvPr id="30" name="Shape 28"/>
          <p:cNvSpPr/>
          <p:nvPr/>
        </p:nvSpPr>
        <p:spPr>
          <a:xfrm>
            <a:off x="609600" y="5242560"/>
            <a:ext cx="10972800" cy="1072896"/>
          </a:xfrm>
          <a:prstGeom prst="rect">
            <a:avLst/>
          </a:prstGeom>
          <a:solidFill>
            <a:srgbClr val="F4F6FB"/>
          </a:solidFill>
          <a:ln w="12700">
            <a:solidFill>
              <a:srgbClr val="E67E22"/>
            </a:solidFill>
            <a:prstDash val="solid"/>
          </a:ln>
          <a:effectLst>
            <a:outerShdw blurRad="50800" dist="12700" dir="8100000" algn="bl" rotWithShape="0">
              <a:srgbClr val="000000">
                <a:alpha val="7000"/>
              </a:srgbClr>
            </a:outerShdw>
          </a:effectLst>
        </p:spPr>
        <p:txBody>
          <a:bodyPr/>
          <a:lstStyle/>
          <a:p>
            <a:endParaRPr lang="en-IN" sz="2400"/>
          </a:p>
        </p:txBody>
      </p:sp>
      <p:sp>
        <p:nvSpPr>
          <p:cNvPr id="31" name="Shape 29"/>
          <p:cNvSpPr/>
          <p:nvPr/>
        </p:nvSpPr>
        <p:spPr>
          <a:xfrm>
            <a:off x="609600" y="5242560"/>
            <a:ext cx="73152" cy="1072896"/>
          </a:xfrm>
          <a:prstGeom prst="rect">
            <a:avLst/>
          </a:prstGeom>
          <a:solidFill>
            <a:srgbClr val="E67E22"/>
          </a:solidFill>
          <a:ln w="12700">
            <a:solidFill>
              <a:srgbClr val="E67E22"/>
            </a:solidFill>
            <a:prstDash val="solid"/>
          </a:ln>
        </p:spPr>
        <p:txBody>
          <a:bodyPr/>
          <a:lstStyle/>
          <a:p>
            <a:endParaRPr lang="en-IN" sz="2400"/>
          </a:p>
        </p:txBody>
      </p:sp>
      <p:sp>
        <p:nvSpPr>
          <p:cNvPr id="32" name="Shape 30"/>
          <p:cNvSpPr/>
          <p:nvPr/>
        </p:nvSpPr>
        <p:spPr>
          <a:xfrm>
            <a:off x="780288" y="5583936"/>
            <a:ext cx="438912" cy="365760"/>
          </a:xfrm>
          <a:prstGeom prst="rect">
            <a:avLst/>
          </a:prstGeom>
          <a:solidFill>
            <a:srgbClr val="E67E22"/>
          </a:solidFill>
          <a:ln w="12700">
            <a:solidFill>
              <a:srgbClr val="E67E22"/>
            </a:solidFill>
            <a:prstDash val="solid"/>
          </a:ln>
        </p:spPr>
        <p:txBody>
          <a:bodyPr/>
          <a:lstStyle/>
          <a:p>
            <a:endParaRPr lang="en-IN" sz="2400"/>
          </a:p>
        </p:txBody>
      </p:sp>
      <p:sp>
        <p:nvSpPr>
          <p:cNvPr id="33" name="Text 31"/>
          <p:cNvSpPr/>
          <p:nvPr/>
        </p:nvSpPr>
        <p:spPr>
          <a:xfrm>
            <a:off x="780288" y="5583936"/>
            <a:ext cx="438912" cy="365760"/>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4</a:t>
            </a:r>
            <a:endParaRPr lang="en-US" sz="1133" dirty="0"/>
          </a:p>
        </p:txBody>
      </p:sp>
      <p:sp>
        <p:nvSpPr>
          <p:cNvPr id="34" name="Text 32"/>
          <p:cNvSpPr/>
          <p:nvPr/>
        </p:nvSpPr>
        <p:spPr>
          <a:xfrm>
            <a:off x="1365504" y="5315712"/>
            <a:ext cx="4267200" cy="341376"/>
          </a:xfrm>
          <a:prstGeom prst="rect">
            <a:avLst/>
          </a:prstGeom>
          <a:noFill/>
          <a:ln/>
        </p:spPr>
        <p:txBody>
          <a:bodyPr wrap="square" lIns="0" tIns="0" rIns="0" bIns="0" rtlCol="0" anchor="ctr"/>
          <a:lstStyle/>
          <a:p>
            <a:r>
              <a:rPr lang="en-US" sz="1333" b="1" dirty="0">
                <a:solidFill>
                  <a:srgbClr val="E67E22"/>
                </a:solidFill>
                <a:latin typeface="Calibri" pitchFamily="34" charset="0"/>
                <a:ea typeface="Calibri" pitchFamily="34" charset="-122"/>
                <a:cs typeface="Calibri" pitchFamily="34" charset="-120"/>
              </a:rPr>
              <a:t>Supervisor  →  Execution Agent</a:t>
            </a:r>
            <a:endParaRPr lang="en-US" sz="1333" dirty="0"/>
          </a:p>
        </p:txBody>
      </p:sp>
      <p:sp>
        <p:nvSpPr>
          <p:cNvPr id="35" name="Text 33"/>
          <p:cNvSpPr/>
          <p:nvPr/>
        </p:nvSpPr>
        <p:spPr>
          <a:xfrm>
            <a:off x="1365504" y="5657088"/>
            <a:ext cx="5486400" cy="341376"/>
          </a:xfrm>
          <a:prstGeom prst="rect">
            <a:avLst/>
          </a:prstGeom>
          <a:noFill/>
          <a:ln/>
        </p:spPr>
        <p:txBody>
          <a:bodyPr wrap="square" lIns="0" tIns="0" rIns="0" bIns="0" rtlCol="0" anchor="ctr"/>
          <a:lstStyle/>
          <a:p>
            <a:r>
              <a:rPr lang="en-US" sz="1267" i="1" dirty="0">
                <a:solidFill>
                  <a:srgbClr val="1A1A2E"/>
                </a:solidFill>
                <a:latin typeface="Calibri" pitchFamily="34" charset="0"/>
                <a:ea typeface="Calibri" pitchFamily="34" charset="-122"/>
                <a:cs typeface="Calibri" pitchFamily="34" charset="-120"/>
              </a:rPr>
              <a:t>"Execute approved trade list. Confirmation required before each order."</a:t>
            </a:r>
            <a:endParaRPr lang="en-US" sz="1267" dirty="0"/>
          </a:p>
        </p:txBody>
      </p:sp>
      <p:sp>
        <p:nvSpPr>
          <p:cNvPr id="36" name="Shape 34"/>
          <p:cNvSpPr/>
          <p:nvPr/>
        </p:nvSpPr>
        <p:spPr>
          <a:xfrm>
            <a:off x="7071360" y="5364480"/>
            <a:ext cx="4389120" cy="829056"/>
          </a:xfrm>
          <a:prstGeom prst="rect">
            <a:avLst/>
          </a:prstGeom>
          <a:solidFill>
            <a:srgbClr val="FFFFFF"/>
          </a:solidFill>
          <a:ln w="12700">
            <a:solidFill>
              <a:srgbClr val="E67E22"/>
            </a:solidFill>
            <a:prstDash val="solid"/>
          </a:ln>
        </p:spPr>
        <p:txBody>
          <a:bodyPr/>
          <a:lstStyle/>
          <a:p>
            <a:endParaRPr lang="en-IN" sz="2400"/>
          </a:p>
        </p:txBody>
      </p:sp>
      <p:sp>
        <p:nvSpPr>
          <p:cNvPr id="37" name="Text 35"/>
          <p:cNvSpPr/>
          <p:nvPr/>
        </p:nvSpPr>
        <p:spPr>
          <a:xfrm>
            <a:off x="7193280" y="5364480"/>
            <a:ext cx="4145280" cy="829056"/>
          </a:xfrm>
          <a:prstGeom prst="rect">
            <a:avLst/>
          </a:prstGeom>
          <a:noFill/>
          <a:ln/>
        </p:spPr>
        <p:txBody>
          <a:bodyPr wrap="square" lIns="0" tIns="0" rIns="0" bIns="0" rtlCol="0" anchor="ctr"/>
          <a:lstStyle/>
          <a:p>
            <a:r>
              <a:rPr lang="en-US" sz="1200" dirty="0">
                <a:solidFill>
                  <a:srgbClr val="1A1A2E"/>
                </a:solidFill>
                <a:latin typeface="Calibri" pitchFamily="34" charset="0"/>
                <a:ea typeface="Calibri" pitchFamily="34" charset="-122"/>
                <a:cs typeface="Calibri" pitchFamily="34" charset="-120"/>
              </a:rPr>
              <a:t>✓ All 3 orders placed. Stop-losses set. Notification sent.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The Clean Mental Model</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Text 4"/>
          <p:cNvSpPr/>
          <p:nvPr/>
        </p:nvSpPr>
        <p:spPr>
          <a:xfrm>
            <a:off x="609600" y="1402080"/>
            <a:ext cx="10972800" cy="365760"/>
          </a:xfrm>
          <a:prstGeom prst="rect">
            <a:avLst/>
          </a:prstGeom>
          <a:noFill/>
          <a:ln/>
        </p:spPr>
        <p:txBody>
          <a:bodyPr wrap="square" lIns="0" tIns="0" rIns="0" bIns="0" rtlCol="0" anchor="ctr"/>
          <a:lstStyle/>
          <a:p>
            <a:r>
              <a:rPr lang="en-US" sz="1733" i="1" dirty="0">
                <a:solidFill>
                  <a:srgbClr val="6B7280"/>
                </a:solidFill>
                <a:latin typeface="Calibri" pitchFamily="34" charset="0"/>
                <a:ea typeface="Calibri" pitchFamily="34" charset="-122"/>
                <a:cs typeface="Calibri" pitchFamily="34" charset="-120"/>
              </a:rPr>
              <a:t>Two protocols. One clear distinction.</a:t>
            </a:r>
            <a:endParaRPr lang="en-US" sz="1733" dirty="0"/>
          </a:p>
        </p:txBody>
      </p:sp>
      <p:sp>
        <p:nvSpPr>
          <p:cNvPr id="7" name="Shape 5"/>
          <p:cNvSpPr/>
          <p:nvPr/>
        </p:nvSpPr>
        <p:spPr>
          <a:xfrm>
            <a:off x="609600" y="1889760"/>
            <a:ext cx="5242560" cy="3901440"/>
          </a:xfrm>
          <a:prstGeom prst="rect">
            <a:avLst/>
          </a:prstGeom>
          <a:solidFill>
            <a:srgbClr val="F9FBFF"/>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8" name="Shape 6"/>
          <p:cNvSpPr/>
          <p:nvPr/>
        </p:nvSpPr>
        <p:spPr>
          <a:xfrm>
            <a:off x="609600" y="1889760"/>
            <a:ext cx="5242560" cy="548640"/>
          </a:xfrm>
          <a:prstGeom prst="rect">
            <a:avLst/>
          </a:prstGeom>
          <a:solidFill>
            <a:srgbClr val="0F6CBD"/>
          </a:solidFill>
          <a:ln w="12700">
            <a:solidFill>
              <a:srgbClr val="0F6CBD"/>
            </a:solidFill>
            <a:prstDash val="solid"/>
          </a:ln>
        </p:spPr>
        <p:txBody>
          <a:bodyPr/>
          <a:lstStyle/>
          <a:p>
            <a:endParaRPr lang="en-IN" sz="2400"/>
          </a:p>
        </p:txBody>
      </p:sp>
      <p:sp>
        <p:nvSpPr>
          <p:cNvPr id="9" name="Text 7"/>
          <p:cNvSpPr/>
          <p:nvPr/>
        </p:nvSpPr>
        <p:spPr>
          <a:xfrm>
            <a:off x="609600" y="1889760"/>
            <a:ext cx="5242560" cy="54864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MCP — Model Context Protocol</a:t>
            </a:r>
            <a:endParaRPr lang="en-US" sz="1733" dirty="0"/>
          </a:p>
        </p:txBody>
      </p:sp>
      <p:sp>
        <p:nvSpPr>
          <p:cNvPr id="10" name="Text 8"/>
          <p:cNvSpPr/>
          <p:nvPr/>
        </p:nvSpPr>
        <p:spPr>
          <a:xfrm>
            <a:off x="792480" y="2535936"/>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Connects</a:t>
            </a:r>
            <a:endParaRPr lang="en-US" sz="1333" dirty="0"/>
          </a:p>
        </p:txBody>
      </p:sp>
      <p:sp>
        <p:nvSpPr>
          <p:cNvPr id="11" name="Text 9"/>
          <p:cNvSpPr/>
          <p:nvPr/>
        </p:nvSpPr>
        <p:spPr>
          <a:xfrm>
            <a:off x="2560320" y="2535936"/>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Agent ↕ Tools &amp; Data</a:t>
            </a:r>
            <a:endParaRPr lang="en-US" sz="1333" dirty="0"/>
          </a:p>
        </p:txBody>
      </p:sp>
      <p:sp>
        <p:nvSpPr>
          <p:cNvPr id="12" name="Shape 10"/>
          <p:cNvSpPr/>
          <p:nvPr/>
        </p:nvSpPr>
        <p:spPr>
          <a:xfrm>
            <a:off x="792480" y="2962656"/>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13" name="Text 11"/>
          <p:cNvSpPr/>
          <p:nvPr/>
        </p:nvSpPr>
        <p:spPr>
          <a:xfrm>
            <a:off x="792480" y="2999232"/>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Direction</a:t>
            </a:r>
            <a:endParaRPr lang="en-US" sz="1333" dirty="0"/>
          </a:p>
        </p:txBody>
      </p:sp>
      <p:sp>
        <p:nvSpPr>
          <p:cNvPr id="14" name="Text 12"/>
          <p:cNvSpPr/>
          <p:nvPr/>
        </p:nvSpPr>
        <p:spPr>
          <a:xfrm>
            <a:off x="2560320" y="2999232"/>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Vertical (agent reaches down)</a:t>
            </a:r>
            <a:endParaRPr lang="en-US" sz="1333" dirty="0"/>
          </a:p>
        </p:txBody>
      </p:sp>
      <p:sp>
        <p:nvSpPr>
          <p:cNvPr id="15" name="Shape 13"/>
          <p:cNvSpPr/>
          <p:nvPr/>
        </p:nvSpPr>
        <p:spPr>
          <a:xfrm>
            <a:off x="792480" y="3425952"/>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16" name="Text 14"/>
          <p:cNvSpPr/>
          <p:nvPr/>
        </p:nvSpPr>
        <p:spPr>
          <a:xfrm>
            <a:off x="792480" y="3462528"/>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Analogy</a:t>
            </a:r>
            <a:endParaRPr lang="en-US" sz="1333" dirty="0"/>
          </a:p>
        </p:txBody>
      </p:sp>
      <p:sp>
        <p:nvSpPr>
          <p:cNvPr id="17" name="Text 15"/>
          <p:cNvSpPr/>
          <p:nvPr/>
        </p:nvSpPr>
        <p:spPr>
          <a:xfrm>
            <a:off x="2560320" y="3462528"/>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USB-C — universal connector</a:t>
            </a:r>
            <a:endParaRPr lang="en-US" sz="1333" dirty="0"/>
          </a:p>
        </p:txBody>
      </p:sp>
      <p:sp>
        <p:nvSpPr>
          <p:cNvPr id="18" name="Shape 16"/>
          <p:cNvSpPr/>
          <p:nvPr/>
        </p:nvSpPr>
        <p:spPr>
          <a:xfrm>
            <a:off x="792480" y="3889248"/>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19" name="Text 17"/>
          <p:cNvSpPr/>
          <p:nvPr/>
        </p:nvSpPr>
        <p:spPr>
          <a:xfrm>
            <a:off x="792480" y="3925824"/>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In our example</a:t>
            </a:r>
            <a:endParaRPr lang="en-US" sz="1333" dirty="0"/>
          </a:p>
        </p:txBody>
      </p:sp>
      <p:sp>
        <p:nvSpPr>
          <p:cNvPr id="20" name="Text 18"/>
          <p:cNvSpPr/>
          <p:nvPr/>
        </p:nvSpPr>
        <p:spPr>
          <a:xfrm>
            <a:off x="2560320" y="3925824"/>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Trading agent ↔ Zerodha APIs</a:t>
            </a:r>
            <a:endParaRPr lang="en-US" sz="1333" dirty="0"/>
          </a:p>
        </p:txBody>
      </p:sp>
      <p:sp>
        <p:nvSpPr>
          <p:cNvPr id="21" name="Shape 19"/>
          <p:cNvSpPr/>
          <p:nvPr/>
        </p:nvSpPr>
        <p:spPr>
          <a:xfrm>
            <a:off x="792480" y="4352544"/>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22" name="Text 20"/>
          <p:cNvSpPr/>
          <p:nvPr/>
        </p:nvSpPr>
        <p:spPr>
          <a:xfrm>
            <a:off x="792480" y="4389120"/>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Developed by</a:t>
            </a:r>
            <a:endParaRPr lang="en-US" sz="1333" dirty="0"/>
          </a:p>
        </p:txBody>
      </p:sp>
      <p:sp>
        <p:nvSpPr>
          <p:cNvPr id="23" name="Text 21"/>
          <p:cNvSpPr/>
          <p:nvPr/>
        </p:nvSpPr>
        <p:spPr>
          <a:xfrm>
            <a:off x="2560320" y="4389120"/>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Anthropic (open standard)</a:t>
            </a:r>
            <a:endParaRPr lang="en-US" sz="1333" dirty="0"/>
          </a:p>
        </p:txBody>
      </p:sp>
      <p:sp>
        <p:nvSpPr>
          <p:cNvPr id="24" name="Shape 22"/>
          <p:cNvSpPr/>
          <p:nvPr/>
        </p:nvSpPr>
        <p:spPr>
          <a:xfrm>
            <a:off x="792480" y="4815840"/>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25" name="Text 23"/>
          <p:cNvSpPr/>
          <p:nvPr/>
        </p:nvSpPr>
        <p:spPr>
          <a:xfrm>
            <a:off x="792480" y="4852416"/>
            <a:ext cx="1706880" cy="426720"/>
          </a:xfrm>
          <a:prstGeom prst="rect">
            <a:avLst/>
          </a:prstGeom>
          <a:noFill/>
          <a:ln/>
        </p:spPr>
        <p:txBody>
          <a:bodyPr wrap="square" lIns="0" tIns="0" rIns="0" bIns="0" rtlCol="0" anchor="ctr"/>
          <a:lstStyle/>
          <a:p>
            <a:r>
              <a:rPr lang="en-US" sz="1333" b="1" dirty="0">
                <a:solidFill>
                  <a:srgbClr val="0F6CBD"/>
                </a:solidFill>
                <a:latin typeface="Calibri" pitchFamily="34" charset="0"/>
                <a:ea typeface="Calibri" pitchFamily="34" charset="-122"/>
                <a:cs typeface="Calibri" pitchFamily="34" charset="-120"/>
              </a:rPr>
              <a:t>State</a:t>
            </a:r>
            <a:endParaRPr lang="en-US" sz="1333" dirty="0"/>
          </a:p>
        </p:txBody>
      </p:sp>
      <p:sp>
        <p:nvSpPr>
          <p:cNvPr id="26" name="Text 24"/>
          <p:cNvSpPr/>
          <p:nvPr/>
        </p:nvSpPr>
        <p:spPr>
          <a:xfrm>
            <a:off x="2560320" y="4852416"/>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Stateful session per connection</a:t>
            </a:r>
            <a:endParaRPr lang="en-US" sz="1333" dirty="0"/>
          </a:p>
        </p:txBody>
      </p:sp>
      <p:sp>
        <p:nvSpPr>
          <p:cNvPr id="27" name="Shape 25"/>
          <p:cNvSpPr/>
          <p:nvPr/>
        </p:nvSpPr>
        <p:spPr>
          <a:xfrm>
            <a:off x="6339840" y="1889760"/>
            <a:ext cx="5242560" cy="3901440"/>
          </a:xfrm>
          <a:prstGeom prst="rect">
            <a:avLst/>
          </a:prstGeom>
          <a:solidFill>
            <a:srgbClr val="F9FBFF"/>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8" name="Shape 26"/>
          <p:cNvSpPr/>
          <p:nvPr/>
        </p:nvSpPr>
        <p:spPr>
          <a:xfrm>
            <a:off x="6339840" y="1889760"/>
            <a:ext cx="5242560" cy="548640"/>
          </a:xfrm>
          <a:prstGeom prst="rect">
            <a:avLst/>
          </a:prstGeom>
          <a:solidFill>
            <a:srgbClr val="00897B"/>
          </a:solidFill>
          <a:ln w="12700">
            <a:solidFill>
              <a:srgbClr val="00897B"/>
            </a:solidFill>
            <a:prstDash val="solid"/>
          </a:ln>
        </p:spPr>
        <p:txBody>
          <a:bodyPr/>
          <a:lstStyle/>
          <a:p>
            <a:endParaRPr lang="en-IN" sz="2400"/>
          </a:p>
        </p:txBody>
      </p:sp>
      <p:sp>
        <p:nvSpPr>
          <p:cNvPr id="29" name="Text 27"/>
          <p:cNvSpPr/>
          <p:nvPr/>
        </p:nvSpPr>
        <p:spPr>
          <a:xfrm>
            <a:off x="6339840" y="1889760"/>
            <a:ext cx="5242560" cy="54864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A2A — Agent-to-Agent Protocol</a:t>
            </a:r>
            <a:endParaRPr lang="en-US" sz="1733" dirty="0"/>
          </a:p>
        </p:txBody>
      </p:sp>
      <p:sp>
        <p:nvSpPr>
          <p:cNvPr id="30" name="Text 28"/>
          <p:cNvSpPr/>
          <p:nvPr/>
        </p:nvSpPr>
        <p:spPr>
          <a:xfrm>
            <a:off x="6522720" y="2535936"/>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Connects</a:t>
            </a:r>
            <a:endParaRPr lang="en-US" sz="1333" dirty="0"/>
          </a:p>
        </p:txBody>
      </p:sp>
      <p:sp>
        <p:nvSpPr>
          <p:cNvPr id="31" name="Text 29"/>
          <p:cNvSpPr/>
          <p:nvPr/>
        </p:nvSpPr>
        <p:spPr>
          <a:xfrm>
            <a:off x="8290560" y="2535936"/>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Agent ↔ Agent</a:t>
            </a:r>
            <a:endParaRPr lang="en-US" sz="1333" dirty="0"/>
          </a:p>
        </p:txBody>
      </p:sp>
      <p:sp>
        <p:nvSpPr>
          <p:cNvPr id="32" name="Shape 30"/>
          <p:cNvSpPr/>
          <p:nvPr/>
        </p:nvSpPr>
        <p:spPr>
          <a:xfrm>
            <a:off x="6522720" y="2962656"/>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33" name="Text 31"/>
          <p:cNvSpPr/>
          <p:nvPr/>
        </p:nvSpPr>
        <p:spPr>
          <a:xfrm>
            <a:off x="6522720" y="2999232"/>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Direction</a:t>
            </a:r>
            <a:endParaRPr lang="en-US" sz="1333" dirty="0"/>
          </a:p>
        </p:txBody>
      </p:sp>
      <p:sp>
        <p:nvSpPr>
          <p:cNvPr id="34" name="Text 32"/>
          <p:cNvSpPr/>
          <p:nvPr/>
        </p:nvSpPr>
        <p:spPr>
          <a:xfrm>
            <a:off x="8290560" y="2999232"/>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Horizontal (peers talk)</a:t>
            </a:r>
            <a:endParaRPr lang="en-US" sz="1333" dirty="0"/>
          </a:p>
        </p:txBody>
      </p:sp>
      <p:sp>
        <p:nvSpPr>
          <p:cNvPr id="35" name="Shape 33"/>
          <p:cNvSpPr/>
          <p:nvPr/>
        </p:nvSpPr>
        <p:spPr>
          <a:xfrm>
            <a:off x="6522720" y="3425952"/>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36" name="Text 34"/>
          <p:cNvSpPr/>
          <p:nvPr/>
        </p:nvSpPr>
        <p:spPr>
          <a:xfrm>
            <a:off x="6522720" y="3462528"/>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Analogy</a:t>
            </a:r>
            <a:endParaRPr lang="en-US" sz="1333" dirty="0"/>
          </a:p>
        </p:txBody>
      </p:sp>
      <p:sp>
        <p:nvSpPr>
          <p:cNvPr id="37" name="Text 35"/>
          <p:cNvSpPr/>
          <p:nvPr/>
        </p:nvSpPr>
        <p:spPr>
          <a:xfrm>
            <a:off x="8290560" y="3462528"/>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Phone network for agents</a:t>
            </a:r>
            <a:endParaRPr lang="en-US" sz="1333" dirty="0"/>
          </a:p>
        </p:txBody>
      </p:sp>
      <p:sp>
        <p:nvSpPr>
          <p:cNvPr id="38" name="Shape 36"/>
          <p:cNvSpPr/>
          <p:nvPr/>
        </p:nvSpPr>
        <p:spPr>
          <a:xfrm>
            <a:off x="6522720" y="3889248"/>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39" name="Text 37"/>
          <p:cNvSpPr/>
          <p:nvPr/>
        </p:nvSpPr>
        <p:spPr>
          <a:xfrm>
            <a:off x="6522720" y="3925824"/>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In our example</a:t>
            </a:r>
            <a:endParaRPr lang="en-US" sz="1333" dirty="0"/>
          </a:p>
        </p:txBody>
      </p:sp>
      <p:sp>
        <p:nvSpPr>
          <p:cNvPr id="40" name="Text 38"/>
          <p:cNvSpPr/>
          <p:nvPr/>
        </p:nvSpPr>
        <p:spPr>
          <a:xfrm>
            <a:off x="8290560" y="3925824"/>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Supervisor ↔ Specialist agents</a:t>
            </a:r>
            <a:endParaRPr lang="en-US" sz="1333" dirty="0"/>
          </a:p>
        </p:txBody>
      </p:sp>
      <p:sp>
        <p:nvSpPr>
          <p:cNvPr id="41" name="Shape 39"/>
          <p:cNvSpPr/>
          <p:nvPr/>
        </p:nvSpPr>
        <p:spPr>
          <a:xfrm>
            <a:off x="6522720" y="4352544"/>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42" name="Text 40"/>
          <p:cNvSpPr/>
          <p:nvPr/>
        </p:nvSpPr>
        <p:spPr>
          <a:xfrm>
            <a:off x="6522720" y="4389120"/>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Developed by</a:t>
            </a:r>
            <a:endParaRPr lang="en-US" sz="1333" dirty="0"/>
          </a:p>
        </p:txBody>
      </p:sp>
      <p:sp>
        <p:nvSpPr>
          <p:cNvPr id="43" name="Text 41"/>
          <p:cNvSpPr/>
          <p:nvPr/>
        </p:nvSpPr>
        <p:spPr>
          <a:xfrm>
            <a:off x="8290560" y="4389120"/>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Google + ecosystem</a:t>
            </a:r>
            <a:endParaRPr lang="en-US" sz="1333" dirty="0"/>
          </a:p>
        </p:txBody>
      </p:sp>
      <p:sp>
        <p:nvSpPr>
          <p:cNvPr id="44" name="Shape 42"/>
          <p:cNvSpPr/>
          <p:nvPr/>
        </p:nvSpPr>
        <p:spPr>
          <a:xfrm>
            <a:off x="6522720" y="4815840"/>
            <a:ext cx="4754880" cy="24384"/>
          </a:xfrm>
          <a:prstGeom prst="rect">
            <a:avLst/>
          </a:prstGeom>
          <a:solidFill>
            <a:srgbClr val="D0D8E8"/>
          </a:solidFill>
          <a:ln w="12700">
            <a:solidFill>
              <a:srgbClr val="D0D8E8"/>
            </a:solidFill>
            <a:prstDash val="solid"/>
          </a:ln>
        </p:spPr>
        <p:txBody>
          <a:bodyPr/>
          <a:lstStyle/>
          <a:p>
            <a:endParaRPr lang="en-IN" sz="2400"/>
          </a:p>
        </p:txBody>
      </p:sp>
      <p:sp>
        <p:nvSpPr>
          <p:cNvPr id="45" name="Text 43"/>
          <p:cNvSpPr/>
          <p:nvPr/>
        </p:nvSpPr>
        <p:spPr>
          <a:xfrm>
            <a:off x="6522720" y="4852416"/>
            <a:ext cx="1706880" cy="426720"/>
          </a:xfrm>
          <a:prstGeom prst="rect">
            <a:avLst/>
          </a:prstGeom>
          <a:noFill/>
          <a:ln/>
        </p:spPr>
        <p:txBody>
          <a:bodyPr wrap="square" lIns="0" tIns="0" rIns="0" bIns="0" rtlCol="0" anchor="ctr"/>
          <a:lstStyle/>
          <a:p>
            <a:r>
              <a:rPr lang="en-US" sz="1333" b="1" dirty="0">
                <a:solidFill>
                  <a:srgbClr val="00897B"/>
                </a:solidFill>
                <a:latin typeface="Calibri" pitchFamily="34" charset="0"/>
                <a:ea typeface="Calibri" pitchFamily="34" charset="-122"/>
                <a:cs typeface="Calibri" pitchFamily="34" charset="-120"/>
              </a:rPr>
              <a:t>State</a:t>
            </a:r>
            <a:endParaRPr lang="en-US" sz="1333" dirty="0"/>
          </a:p>
        </p:txBody>
      </p:sp>
      <p:sp>
        <p:nvSpPr>
          <p:cNvPr id="46" name="Text 44"/>
          <p:cNvSpPr/>
          <p:nvPr/>
        </p:nvSpPr>
        <p:spPr>
          <a:xfrm>
            <a:off x="8290560" y="4852416"/>
            <a:ext cx="3108960" cy="426720"/>
          </a:xfrm>
          <a:prstGeom prst="rect">
            <a:avLst/>
          </a:prstGeom>
          <a:noFill/>
          <a:ln/>
        </p:spPr>
        <p:txBody>
          <a:bodyPr wrap="square" lIns="0" tIns="0" rIns="0" bIns="0" rtlCol="0" anchor="ctr"/>
          <a:lstStyle/>
          <a:p>
            <a:r>
              <a:rPr lang="en-US" sz="1333" dirty="0">
                <a:solidFill>
                  <a:srgbClr val="1A1A2E"/>
                </a:solidFill>
                <a:latin typeface="Calibri" pitchFamily="34" charset="0"/>
                <a:ea typeface="Calibri" pitchFamily="34" charset="-122"/>
                <a:cs typeface="Calibri" pitchFamily="34" charset="-120"/>
              </a:rPr>
              <a:t>Shared task context</a:t>
            </a:r>
            <a:endParaRPr lang="en-US" sz="1333" dirty="0"/>
          </a:p>
        </p:txBody>
      </p:sp>
      <p:sp>
        <p:nvSpPr>
          <p:cNvPr id="47" name="Shape 45"/>
          <p:cNvSpPr/>
          <p:nvPr/>
        </p:nvSpPr>
        <p:spPr>
          <a:xfrm>
            <a:off x="609600" y="5937504"/>
            <a:ext cx="10972800" cy="548640"/>
          </a:xfrm>
          <a:prstGeom prst="rect">
            <a:avLst/>
          </a:prstGeom>
          <a:solidFill>
            <a:srgbClr val="1A1A2E"/>
          </a:solidFill>
          <a:ln w="12700">
            <a:solidFill>
              <a:srgbClr val="1A1A2E"/>
            </a:solidFill>
            <a:prstDash val="solid"/>
          </a:ln>
          <a:effectLst>
            <a:outerShdw blurRad="50800" dist="12700" dir="8100000" algn="bl" rotWithShape="0">
              <a:srgbClr val="000000">
                <a:alpha val="7000"/>
              </a:srgbClr>
            </a:outerShdw>
          </a:effectLst>
        </p:spPr>
        <p:txBody>
          <a:bodyPr/>
          <a:lstStyle/>
          <a:p>
            <a:endParaRPr lang="en-IN" sz="2400"/>
          </a:p>
        </p:txBody>
      </p:sp>
      <p:sp>
        <p:nvSpPr>
          <p:cNvPr id="48" name="Text 46"/>
          <p:cNvSpPr/>
          <p:nvPr/>
        </p:nvSpPr>
        <p:spPr>
          <a:xfrm>
            <a:off x="609600" y="5937504"/>
            <a:ext cx="10972800" cy="54864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MCP gives your agent hands.     A2A gives your agent colleagues.</a:t>
            </a:r>
            <a:endParaRPr lang="en-US" sz="1867"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63296"/>
            <a:ext cx="10972800" cy="792480"/>
          </a:xfrm>
          <a:prstGeom prst="rect">
            <a:avLst/>
          </a:prstGeom>
          <a:noFill/>
          <a:ln/>
        </p:spPr>
        <p:txBody>
          <a:bodyPr wrap="square" lIns="0" tIns="0" rIns="0" bIns="0" rtlCol="0" anchor="ctr"/>
          <a:lstStyle/>
          <a:p>
            <a:r>
              <a:rPr lang="en-US" sz="3733" b="1" dirty="0">
                <a:solidFill>
                  <a:srgbClr val="1A1A2E"/>
                </a:solidFill>
                <a:latin typeface="Calibri" pitchFamily="34" charset="0"/>
                <a:ea typeface="Calibri" pitchFamily="34" charset="-122"/>
                <a:cs typeface="Calibri" pitchFamily="34" charset="-120"/>
              </a:rPr>
              <a:t>The Enterprise Vision — Digital Departments</a:t>
            </a:r>
            <a:endParaRPr lang="en-US" sz="3733" dirty="0"/>
          </a:p>
        </p:txBody>
      </p:sp>
      <p:sp>
        <p:nvSpPr>
          <p:cNvPr id="3" name="Shape 1"/>
          <p:cNvSpPr/>
          <p:nvPr/>
        </p:nvSpPr>
        <p:spPr>
          <a:xfrm>
            <a:off x="609600" y="1341120"/>
            <a:ext cx="10972800" cy="48768"/>
          </a:xfrm>
          <a:prstGeom prst="rect">
            <a:avLst/>
          </a:prstGeom>
          <a:solidFill>
            <a:srgbClr val="0F6CBD"/>
          </a:solidFill>
          <a:ln w="12700">
            <a:solidFill>
              <a:srgbClr val="0F6CBD"/>
            </a:solidFill>
            <a:prstDash val="solid"/>
          </a:ln>
        </p:spPr>
        <p:txBody>
          <a:bodyPr/>
          <a:lstStyle/>
          <a:p>
            <a:endParaRPr lang="en-IN" sz="2400"/>
          </a:p>
        </p:txBody>
      </p:sp>
      <p:sp>
        <p:nvSpPr>
          <p:cNvPr id="6" name="Shape 4"/>
          <p:cNvSpPr/>
          <p:nvPr/>
        </p:nvSpPr>
        <p:spPr>
          <a:xfrm>
            <a:off x="487680" y="1584960"/>
            <a:ext cx="2560320" cy="670560"/>
          </a:xfrm>
          <a:prstGeom prst="rect">
            <a:avLst/>
          </a:prstGeom>
          <a:solidFill>
            <a:srgbClr val="0F6CBD"/>
          </a:solidFill>
          <a:ln w="12700">
            <a:solidFill>
              <a:srgbClr val="0F6CBD"/>
            </a:solidFill>
            <a:prstDash val="solid"/>
          </a:ln>
        </p:spPr>
        <p:txBody>
          <a:bodyPr/>
          <a:lstStyle/>
          <a:p>
            <a:endParaRPr lang="en-IN" sz="2400"/>
          </a:p>
        </p:txBody>
      </p:sp>
      <p:sp>
        <p:nvSpPr>
          <p:cNvPr id="7" name="Text 5"/>
          <p:cNvSpPr/>
          <p:nvPr/>
        </p:nvSpPr>
        <p:spPr>
          <a:xfrm>
            <a:off x="487680" y="1584960"/>
            <a:ext cx="2560320" cy="67056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Trading</a:t>
            </a:r>
            <a:endParaRPr lang="en-US" sz="1467" dirty="0"/>
          </a:p>
          <a:p>
            <a:pPr algn="ctr"/>
            <a:r>
              <a:rPr lang="en-US" sz="1467" b="1" dirty="0">
                <a:solidFill>
                  <a:srgbClr val="FFFFFF"/>
                </a:solidFill>
                <a:latin typeface="Calibri" pitchFamily="34" charset="0"/>
                <a:ea typeface="Calibri" pitchFamily="34" charset="-122"/>
                <a:cs typeface="Calibri" pitchFamily="34" charset="-120"/>
              </a:rPr>
              <a:t>Department</a:t>
            </a:r>
            <a:endParaRPr lang="en-US" sz="1467" dirty="0"/>
          </a:p>
        </p:txBody>
      </p:sp>
      <p:sp>
        <p:nvSpPr>
          <p:cNvPr id="8" name="Shape 6"/>
          <p:cNvSpPr/>
          <p:nvPr/>
        </p:nvSpPr>
        <p:spPr>
          <a:xfrm>
            <a:off x="487680" y="2340864"/>
            <a:ext cx="2560320" cy="585216"/>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9" name="Text 7"/>
          <p:cNvSpPr/>
          <p:nvPr/>
        </p:nvSpPr>
        <p:spPr>
          <a:xfrm>
            <a:off x="609600" y="234086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Portfolio Agent</a:t>
            </a:r>
            <a:endParaRPr lang="en-US" sz="1267" dirty="0"/>
          </a:p>
        </p:txBody>
      </p:sp>
      <p:sp>
        <p:nvSpPr>
          <p:cNvPr id="10" name="Shape 8"/>
          <p:cNvSpPr/>
          <p:nvPr/>
        </p:nvSpPr>
        <p:spPr>
          <a:xfrm>
            <a:off x="487680" y="3011424"/>
            <a:ext cx="2560320" cy="585216"/>
          </a:xfrm>
          <a:prstGeom prst="rect">
            <a:avLst/>
          </a:prstGeom>
          <a:solidFill>
            <a:srgbClr val="F4F6FB"/>
          </a:solidFill>
          <a:ln w="12700">
            <a:solidFill>
              <a:srgbClr val="0F6CBD"/>
            </a:solidFill>
            <a:prstDash val="solid"/>
          </a:ln>
          <a:effectLst>
            <a:outerShdw blurRad="50800" dist="12700" dir="8100000" algn="bl" rotWithShape="0">
              <a:srgbClr val="000000">
                <a:alpha val="7000"/>
              </a:srgbClr>
            </a:outerShdw>
          </a:effectLst>
        </p:spPr>
        <p:txBody>
          <a:bodyPr/>
          <a:lstStyle/>
          <a:p>
            <a:endParaRPr lang="en-IN" sz="2400"/>
          </a:p>
        </p:txBody>
      </p:sp>
      <p:sp>
        <p:nvSpPr>
          <p:cNvPr id="11" name="Text 9"/>
          <p:cNvSpPr/>
          <p:nvPr/>
        </p:nvSpPr>
        <p:spPr>
          <a:xfrm>
            <a:off x="609600" y="301142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Execution Agent</a:t>
            </a:r>
            <a:endParaRPr lang="en-US" sz="1267" dirty="0"/>
          </a:p>
        </p:txBody>
      </p:sp>
      <p:sp>
        <p:nvSpPr>
          <p:cNvPr id="12" name="Text 10"/>
          <p:cNvSpPr/>
          <p:nvPr/>
        </p:nvSpPr>
        <p:spPr>
          <a:xfrm>
            <a:off x="487680" y="3755136"/>
            <a:ext cx="2560320" cy="268224"/>
          </a:xfrm>
          <a:prstGeom prst="rect">
            <a:avLst/>
          </a:prstGeom>
          <a:noFill/>
          <a:ln/>
        </p:spPr>
        <p:txBody>
          <a:bodyPr wrap="square" lIns="0" tIns="0" rIns="0" bIns="0" rtlCol="0" anchor="ctr"/>
          <a:lstStyle/>
          <a:p>
            <a:pPr algn="ctr"/>
            <a:r>
              <a:rPr lang="en-US" sz="1133" b="1" dirty="0">
                <a:solidFill>
                  <a:srgbClr val="0F6CBD"/>
                </a:solidFill>
                <a:latin typeface="Calibri" pitchFamily="34" charset="0"/>
                <a:ea typeface="Calibri" pitchFamily="34" charset="-122"/>
                <a:cs typeface="Calibri" pitchFamily="34" charset="-120"/>
              </a:rPr>
              <a:t>via MCP:</a:t>
            </a:r>
            <a:endParaRPr lang="en-US" sz="1133" dirty="0"/>
          </a:p>
        </p:txBody>
      </p:sp>
      <p:sp>
        <p:nvSpPr>
          <p:cNvPr id="13" name="Text 11"/>
          <p:cNvSpPr/>
          <p:nvPr/>
        </p:nvSpPr>
        <p:spPr>
          <a:xfrm>
            <a:off x="487680" y="402336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Zerodha MCP</a:t>
            </a:r>
            <a:endParaRPr lang="en-US" sz="1133" dirty="0"/>
          </a:p>
        </p:txBody>
      </p:sp>
      <p:sp>
        <p:nvSpPr>
          <p:cNvPr id="14" name="Text 12"/>
          <p:cNvSpPr/>
          <p:nvPr/>
        </p:nvSpPr>
        <p:spPr>
          <a:xfrm>
            <a:off x="487680" y="438912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Market Data MCP</a:t>
            </a:r>
            <a:endParaRPr lang="en-US" sz="1133" dirty="0"/>
          </a:p>
        </p:txBody>
      </p:sp>
      <p:sp>
        <p:nvSpPr>
          <p:cNvPr id="15" name="Shape 13"/>
          <p:cNvSpPr/>
          <p:nvPr/>
        </p:nvSpPr>
        <p:spPr>
          <a:xfrm>
            <a:off x="3389376" y="1584960"/>
            <a:ext cx="2560320" cy="670560"/>
          </a:xfrm>
          <a:prstGeom prst="rect">
            <a:avLst/>
          </a:prstGeom>
          <a:solidFill>
            <a:srgbClr val="00897B"/>
          </a:solidFill>
          <a:ln w="12700">
            <a:solidFill>
              <a:srgbClr val="00897B"/>
            </a:solidFill>
            <a:prstDash val="solid"/>
          </a:ln>
        </p:spPr>
        <p:txBody>
          <a:bodyPr/>
          <a:lstStyle/>
          <a:p>
            <a:endParaRPr lang="en-IN" sz="2400"/>
          </a:p>
        </p:txBody>
      </p:sp>
      <p:sp>
        <p:nvSpPr>
          <p:cNvPr id="16" name="Text 14"/>
          <p:cNvSpPr/>
          <p:nvPr/>
        </p:nvSpPr>
        <p:spPr>
          <a:xfrm>
            <a:off x="3389376" y="1584960"/>
            <a:ext cx="2560320" cy="67056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Risk &amp;</a:t>
            </a:r>
            <a:endParaRPr lang="en-US" sz="1467" dirty="0"/>
          </a:p>
          <a:p>
            <a:pPr algn="ctr"/>
            <a:r>
              <a:rPr lang="en-US" sz="1467" b="1" dirty="0">
                <a:solidFill>
                  <a:srgbClr val="FFFFFF"/>
                </a:solidFill>
                <a:latin typeface="Calibri" pitchFamily="34" charset="0"/>
                <a:ea typeface="Calibri" pitchFamily="34" charset="-122"/>
                <a:cs typeface="Calibri" pitchFamily="34" charset="-120"/>
              </a:rPr>
              <a:t>Compliance</a:t>
            </a:r>
            <a:endParaRPr lang="en-US" sz="1467" dirty="0"/>
          </a:p>
        </p:txBody>
      </p:sp>
      <p:sp>
        <p:nvSpPr>
          <p:cNvPr id="17" name="Shape 15"/>
          <p:cNvSpPr/>
          <p:nvPr/>
        </p:nvSpPr>
        <p:spPr>
          <a:xfrm>
            <a:off x="3389376" y="2340864"/>
            <a:ext cx="2560320" cy="585216"/>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18" name="Text 16"/>
          <p:cNvSpPr/>
          <p:nvPr/>
        </p:nvSpPr>
        <p:spPr>
          <a:xfrm>
            <a:off x="3511296" y="234086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Risk Agent</a:t>
            </a:r>
            <a:endParaRPr lang="en-US" sz="1267" dirty="0"/>
          </a:p>
        </p:txBody>
      </p:sp>
      <p:sp>
        <p:nvSpPr>
          <p:cNvPr id="19" name="Shape 17"/>
          <p:cNvSpPr/>
          <p:nvPr/>
        </p:nvSpPr>
        <p:spPr>
          <a:xfrm>
            <a:off x="3389376" y="3011424"/>
            <a:ext cx="2560320" cy="585216"/>
          </a:xfrm>
          <a:prstGeom prst="rect">
            <a:avLst/>
          </a:prstGeom>
          <a:solidFill>
            <a:srgbClr val="F4F6FB"/>
          </a:solidFill>
          <a:ln w="12700">
            <a:solidFill>
              <a:srgbClr val="00897B"/>
            </a:solidFill>
            <a:prstDash val="solid"/>
          </a:ln>
          <a:effectLst>
            <a:outerShdw blurRad="50800" dist="12700" dir="8100000" algn="bl" rotWithShape="0">
              <a:srgbClr val="000000">
                <a:alpha val="7000"/>
              </a:srgbClr>
            </a:outerShdw>
          </a:effectLst>
        </p:spPr>
        <p:txBody>
          <a:bodyPr/>
          <a:lstStyle/>
          <a:p>
            <a:endParaRPr lang="en-IN" sz="2400"/>
          </a:p>
        </p:txBody>
      </p:sp>
      <p:sp>
        <p:nvSpPr>
          <p:cNvPr id="20" name="Text 18"/>
          <p:cNvSpPr/>
          <p:nvPr/>
        </p:nvSpPr>
        <p:spPr>
          <a:xfrm>
            <a:off x="3511296" y="301142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Compliance Agent</a:t>
            </a:r>
            <a:endParaRPr lang="en-US" sz="1267" dirty="0"/>
          </a:p>
        </p:txBody>
      </p:sp>
      <p:sp>
        <p:nvSpPr>
          <p:cNvPr id="21" name="Text 19"/>
          <p:cNvSpPr/>
          <p:nvPr/>
        </p:nvSpPr>
        <p:spPr>
          <a:xfrm>
            <a:off x="3389376" y="3755136"/>
            <a:ext cx="2560320" cy="268224"/>
          </a:xfrm>
          <a:prstGeom prst="rect">
            <a:avLst/>
          </a:prstGeom>
          <a:noFill/>
          <a:ln/>
        </p:spPr>
        <p:txBody>
          <a:bodyPr wrap="square" lIns="0" tIns="0" rIns="0" bIns="0" rtlCol="0" anchor="ctr"/>
          <a:lstStyle/>
          <a:p>
            <a:pPr algn="ctr"/>
            <a:r>
              <a:rPr lang="en-US" sz="1133" b="1" dirty="0">
                <a:solidFill>
                  <a:srgbClr val="00897B"/>
                </a:solidFill>
                <a:latin typeface="Calibri" pitchFamily="34" charset="0"/>
                <a:ea typeface="Calibri" pitchFamily="34" charset="-122"/>
                <a:cs typeface="Calibri" pitchFamily="34" charset="-120"/>
              </a:rPr>
              <a:t>via MCP:</a:t>
            </a:r>
            <a:endParaRPr lang="en-US" sz="1133" dirty="0"/>
          </a:p>
        </p:txBody>
      </p:sp>
      <p:sp>
        <p:nvSpPr>
          <p:cNvPr id="22" name="Text 20"/>
          <p:cNvSpPr/>
          <p:nvPr/>
        </p:nvSpPr>
        <p:spPr>
          <a:xfrm>
            <a:off x="3389376" y="402336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Risk Model MCP</a:t>
            </a:r>
            <a:endParaRPr lang="en-US" sz="1133" dirty="0"/>
          </a:p>
        </p:txBody>
      </p:sp>
      <p:sp>
        <p:nvSpPr>
          <p:cNvPr id="23" name="Text 21"/>
          <p:cNvSpPr/>
          <p:nvPr/>
        </p:nvSpPr>
        <p:spPr>
          <a:xfrm>
            <a:off x="3389376" y="438912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SEBI Rules MCP</a:t>
            </a:r>
            <a:endParaRPr lang="en-US" sz="1133" dirty="0"/>
          </a:p>
        </p:txBody>
      </p:sp>
      <p:sp>
        <p:nvSpPr>
          <p:cNvPr id="24" name="Shape 22"/>
          <p:cNvSpPr/>
          <p:nvPr/>
        </p:nvSpPr>
        <p:spPr>
          <a:xfrm>
            <a:off x="6291072" y="1584960"/>
            <a:ext cx="2560320" cy="670560"/>
          </a:xfrm>
          <a:prstGeom prst="rect">
            <a:avLst/>
          </a:prstGeom>
          <a:solidFill>
            <a:srgbClr val="7B5EA7"/>
          </a:solidFill>
          <a:ln w="12700">
            <a:solidFill>
              <a:srgbClr val="7B5EA7"/>
            </a:solidFill>
            <a:prstDash val="solid"/>
          </a:ln>
        </p:spPr>
        <p:txBody>
          <a:bodyPr/>
          <a:lstStyle/>
          <a:p>
            <a:endParaRPr lang="en-IN" sz="2400"/>
          </a:p>
        </p:txBody>
      </p:sp>
      <p:sp>
        <p:nvSpPr>
          <p:cNvPr id="25" name="Text 23"/>
          <p:cNvSpPr/>
          <p:nvPr/>
        </p:nvSpPr>
        <p:spPr>
          <a:xfrm>
            <a:off x="6291072" y="1584960"/>
            <a:ext cx="2560320" cy="67056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Research</a:t>
            </a:r>
            <a:endParaRPr lang="en-US" sz="1467" dirty="0"/>
          </a:p>
          <a:p>
            <a:pPr algn="ctr"/>
            <a:r>
              <a:rPr lang="en-US" sz="1467" b="1" dirty="0">
                <a:solidFill>
                  <a:srgbClr val="FFFFFF"/>
                </a:solidFill>
                <a:latin typeface="Calibri" pitchFamily="34" charset="0"/>
                <a:ea typeface="Calibri" pitchFamily="34" charset="-122"/>
                <a:cs typeface="Calibri" pitchFamily="34" charset="-120"/>
              </a:rPr>
              <a:t>Department</a:t>
            </a:r>
            <a:endParaRPr lang="en-US" sz="1467" dirty="0"/>
          </a:p>
        </p:txBody>
      </p:sp>
      <p:sp>
        <p:nvSpPr>
          <p:cNvPr id="26" name="Shape 24"/>
          <p:cNvSpPr/>
          <p:nvPr/>
        </p:nvSpPr>
        <p:spPr>
          <a:xfrm>
            <a:off x="6291072" y="2340864"/>
            <a:ext cx="2560320" cy="585216"/>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7" name="Text 25"/>
          <p:cNvSpPr/>
          <p:nvPr/>
        </p:nvSpPr>
        <p:spPr>
          <a:xfrm>
            <a:off x="6412992" y="234086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Analyst Agent</a:t>
            </a:r>
            <a:endParaRPr lang="en-US" sz="1267" dirty="0"/>
          </a:p>
        </p:txBody>
      </p:sp>
      <p:sp>
        <p:nvSpPr>
          <p:cNvPr id="28" name="Shape 26"/>
          <p:cNvSpPr/>
          <p:nvPr/>
        </p:nvSpPr>
        <p:spPr>
          <a:xfrm>
            <a:off x="6291072" y="3011424"/>
            <a:ext cx="2560320" cy="585216"/>
          </a:xfrm>
          <a:prstGeom prst="rect">
            <a:avLst/>
          </a:prstGeom>
          <a:solidFill>
            <a:srgbClr val="F4F6FB"/>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29" name="Text 27"/>
          <p:cNvSpPr/>
          <p:nvPr/>
        </p:nvSpPr>
        <p:spPr>
          <a:xfrm>
            <a:off x="6412992" y="301142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Macro Agent</a:t>
            </a:r>
            <a:endParaRPr lang="en-US" sz="1267" dirty="0"/>
          </a:p>
        </p:txBody>
      </p:sp>
      <p:sp>
        <p:nvSpPr>
          <p:cNvPr id="30" name="Text 28"/>
          <p:cNvSpPr/>
          <p:nvPr/>
        </p:nvSpPr>
        <p:spPr>
          <a:xfrm>
            <a:off x="6291072" y="3755136"/>
            <a:ext cx="2560320" cy="268224"/>
          </a:xfrm>
          <a:prstGeom prst="rect">
            <a:avLst/>
          </a:prstGeom>
          <a:noFill/>
          <a:ln/>
        </p:spPr>
        <p:txBody>
          <a:bodyPr wrap="square" lIns="0" tIns="0" rIns="0" bIns="0" rtlCol="0" anchor="ctr"/>
          <a:lstStyle/>
          <a:p>
            <a:pPr algn="ctr"/>
            <a:r>
              <a:rPr lang="en-US" sz="1133" b="1" dirty="0">
                <a:solidFill>
                  <a:srgbClr val="7B5EA7"/>
                </a:solidFill>
                <a:latin typeface="Calibri" pitchFamily="34" charset="0"/>
                <a:ea typeface="Calibri" pitchFamily="34" charset="-122"/>
                <a:cs typeface="Calibri" pitchFamily="34" charset="-120"/>
              </a:rPr>
              <a:t>via MCP:</a:t>
            </a:r>
            <a:endParaRPr lang="en-US" sz="1133" dirty="0"/>
          </a:p>
        </p:txBody>
      </p:sp>
      <p:sp>
        <p:nvSpPr>
          <p:cNvPr id="31" name="Text 29"/>
          <p:cNvSpPr/>
          <p:nvPr/>
        </p:nvSpPr>
        <p:spPr>
          <a:xfrm>
            <a:off x="6291072" y="402336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News MCP</a:t>
            </a:r>
            <a:endParaRPr lang="en-US" sz="1133" dirty="0"/>
          </a:p>
        </p:txBody>
      </p:sp>
      <p:sp>
        <p:nvSpPr>
          <p:cNvPr id="32" name="Text 30"/>
          <p:cNvSpPr/>
          <p:nvPr/>
        </p:nvSpPr>
        <p:spPr>
          <a:xfrm>
            <a:off x="6291072" y="438912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Bloomberg MCP</a:t>
            </a:r>
            <a:endParaRPr lang="en-US" sz="1133" dirty="0"/>
          </a:p>
        </p:txBody>
      </p:sp>
      <p:sp>
        <p:nvSpPr>
          <p:cNvPr id="33" name="Shape 31"/>
          <p:cNvSpPr/>
          <p:nvPr/>
        </p:nvSpPr>
        <p:spPr>
          <a:xfrm>
            <a:off x="9192768" y="1584960"/>
            <a:ext cx="2560320" cy="670560"/>
          </a:xfrm>
          <a:prstGeom prst="rect">
            <a:avLst/>
          </a:prstGeom>
          <a:solidFill>
            <a:srgbClr val="E67E22"/>
          </a:solidFill>
          <a:ln w="12700">
            <a:solidFill>
              <a:srgbClr val="E67E22"/>
            </a:solidFill>
            <a:prstDash val="solid"/>
          </a:ln>
        </p:spPr>
        <p:txBody>
          <a:bodyPr/>
          <a:lstStyle/>
          <a:p>
            <a:endParaRPr lang="en-IN" sz="2400"/>
          </a:p>
        </p:txBody>
      </p:sp>
      <p:sp>
        <p:nvSpPr>
          <p:cNvPr id="34" name="Text 32"/>
          <p:cNvSpPr/>
          <p:nvPr/>
        </p:nvSpPr>
        <p:spPr>
          <a:xfrm>
            <a:off x="9192768" y="1584960"/>
            <a:ext cx="2560320" cy="67056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Client</a:t>
            </a:r>
            <a:endParaRPr lang="en-US" sz="1467" dirty="0"/>
          </a:p>
          <a:p>
            <a:pPr algn="ctr"/>
            <a:r>
              <a:rPr lang="en-US" sz="1467" b="1" dirty="0">
                <a:solidFill>
                  <a:srgbClr val="FFFFFF"/>
                </a:solidFill>
                <a:latin typeface="Calibri" pitchFamily="34" charset="0"/>
                <a:ea typeface="Calibri" pitchFamily="34" charset="-122"/>
                <a:cs typeface="Calibri" pitchFamily="34" charset="-120"/>
              </a:rPr>
              <a:t>Relations</a:t>
            </a:r>
            <a:endParaRPr lang="en-US" sz="1467" dirty="0"/>
          </a:p>
        </p:txBody>
      </p:sp>
      <p:sp>
        <p:nvSpPr>
          <p:cNvPr id="35" name="Shape 33"/>
          <p:cNvSpPr/>
          <p:nvPr/>
        </p:nvSpPr>
        <p:spPr>
          <a:xfrm>
            <a:off x="9192768" y="2340864"/>
            <a:ext cx="2560320" cy="585216"/>
          </a:xfrm>
          <a:prstGeom prst="rect">
            <a:avLst/>
          </a:prstGeom>
          <a:solidFill>
            <a:srgbClr val="F4F6FB"/>
          </a:solidFill>
          <a:ln w="12700">
            <a:solidFill>
              <a:srgbClr val="E67E22"/>
            </a:solidFill>
            <a:prstDash val="solid"/>
          </a:ln>
          <a:effectLst>
            <a:outerShdw blurRad="50800" dist="12700" dir="8100000" algn="bl" rotWithShape="0">
              <a:srgbClr val="000000">
                <a:alpha val="7000"/>
              </a:srgbClr>
            </a:outerShdw>
          </a:effectLst>
        </p:spPr>
        <p:txBody>
          <a:bodyPr/>
          <a:lstStyle/>
          <a:p>
            <a:endParaRPr lang="en-IN" sz="2400"/>
          </a:p>
        </p:txBody>
      </p:sp>
      <p:sp>
        <p:nvSpPr>
          <p:cNvPr id="36" name="Text 34"/>
          <p:cNvSpPr/>
          <p:nvPr/>
        </p:nvSpPr>
        <p:spPr>
          <a:xfrm>
            <a:off x="9314688" y="234086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RM Agent</a:t>
            </a:r>
            <a:endParaRPr lang="en-US" sz="1267" dirty="0"/>
          </a:p>
        </p:txBody>
      </p:sp>
      <p:sp>
        <p:nvSpPr>
          <p:cNvPr id="37" name="Shape 35"/>
          <p:cNvSpPr/>
          <p:nvPr/>
        </p:nvSpPr>
        <p:spPr>
          <a:xfrm>
            <a:off x="9192768" y="3011424"/>
            <a:ext cx="2560320" cy="585216"/>
          </a:xfrm>
          <a:prstGeom prst="rect">
            <a:avLst/>
          </a:prstGeom>
          <a:solidFill>
            <a:srgbClr val="F4F6FB"/>
          </a:solidFill>
          <a:ln w="12700">
            <a:solidFill>
              <a:srgbClr val="E67E22"/>
            </a:solidFill>
            <a:prstDash val="solid"/>
          </a:ln>
          <a:effectLst>
            <a:outerShdw blurRad="50800" dist="12700" dir="8100000" algn="bl" rotWithShape="0">
              <a:srgbClr val="000000">
                <a:alpha val="7000"/>
              </a:srgbClr>
            </a:outerShdw>
          </a:effectLst>
        </p:spPr>
        <p:txBody>
          <a:bodyPr/>
          <a:lstStyle/>
          <a:p>
            <a:endParaRPr lang="en-IN" sz="2400"/>
          </a:p>
        </p:txBody>
      </p:sp>
      <p:sp>
        <p:nvSpPr>
          <p:cNvPr id="38" name="Text 36"/>
          <p:cNvSpPr/>
          <p:nvPr/>
        </p:nvSpPr>
        <p:spPr>
          <a:xfrm>
            <a:off x="9314688" y="3011424"/>
            <a:ext cx="2316480" cy="585216"/>
          </a:xfrm>
          <a:prstGeom prst="rect">
            <a:avLst/>
          </a:prstGeom>
          <a:noFill/>
          <a:ln/>
        </p:spPr>
        <p:txBody>
          <a:bodyPr wrap="square" lIns="0" tIns="0" rIns="0" bIns="0" rtlCol="0" anchor="ctr"/>
          <a:lstStyle/>
          <a:p>
            <a:r>
              <a:rPr lang="en-US" sz="1267" dirty="0">
                <a:solidFill>
                  <a:srgbClr val="1A1A2E"/>
                </a:solidFill>
                <a:latin typeface="Calibri" pitchFamily="34" charset="0"/>
                <a:ea typeface="Calibri" pitchFamily="34" charset="-122"/>
                <a:cs typeface="Calibri" pitchFamily="34" charset="-120"/>
              </a:rPr>
              <a:t>🤖 Report Agent</a:t>
            </a:r>
            <a:endParaRPr lang="en-US" sz="1267" dirty="0"/>
          </a:p>
        </p:txBody>
      </p:sp>
      <p:sp>
        <p:nvSpPr>
          <p:cNvPr id="39" name="Text 37"/>
          <p:cNvSpPr/>
          <p:nvPr/>
        </p:nvSpPr>
        <p:spPr>
          <a:xfrm>
            <a:off x="9192768" y="3755136"/>
            <a:ext cx="2560320" cy="268224"/>
          </a:xfrm>
          <a:prstGeom prst="rect">
            <a:avLst/>
          </a:prstGeom>
          <a:noFill/>
          <a:ln/>
        </p:spPr>
        <p:txBody>
          <a:bodyPr wrap="square" lIns="0" tIns="0" rIns="0" bIns="0" rtlCol="0" anchor="ctr"/>
          <a:lstStyle/>
          <a:p>
            <a:pPr algn="ctr"/>
            <a:r>
              <a:rPr lang="en-US" sz="1133" b="1" dirty="0">
                <a:solidFill>
                  <a:srgbClr val="E67E22"/>
                </a:solidFill>
                <a:latin typeface="Calibri" pitchFamily="34" charset="0"/>
                <a:ea typeface="Calibri" pitchFamily="34" charset="-122"/>
                <a:cs typeface="Calibri" pitchFamily="34" charset="-120"/>
              </a:rPr>
              <a:t>via MCP:</a:t>
            </a:r>
            <a:endParaRPr lang="en-US" sz="1133" dirty="0"/>
          </a:p>
        </p:txBody>
      </p:sp>
      <p:sp>
        <p:nvSpPr>
          <p:cNvPr id="40" name="Text 38"/>
          <p:cNvSpPr/>
          <p:nvPr/>
        </p:nvSpPr>
        <p:spPr>
          <a:xfrm>
            <a:off x="9192768" y="402336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CRM MCP</a:t>
            </a:r>
            <a:endParaRPr lang="en-US" sz="1133" dirty="0"/>
          </a:p>
        </p:txBody>
      </p:sp>
      <p:sp>
        <p:nvSpPr>
          <p:cNvPr id="41" name="Text 39"/>
          <p:cNvSpPr/>
          <p:nvPr/>
        </p:nvSpPr>
        <p:spPr>
          <a:xfrm>
            <a:off x="9192768" y="4389120"/>
            <a:ext cx="2560320" cy="341376"/>
          </a:xfrm>
          <a:prstGeom prst="rect">
            <a:avLst/>
          </a:prstGeom>
          <a:noFill/>
          <a:ln/>
        </p:spPr>
        <p:txBody>
          <a:bodyPr wrap="square" lIns="0" tIns="0" rIns="0" bIns="0" rtlCol="0" anchor="ctr"/>
          <a:lstStyle/>
          <a:p>
            <a:pPr algn="ctr"/>
            <a:r>
              <a:rPr lang="en-US" sz="1133" dirty="0">
                <a:solidFill>
                  <a:srgbClr val="6B7280"/>
                </a:solidFill>
                <a:latin typeface="Calibri" pitchFamily="34" charset="0"/>
                <a:ea typeface="Calibri" pitchFamily="34" charset="-122"/>
                <a:cs typeface="Calibri" pitchFamily="34" charset="-120"/>
              </a:rPr>
              <a:t>⚙ Doc Gen MCP</a:t>
            </a:r>
            <a:endParaRPr lang="en-US" sz="1133" dirty="0"/>
          </a:p>
        </p:txBody>
      </p:sp>
      <p:sp>
        <p:nvSpPr>
          <p:cNvPr id="42" name="Shape 40"/>
          <p:cNvSpPr/>
          <p:nvPr/>
        </p:nvSpPr>
        <p:spPr>
          <a:xfrm>
            <a:off x="487680" y="4815840"/>
            <a:ext cx="11216640" cy="487680"/>
          </a:xfrm>
          <a:prstGeom prst="rect">
            <a:avLst/>
          </a:prstGeom>
          <a:solidFill>
            <a:srgbClr val="F8F8FF"/>
          </a:solidFill>
          <a:ln w="12700">
            <a:solidFill>
              <a:srgbClr val="7B5EA7"/>
            </a:solidFill>
            <a:prstDash val="solid"/>
          </a:ln>
          <a:effectLst>
            <a:outerShdw blurRad="50800" dist="12700" dir="8100000" algn="bl" rotWithShape="0">
              <a:srgbClr val="000000">
                <a:alpha val="7000"/>
              </a:srgbClr>
            </a:outerShdw>
          </a:effectLst>
        </p:spPr>
        <p:txBody>
          <a:bodyPr/>
          <a:lstStyle/>
          <a:p>
            <a:endParaRPr lang="en-IN" sz="2400"/>
          </a:p>
        </p:txBody>
      </p:sp>
      <p:sp>
        <p:nvSpPr>
          <p:cNvPr id="43" name="Shape 41"/>
          <p:cNvSpPr/>
          <p:nvPr/>
        </p:nvSpPr>
        <p:spPr>
          <a:xfrm>
            <a:off x="487680" y="4815840"/>
            <a:ext cx="11216640" cy="48768"/>
          </a:xfrm>
          <a:prstGeom prst="rect">
            <a:avLst/>
          </a:prstGeom>
          <a:solidFill>
            <a:srgbClr val="7B5EA7"/>
          </a:solidFill>
          <a:ln w="12700">
            <a:solidFill>
              <a:srgbClr val="7B5EA7"/>
            </a:solidFill>
            <a:prstDash val="solid"/>
          </a:ln>
        </p:spPr>
        <p:txBody>
          <a:bodyPr/>
          <a:lstStyle/>
          <a:p>
            <a:endParaRPr lang="en-IN" sz="2400"/>
          </a:p>
        </p:txBody>
      </p:sp>
      <p:sp>
        <p:nvSpPr>
          <p:cNvPr id="44" name="Shape 42"/>
          <p:cNvSpPr/>
          <p:nvPr/>
        </p:nvSpPr>
        <p:spPr>
          <a:xfrm>
            <a:off x="487680" y="5254752"/>
            <a:ext cx="11216640" cy="48768"/>
          </a:xfrm>
          <a:prstGeom prst="rect">
            <a:avLst/>
          </a:prstGeom>
          <a:solidFill>
            <a:srgbClr val="7B5EA7"/>
          </a:solidFill>
          <a:ln w="12700">
            <a:solidFill>
              <a:srgbClr val="7B5EA7"/>
            </a:solidFill>
            <a:prstDash val="solid"/>
          </a:ln>
        </p:spPr>
        <p:txBody>
          <a:bodyPr/>
          <a:lstStyle/>
          <a:p>
            <a:endParaRPr lang="en-IN" sz="2400"/>
          </a:p>
        </p:txBody>
      </p:sp>
      <p:sp>
        <p:nvSpPr>
          <p:cNvPr id="45" name="Text 43"/>
          <p:cNvSpPr/>
          <p:nvPr/>
        </p:nvSpPr>
        <p:spPr>
          <a:xfrm>
            <a:off x="487680" y="4864608"/>
            <a:ext cx="11216640" cy="390144"/>
          </a:xfrm>
          <a:prstGeom prst="rect">
            <a:avLst/>
          </a:prstGeom>
          <a:noFill/>
          <a:ln/>
        </p:spPr>
        <p:txBody>
          <a:bodyPr wrap="square" lIns="0" tIns="0" rIns="0" bIns="0" rtlCol="0" anchor="ctr"/>
          <a:lstStyle/>
          <a:p>
            <a:pPr algn="ctr"/>
            <a:r>
              <a:rPr lang="en-US" sz="1333" b="1" dirty="0">
                <a:solidFill>
                  <a:srgbClr val="7B5EA7"/>
                </a:solidFill>
                <a:latin typeface="Calibri" pitchFamily="34" charset="0"/>
                <a:ea typeface="Calibri" pitchFamily="34" charset="-122"/>
                <a:cs typeface="Calibri" pitchFamily="34" charset="-120"/>
              </a:rPr>
              <a:t>A2A Protocol Layer — departments coordinate just like real teams do</a:t>
            </a:r>
            <a:endParaRPr lang="en-US" sz="1333" dirty="0"/>
          </a:p>
        </p:txBody>
      </p:sp>
      <p:sp>
        <p:nvSpPr>
          <p:cNvPr id="46" name="Shape 44"/>
          <p:cNvSpPr/>
          <p:nvPr/>
        </p:nvSpPr>
        <p:spPr>
          <a:xfrm>
            <a:off x="487680" y="5388864"/>
            <a:ext cx="11216640" cy="950976"/>
          </a:xfrm>
          <a:prstGeom prst="rect">
            <a:avLst/>
          </a:prstGeom>
          <a:solidFill>
            <a:srgbClr val="1A1A2E"/>
          </a:solidFill>
          <a:ln w="12700">
            <a:solidFill>
              <a:srgbClr val="1A1A2E"/>
            </a:solidFill>
            <a:prstDash val="solid"/>
          </a:ln>
          <a:effectLst>
            <a:outerShdw blurRad="50800" dist="12700" dir="8100000" algn="bl" rotWithShape="0">
              <a:srgbClr val="000000">
                <a:alpha val="7000"/>
              </a:srgbClr>
            </a:outerShdw>
          </a:effectLst>
        </p:spPr>
        <p:txBody>
          <a:bodyPr/>
          <a:lstStyle/>
          <a:p>
            <a:endParaRPr lang="en-IN" sz="2400"/>
          </a:p>
        </p:txBody>
      </p:sp>
      <p:sp>
        <p:nvSpPr>
          <p:cNvPr id="47" name="Text 45"/>
          <p:cNvSpPr/>
          <p:nvPr/>
        </p:nvSpPr>
        <p:spPr>
          <a:xfrm>
            <a:off x="731520" y="5388864"/>
            <a:ext cx="10972800" cy="950976"/>
          </a:xfrm>
          <a:prstGeom prst="rect">
            <a:avLst/>
          </a:prstGeom>
          <a:noFill/>
          <a:ln/>
        </p:spPr>
        <p:txBody>
          <a:bodyPr wrap="square" lIns="0" tIns="0" rIns="0" bIns="0" rtlCol="0" anchor="ctr"/>
          <a:lstStyle/>
          <a:p>
            <a:pPr algn="ctr"/>
            <a:r>
              <a:rPr lang="en-US" sz="1600" dirty="0">
                <a:solidFill>
                  <a:srgbClr val="FFFFFF"/>
                </a:solidFill>
                <a:latin typeface="Calibri" pitchFamily="34" charset="0"/>
                <a:ea typeface="Calibri" pitchFamily="34" charset="-122"/>
                <a:cs typeface="Calibri" pitchFamily="34" charset="-120"/>
              </a:rPr>
              <a:t>The same structure your firm has today — departments, specialists, protocols — </a:t>
            </a:r>
            <a:r>
              <a:rPr lang="en-US" sz="1600" b="1" dirty="0">
                <a:solidFill>
                  <a:srgbClr val="FFFFFF"/>
                </a:solidFill>
                <a:latin typeface="Calibri" pitchFamily="34" charset="0"/>
                <a:ea typeface="Calibri" pitchFamily="34" charset="-122"/>
                <a:cs typeface="Calibri" pitchFamily="34" charset="-120"/>
              </a:rPr>
              <a:t>replicated in software.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C6EA-8111-0F2D-C10B-632508E7DBA6}"/>
              </a:ext>
            </a:extLst>
          </p:cNvPr>
          <p:cNvSpPr>
            <a:spLocks noGrp="1"/>
          </p:cNvSpPr>
          <p:nvPr>
            <p:ph type="title"/>
          </p:nvPr>
        </p:nvSpPr>
        <p:spPr/>
        <p:txBody>
          <a:bodyPr/>
          <a:lstStyle/>
          <a:p>
            <a:r>
              <a:rPr lang="en-IN" dirty="0"/>
              <a:t>Different Company Structures..</a:t>
            </a:r>
          </a:p>
        </p:txBody>
      </p:sp>
      <p:pic>
        <p:nvPicPr>
          <p:cNvPr id="5" name="Picture 4">
            <a:extLst>
              <a:ext uri="{FF2B5EF4-FFF2-40B4-BE49-F238E27FC236}">
                <a16:creationId xmlns:a16="http://schemas.microsoft.com/office/drawing/2014/main" id="{5442B34E-14DD-02EC-6741-7FFE3FD4867E}"/>
              </a:ext>
            </a:extLst>
          </p:cNvPr>
          <p:cNvPicPr>
            <a:picLocks noChangeAspect="1"/>
          </p:cNvPicPr>
          <p:nvPr/>
        </p:nvPicPr>
        <p:blipFill>
          <a:blip r:embed="rId2"/>
          <a:stretch>
            <a:fillRect/>
          </a:stretch>
        </p:blipFill>
        <p:spPr>
          <a:xfrm>
            <a:off x="0" y="1454727"/>
            <a:ext cx="4418119" cy="2878992"/>
          </a:xfrm>
          <a:prstGeom prst="rect">
            <a:avLst/>
          </a:prstGeom>
        </p:spPr>
      </p:pic>
      <p:pic>
        <p:nvPicPr>
          <p:cNvPr id="7" name="Picture 6">
            <a:extLst>
              <a:ext uri="{FF2B5EF4-FFF2-40B4-BE49-F238E27FC236}">
                <a16:creationId xmlns:a16="http://schemas.microsoft.com/office/drawing/2014/main" id="{5550FB53-85FF-1CE8-5105-FE0BDDB6923A}"/>
              </a:ext>
            </a:extLst>
          </p:cNvPr>
          <p:cNvPicPr>
            <a:picLocks noChangeAspect="1"/>
          </p:cNvPicPr>
          <p:nvPr/>
        </p:nvPicPr>
        <p:blipFill>
          <a:blip r:embed="rId3"/>
          <a:stretch>
            <a:fillRect/>
          </a:stretch>
        </p:blipFill>
        <p:spPr>
          <a:xfrm>
            <a:off x="3856497" y="2301493"/>
            <a:ext cx="5110221" cy="3291111"/>
          </a:xfrm>
          <a:prstGeom prst="rect">
            <a:avLst/>
          </a:prstGeom>
        </p:spPr>
      </p:pic>
      <p:pic>
        <p:nvPicPr>
          <p:cNvPr id="9" name="Picture 8">
            <a:extLst>
              <a:ext uri="{FF2B5EF4-FFF2-40B4-BE49-F238E27FC236}">
                <a16:creationId xmlns:a16="http://schemas.microsoft.com/office/drawing/2014/main" id="{BB6E155F-F0D9-CE55-8B49-5FBA3D480C87}"/>
              </a:ext>
            </a:extLst>
          </p:cNvPr>
          <p:cNvPicPr>
            <a:picLocks noChangeAspect="1"/>
          </p:cNvPicPr>
          <p:nvPr/>
        </p:nvPicPr>
        <p:blipFill>
          <a:blip r:embed="rId4"/>
          <a:stretch>
            <a:fillRect/>
          </a:stretch>
        </p:blipFill>
        <p:spPr>
          <a:xfrm>
            <a:off x="7408034" y="3498980"/>
            <a:ext cx="4996423" cy="3224907"/>
          </a:xfrm>
          <a:prstGeom prst="rect">
            <a:avLst/>
          </a:prstGeom>
        </p:spPr>
      </p:pic>
    </p:spTree>
    <p:extLst>
      <p:ext uri="{BB962C8B-B14F-4D97-AF65-F5344CB8AC3E}">
        <p14:creationId xmlns:p14="http://schemas.microsoft.com/office/powerpoint/2010/main" val="132047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12BB-52ED-BB31-22AD-84E1ADC06E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11F9C8-1731-5F85-4296-1AC1D53FD24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820FDB4-1336-B0C8-9CD9-32FFBA34489C}"/>
              </a:ext>
            </a:extLst>
          </p:cNvPr>
          <p:cNvPicPr>
            <a:picLocks noChangeAspect="1"/>
          </p:cNvPicPr>
          <p:nvPr/>
        </p:nvPicPr>
        <p:blipFill>
          <a:blip r:embed="rId2"/>
          <a:stretch>
            <a:fillRect/>
          </a:stretch>
        </p:blipFill>
        <p:spPr>
          <a:xfrm>
            <a:off x="0" y="26581"/>
            <a:ext cx="12192000" cy="6804837"/>
          </a:xfrm>
          <a:prstGeom prst="rect">
            <a:avLst/>
          </a:prstGeom>
        </p:spPr>
      </p:pic>
    </p:spTree>
    <p:extLst>
      <p:ext uri="{BB962C8B-B14F-4D97-AF65-F5344CB8AC3E}">
        <p14:creationId xmlns:p14="http://schemas.microsoft.com/office/powerpoint/2010/main" val="3421013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26720" y="85344"/>
            <a:ext cx="10363200" cy="512064"/>
          </a:xfrm>
          <a:prstGeom prst="rect">
            <a:avLst/>
          </a:prstGeom>
          <a:noFill/>
          <a:ln/>
        </p:spPr>
        <p:txBody>
          <a:bodyPr wrap="square" lIns="0" tIns="0" rIns="0" bIns="0" rtlCol="0" anchor="ctr"/>
          <a:lstStyle/>
          <a:p>
            <a:r>
              <a:rPr lang="en-US" sz="3733" b="1" dirty="0">
                <a:latin typeface="Calibri" pitchFamily="34" charset="0"/>
                <a:ea typeface="Calibri" pitchFamily="34" charset="-122"/>
                <a:cs typeface="Calibri" pitchFamily="34" charset="-120"/>
              </a:rPr>
              <a:t>Agentic Frameworks — Choosing the Right Tool</a:t>
            </a:r>
            <a:endParaRPr lang="en-US" sz="3733" dirty="0"/>
          </a:p>
        </p:txBody>
      </p:sp>
      <p:sp>
        <p:nvSpPr>
          <p:cNvPr id="6" name="Text 4"/>
          <p:cNvSpPr/>
          <p:nvPr/>
        </p:nvSpPr>
        <p:spPr>
          <a:xfrm>
            <a:off x="426720" y="731520"/>
            <a:ext cx="11338560" cy="341376"/>
          </a:xfrm>
          <a:prstGeom prst="rect">
            <a:avLst/>
          </a:prstGeom>
          <a:noFill/>
          <a:ln/>
        </p:spPr>
        <p:txBody>
          <a:bodyPr wrap="square" rtlCol="0" anchor="ctr"/>
          <a:lstStyle/>
          <a:p>
            <a:r>
              <a:rPr lang="en-US" sz="1333" i="1" dirty="0">
                <a:solidFill>
                  <a:srgbClr val="6B7280"/>
                </a:solidFill>
                <a:latin typeface="Calibri" pitchFamily="34" charset="0"/>
                <a:ea typeface="Calibri" pitchFamily="34" charset="-122"/>
                <a:cs typeface="Calibri" pitchFamily="34" charset="-120"/>
              </a:rPr>
              <a:t>All four are open-source and production-capable. Microsoft Agent Framework (Oct 2025) is the successor to both AutoGen and Semantic Kernel.</a:t>
            </a:r>
            <a:endParaRPr lang="en-US" sz="1333" dirty="0"/>
          </a:p>
        </p:txBody>
      </p:sp>
      <p:sp>
        <p:nvSpPr>
          <p:cNvPr id="7" name="Shape 5"/>
          <p:cNvSpPr/>
          <p:nvPr/>
        </p:nvSpPr>
        <p:spPr>
          <a:xfrm>
            <a:off x="304800" y="1158240"/>
            <a:ext cx="2438400" cy="585216"/>
          </a:xfrm>
          <a:prstGeom prst="rect">
            <a:avLst/>
          </a:prstGeom>
          <a:solidFill>
            <a:srgbClr val="1A1A2E"/>
          </a:solidFill>
          <a:ln w="12700">
            <a:solidFill>
              <a:srgbClr val="2D3561"/>
            </a:solidFill>
            <a:prstDash val="solid"/>
          </a:ln>
        </p:spPr>
        <p:txBody>
          <a:bodyPr/>
          <a:lstStyle/>
          <a:p>
            <a:endParaRPr lang="en-IN" sz="2400"/>
          </a:p>
        </p:txBody>
      </p:sp>
      <p:sp>
        <p:nvSpPr>
          <p:cNvPr id="8" name="Text 6"/>
          <p:cNvSpPr/>
          <p:nvPr/>
        </p:nvSpPr>
        <p:spPr>
          <a:xfrm>
            <a:off x="377952" y="1158240"/>
            <a:ext cx="2316480" cy="585216"/>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Feature</a:t>
            </a:r>
            <a:endParaRPr lang="en-US" sz="1400" dirty="0"/>
          </a:p>
        </p:txBody>
      </p:sp>
      <p:sp>
        <p:nvSpPr>
          <p:cNvPr id="9" name="Shape 7"/>
          <p:cNvSpPr/>
          <p:nvPr/>
        </p:nvSpPr>
        <p:spPr>
          <a:xfrm>
            <a:off x="2743200" y="1158240"/>
            <a:ext cx="2255520" cy="585216"/>
          </a:xfrm>
          <a:prstGeom prst="rect">
            <a:avLst/>
          </a:prstGeom>
          <a:solidFill>
            <a:srgbClr val="1A1A2E"/>
          </a:solidFill>
          <a:ln w="12700">
            <a:solidFill>
              <a:srgbClr val="2D3561"/>
            </a:solidFill>
            <a:prstDash val="solid"/>
          </a:ln>
        </p:spPr>
        <p:txBody>
          <a:bodyPr/>
          <a:lstStyle/>
          <a:p>
            <a:endParaRPr lang="en-IN" sz="2400"/>
          </a:p>
        </p:txBody>
      </p:sp>
      <p:sp>
        <p:nvSpPr>
          <p:cNvPr id="10" name="Text 8"/>
          <p:cNvSpPr/>
          <p:nvPr/>
        </p:nvSpPr>
        <p:spPr>
          <a:xfrm>
            <a:off x="2816352" y="1158240"/>
            <a:ext cx="2133600" cy="585216"/>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LangGraph</a:t>
            </a:r>
            <a:endParaRPr lang="en-US" sz="1400" dirty="0"/>
          </a:p>
        </p:txBody>
      </p:sp>
      <p:sp>
        <p:nvSpPr>
          <p:cNvPr id="11" name="Shape 9"/>
          <p:cNvSpPr/>
          <p:nvPr/>
        </p:nvSpPr>
        <p:spPr>
          <a:xfrm>
            <a:off x="4998720" y="1158240"/>
            <a:ext cx="2255520" cy="585216"/>
          </a:xfrm>
          <a:prstGeom prst="rect">
            <a:avLst/>
          </a:prstGeom>
          <a:solidFill>
            <a:srgbClr val="1A1A2E"/>
          </a:solidFill>
          <a:ln w="12700">
            <a:solidFill>
              <a:srgbClr val="2D3561"/>
            </a:solidFill>
            <a:prstDash val="solid"/>
          </a:ln>
        </p:spPr>
        <p:txBody>
          <a:bodyPr/>
          <a:lstStyle/>
          <a:p>
            <a:endParaRPr lang="en-IN" sz="2400"/>
          </a:p>
        </p:txBody>
      </p:sp>
      <p:sp>
        <p:nvSpPr>
          <p:cNvPr id="12" name="Text 10"/>
          <p:cNvSpPr/>
          <p:nvPr/>
        </p:nvSpPr>
        <p:spPr>
          <a:xfrm>
            <a:off x="5071872" y="1158240"/>
            <a:ext cx="2133600" cy="585216"/>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CrewAI</a:t>
            </a:r>
            <a:endParaRPr lang="en-US" sz="1400" dirty="0"/>
          </a:p>
        </p:txBody>
      </p:sp>
      <p:sp>
        <p:nvSpPr>
          <p:cNvPr id="13" name="Shape 11"/>
          <p:cNvSpPr/>
          <p:nvPr/>
        </p:nvSpPr>
        <p:spPr>
          <a:xfrm>
            <a:off x="7254240" y="1158240"/>
            <a:ext cx="2255520" cy="585216"/>
          </a:xfrm>
          <a:prstGeom prst="rect">
            <a:avLst/>
          </a:prstGeom>
          <a:solidFill>
            <a:srgbClr val="1A1A2E"/>
          </a:solidFill>
          <a:ln w="12700">
            <a:solidFill>
              <a:srgbClr val="2D3561"/>
            </a:solidFill>
            <a:prstDash val="solid"/>
          </a:ln>
        </p:spPr>
        <p:txBody>
          <a:bodyPr/>
          <a:lstStyle/>
          <a:p>
            <a:endParaRPr lang="en-IN" sz="2400"/>
          </a:p>
        </p:txBody>
      </p:sp>
      <p:sp>
        <p:nvSpPr>
          <p:cNvPr id="14" name="Text 12"/>
          <p:cNvSpPr/>
          <p:nvPr/>
        </p:nvSpPr>
        <p:spPr>
          <a:xfrm>
            <a:off x="7327392" y="1158240"/>
            <a:ext cx="2133600" cy="585216"/>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n8n</a:t>
            </a:r>
            <a:endParaRPr lang="en-US" sz="1400" dirty="0"/>
          </a:p>
        </p:txBody>
      </p:sp>
      <p:sp>
        <p:nvSpPr>
          <p:cNvPr id="15" name="Shape 13"/>
          <p:cNvSpPr/>
          <p:nvPr/>
        </p:nvSpPr>
        <p:spPr>
          <a:xfrm>
            <a:off x="9509760" y="1158240"/>
            <a:ext cx="2255520" cy="585216"/>
          </a:xfrm>
          <a:prstGeom prst="rect">
            <a:avLst/>
          </a:prstGeom>
          <a:solidFill>
            <a:srgbClr val="00897B"/>
          </a:solidFill>
          <a:ln w="12700">
            <a:solidFill>
              <a:srgbClr val="00897B"/>
            </a:solidFill>
            <a:prstDash val="solid"/>
          </a:ln>
        </p:spPr>
        <p:txBody>
          <a:bodyPr/>
          <a:lstStyle/>
          <a:p>
            <a:endParaRPr lang="en-IN" sz="2400"/>
          </a:p>
        </p:txBody>
      </p:sp>
      <p:sp>
        <p:nvSpPr>
          <p:cNvPr id="16" name="Text 14"/>
          <p:cNvSpPr/>
          <p:nvPr/>
        </p:nvSpPr>
        <p:spPr>
          <a:xfrm>
            <a:off x="9582912" y="1158240"/>
            <a:ext cx="2133600" cy="585216"/>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Microsoft Agent</a:t>
            </a:r>
            <a:endParaRPr lang="en-US" sz="1400" dirty="0"/>
          </a:p>
          <a:p>
            <a:pPr algn="ctr"/>
            <a:r>
              <a:rPr lang="en-US" sz="1400" b="1" dirty="0">
                <a:solidFill>
                  <a:srgbClr val="FFFFFF"/>
                </a:solidFill>
                <a:latin typeface="Calibri" pitchFamily="34" charset="0"/>
                <a:ea typeface="Calibri" pitchFamily="34" charset="-122"/>
                <a:cs typeface="Calibri" pitchFamily="34" charset="-120"/>
              </a:rPr>
              <a:t>Framework</a:t>
            </a:r>
            <a:endParaRPr lang="en-US" sz="1400" dirty="0"/>
          </a:p>
        </p:txBody>
      </p:sp>
      <p:sp>
        <p:nvSpPr>
          <p:cNvPr id="17" name="Shape 15"/>
          <p:cNvSpPr/>
          <p:nvPr/>
        </p:nvSpPr>
        <p:spPr>
          <a:xfrm>
            <a:off x="304800" y="1743456"/>
            <a:ext cx="2438400" cy="585216"/>
          </a:xfrm>
          <a:prstGeom prst="rect">
            <a:avLst/>
          </a:prstGeom>
          <a:solidFill>
            <a:srgbClr val="F8FAFF"/>
          </a:solidFill>
          <a:ln w="6350">
            <a:solidFill>
              <a:srgbClr val="D0D8E8"/>
            </a:solidFill>
            <a:prstDash val="solid"/>
          </a:ln>
        </p:spPr>
        <p:txBody>
          <a:bodyPr/>
          <a:lstStyle/>
          <a:p>
            <a:endParaRPr lang="en-IN" sz="2400"/>
          </a:p>
        </p:txBody>
      </p:sp>
      <p:sp>
        <p:nvSpPr>
          <p:cNvPr id="18" name="Text 16"/>
          <p:cNvSpPr/>
          <p:nvPr/>
        </p:nvSpPr>
        <p:spPr>
          <a:xfrm>
            <a:off x="377952" y="1743456"/>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Maintained by</a:t>
            </a:r>
            <a:endParaRPr lang="en-US" sz="1267" dirty="0"/>
          </a:p>
        </p:txBody>
      </p:sp>
      <p:sp>
        <p:nvSpPr>
          <p:cNvPr id="19" name="Shape 17"/>
          <p:cNvSpPr/>
          <p:nvPr/>
        </p:nvSpPr>
        <p:spPr>
          <a:xfrm>
            <a:off x="2743200" y="1743456"/>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20" name="Text 18"/>
          <p:cNvSpPr/>
          <p:nvPr/>
        </p:nvSpPr>
        <p:spPr>
          <a:xfrm>
            <a:off x="2816352" y="1743456"/>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LangChain</a:t>
            </a:r>
            <a:endParaRPr lang="en-US" sz="1200" dirty="0"/>
          </a:p>
        </p:txBody>
      </p:sp>
      <p:sp>
        <p:nvSpPr>
          <p:cNvPr id="21" name="Shape 19"/>
          <p:cNvSpPr/>
          <p:nvPr/>
        </p:nvSpPr>
        <p:spPr>
          <a:xfrm>
            <a:off x="4998720" y="1743456"/>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22" name="Text 20"/>
          <p:cNvSpPr/>
          <p:nvPr/>
        </p:nvSpPr>
        <p:spPr>
          <a:xfrm>
            <a:off x="5071872" y="1743456"/>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CrewAI Inc.</a:t>
            </a:r>
            <a:endParaRPr lang="en-US" sz="1200" dirty="0"/>
          </a:p>
        </p:txBody>
      </p:sp>
      <p:sp>
        <p:nvSpPr>
          <p:cNvPr id="23" name="Shape 21"/>
          <p:cNvSpPr/>
          <p:nvPr/>
        </p:nvSpPr>
        <p:spPr>
          <a:xfrm>
            <a:off x="7254240" y="1743456"/>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24" name="Text 22"/>
          <p:cNvSpPr/>
          <p:nvPr/>
        </p:nvSpPr>
        <p:spPr>
          <a:xfrm>
            <a:off x="7327392" y="1743456"/>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n8n GmbH</a:t>
            </a:r>
            <a:endParaRPr lang="en-US" sz="1200" dirty="0"/>
          </a:p>
        </p:txBody>
      </p:sp>
      <p:sp>
        <p:nvSpPr>
          <p:cNvPr id="25" name="Shape 23"/>
          <p:cNvSpPr/>
          <p:nvPr/>
        </p:nvSpPr>
        <p:spPr>
          <a:xfrm>
            <a:off x="9509760" y="1743456"/>
            <a:ext cx="2255520" cy="585216"/>
          </a:xfrm>
          <a:prstGeom prst="rect">
            <a:avLst/>
          </a:prstGeom>
          <a:solidFill>
            <a:srgbClr val="E0F2F1"/>
          </a:solidFill>
          <a:ln w="6350">
            <a:solidFill>
              <a:srgbClr val="00897B"/>
            </a:solidFill>
            <a:prstDash val="solid"/>
          </a:ln>
        </p:spPr>
        <p:txBody>
          <a:bodyPr/>
          <a:lstStyle/>
          <a:p>
            <a:endParaRPr lang="en-IN" sz="2400"/>
          </a:p>
        </p:txBody>
      </p:sp>
      <p:sp>
        <p:nvSpPr>
          <p:cNvPr id="26" name="Text 24"/>
          <p:cNvSpPr/>
          <p:nvPr/>
        </p:nvSpPr>
        <p:spPr>
          <a:xfrm>
            <a:off x="9582912" y="1743456"/>
            <a:ext cx="2133600" cy="585216"/>
          </a:xfrm>
          <a:prstGeom prst="rect">
            <a:avLst/>
          </a:prstGeom>
          <a:noFill/>
          <a:ln/>
        </p:spPr>
        <p:txBody>
          <a:bodyPr wrap="square" rtlCol="0" anchor="ctr"/>
          <a:lstStyle/>
          <a:p>
            <a:pPr algn="ctr"/>
            <a:r>
              <a:rPr lang="en-US" sz="1200" b="1" dirty="0">
                <a:solidFill>
                  <a:srgbClr val="00897B"/>
                </a:solidFill>
                <a:latin typeface="Calibri" pitchFamily="34" charset="0"/>
                <a:ea typeface="Calibri" pitchFamily="34" charset="-122"/>
                <a:cs typeface="Calibri" pitchFamily="34" charset="-120"/>
              </a:rPr>
              <a:t>★ Microsoft</a:t>
            </a:r>
            <a:endParaRPr lang="en-US" sz="1200" dirty="0"/>
          </a:p>
        </p:txBody>
      </p:sp>
      <p:sp>
        <p:nvSpPr>
          <p:cNvPr id="27" name="Shape 25"/>
          <p:cNvSpPr/>
          <p:nvPr/>
        </p:nvSpPr>
        <p:spPr>
          <a:xfrm>
            <a:off x="304800" y="2328672"/>
            <a:ext cx="2438400" cy="585216"/>
          </a:xfrm>
          <a:prstGeom prst="rect">
            <a:avLst/>
          </a:prstGeom>
          <a:solidFill>
            <a:srgbClr val="FFFFFF"/>
          </a:solidFill>
          <a:ln w="6350">
            <a:solidFill>
              <a:srgbClr val="D0D8E8"/>
            </a:solidFill>
            <a:prstDash val="solid"/>
          </a:ln>
        </p:spPr>
        <p:txBody>
          <a:bodyPr/>
          <a:lstStyle/>
          <a:p>
            <a:endParaRPr lang="en-IN" sz="2400"/>
          </a:p>
        </p:txBody>
      </p:sp>
      <p:sp>
        <p:nvSpPr>
          <p:cNvPr id="28" name="Text 26"/>
          <p:cNvSpPr/>
          <p:nvPr/>
        </p:nvSpPr>
        <p:spPr>
          <a:xfrm>
            <a:off x="377952" y="2328672"/>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Language</a:t>
            </a:r>
            <a:endParaRPr lang="en-US" sz="1267" dirty="0"/>
          </a:p>
        </p:txBody>
      </p:sp>
      <p:sp>
        <p:nvSpPr>
          <p:cNvPr id="29" name="Shape 27"/>
          <p:cNvSpPr/>
          <p:nvPr/>
        </p:nvSpPr>
        <p:spPr>
          <a:xfrm>
            <a:off x="2743200" y="2328672"/>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30" name="Text 28"/>
          <p:cNvSpPr/>
          <p:nvPr/>
        </p:nvSpPr>
        <p:spPr>
          <a:xfrm>
            <a:off x="2816352" y="232867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Python / JS</a:t>
            </a:r>
            <a:endParaRPr lang="en-US" sz="1200" dirty="0"/>
          </a:p>
        </p:txBody>
      </p:sp>
      <p:sp>
        <p:nvSpPr>
          <p:cNvPr id="31" name="Shape 29"/>
          <p:cNvSpPr/>
          <p:nvPr/>
        </p:nvSpPr>
        <p:spPr>
          <a:xfrm>
            <a:off x="4998720" y="2328672"/>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32" name="Text 30"/>
          <p:cNvSpPr/>
          <p:nvPr/>
        </p:nvSpPr>
        <p:spPr>
          <a:xfrm>
            <a:off x="5071872" y="232867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Python</a:t>
            </a:r>
            <a:endParaRPr lang="en-US" sz="1200" dirty="0"/>
          </a:p>
        </p:txBody>
      </p:sp>
      <p:sp>
        <p:nvSpPr>
          <p:cNvPr id="33" name="Shape 31"/>
          <p:cNvSpPr/>
          <p:nvPr/>
        </p:nvSpPr>
        <p:spPr>
          <a:xfrm>
            <a:off x="7254240" y="2328672"/>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34" name="Text 32"/>
          <p:cNvSpPr/>
          <p:nvPr/>
        </p:nvSpPr>
        <p:spPr>
          <a:xfrm>
            <a:off x="7327392" y="232867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Low-code / JS</a:t>
            </a:r>
            <a:endParaRPr lang="en-US" sz="1200" dirty="0"/>
          </a:p>
        </p:txBody>
      </p:sp>
      <p:sp>
        <p:nvSpPr>
          <p:cNvPr id="35" name="Shape 33"/>
          <p:cNvSpPr/>
          <p:nvPr/>
        </p:nvSpPr>
        <p:spPr>
          <a:xfrm>
            <a:off x="9509760" y="2328672"/>
            <a:ext cx="2255520" cy="585216"/>
          </a:xfrm>
          <a:prstGeom prst="rect">
            <a:avLst/>
          </a:prstGeom>
          <a:solidFill>
            <a:srgbClr val="F0FAFA"/>
          </a:solidFill>
          <a:ln w="6350">
            <a:solidFill>
              <a:srgbClr val="00897B"/>
            </a:solidFill>
            <a:prstDash val="solid"/>
          </a:ln>
        </p:spPr>
        <p:txBody>
          <a:bodyPr/>
          <a:lstStyle/>
          <a:p>
            <a:endParaRPr lang="en-IN" sz="2400"/>
          </a:p>
        </p:txBody>
      </p:sp>
      <p:sp>
        <p:nvSpPr>
          <p:cNvPr id="36" name="Text 34"/>
          <p:cNvSpPr/>
          <p:nvPr/>
        </p:nvSpPr>
        <p:spPr>
          <a:xfrm>
            <a:off x="9582912" y="2328672"/>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Python &amp; .NET</a:t>
            </a:r>
            <a:endParaRPr lang="en-US" sz="1200" dirty="0"/>
          </a:p>
        </p:txBody>
      </p:sp>
      <p:sp>
        <p:nvSpPr>
          <p:cNvPr id="37" name="Shape 35"/>
          <p:cNvSpPr/>
          <p:nvPr/>
        </p:nvSpPr>
        <p:spPr>
          <a:xfrm>
            <a:off x="304800" y="2913888"/>
            <a:ext cx="2438400" cy="585216"/>
          </a:xfrm>
          <a:prstGeom prst="rect">
            <a:avLst/>
          </a:prstGeom>
          <a:solidFill>
            <a:srgbClr val="F8FAFF"/>
          </a:solidFill>
          <a:ln w="6350">
            <a:solidFill>
              <a:srgbClr val="D0D8E8"/>
            </a:solidFill>
            <a:prstDash val="solid"/>
          </a:ln>
        </p:spPr>
        <p:txBody>
          <a:bodyPr/>
          <a:lstStyle/>
          <a:p>
            <a:endParaRPr lang="en-IN" sz="2400"/>
          </a:p>
        </p:txBody>
      </p:sp>
      <p:sp>
        <p:nvSpPr>
          <p:cNvPr id="38" name="Text 36"/>
          <p:cNvSpPr/>
          <p:nvPr/>
        </p:nvSpPr>
        <p:spPr>
          <a:xfrm>
            <a:off x="377952" y="2913888"/>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Visual Studio</a:t>
            </a:r>
            <a:endParaRPr lang="en-US" sz="1267" dirty="0"/>
          </a:p>
        </p:txBody>
      </p:sp>
      <p:sp>
        <p:nvSpPr>
          <p:cNvPr id="39" name="Shape 37"/>
          <p:cNvSpPr/>
          <p:nvPr/>
        </p:nvSpPr>
        <p:spPr>
          <a:xfrm>
            <a:off x="2743200" y="2913888"/>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40" name="Text 38"/>
          <p:cNvSpPr/>
          <p:nvPr/>
        </p:nvSpPr>
        <p:spPr>
          <a:xfrm>
            <a:off x="2816352" y="2913888"/>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LangSmith</a:t>
            </a:r>
            <a:endParaRPr lang="en-US" sz="1200" dirty="0"/>
          </a:p>
        </p:txBody>
      </p:sp>
      <p:sp>
        <p:nvSpPr>
          <p:cNvPr id="41" name="Shape 39"/>
          <p:cNvSpPr/>
          <p:nvPr/>
        </p:nvSpPr>
        <p:spPr>
          <a:xfrm>
            <a:off x="4998720" y="2913888"/>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42" name="Text 40"/>
          <p:cNvSpPr/>
          <p:nvPr/>
        </p:nvSpPr>
        <p:spPr>
          <a:xfrm>
            <a:off x="5071872" y="2913888"/>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CrewAI Studio</a:t>
            </a:r>
            <a:endParaRPr lang="en-US" sz="1200" dirty="0"/>
          </a:p>
        </p:txBody>
      </p:sp>
      <p:sp>
        <p:nvSpPr>
          <p:cNvPr id="43" name="Shape 41"/>
          <p:cNvSpPr/>
          <p:nvPr/>
        </p:nvSpPr>
        <p:spPr>
          <a:xfrm>
            <a:off x="7254240" y="2913888"/>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44" name="Text 42"/>
          <p:cNvSpPr/>
          <p:nvPr/>
        </p:nvSpPr>
        <p:spPr>
          <a:xfrm>
            <a:off x="7327392" y="2913888"/>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Built-in canvas</a:t>
            </a:r>
            <a:endParaRPr lang="en-US" sz="1200" dirty="0"/>
          </a:p>
        </p:txBody>
      </p:sp>
      <p:sp>
        <p:nvSpPr>
          <p:cNvPr id="45" name="Shape 43"/>
          <p:cNvSpPr/>
          <p:nvPr/>
        </p:nvSpPr>
        <p:spPr>
          <a:xfrm>
            <a:off x="9509760" y="2913888"/>
            <a:ext cx="2255520" cy="585216"/>
          </a:xfrm>
          <a:prstGeom prst="rect">
            <a:avLst/>
          </a:prstGeom>
          <a:solidFill>
            <a:srgbClr val="E0F2F1"/>
          </a:solidFill>
          <a:ln w="6350">
            <a:solidFill>
              <a:srgbClr val="00897B"/>
            </a:solidFill>
            <a:prstDash val="solid"/>
          </a:ln>
        </p:spPr>
        <p:txBody>
          <a:bodyPr/>
          <a:lstStyle/>
          <a:p>
            <a:endParaRPr lang="en-IN" sz="2400"/>
          </a:p>
        </p:txBody>
      </p:sp>
      <p:sp>
        <p:nvSpPr>
          <p:cNvPr id="46" name="Text 44"/>
          <p:cNvSpPr/>
          <p:nvPr/>
        </p:nvSpPr>
        <p:spPr>
          <a:xfrm>
            <a:off x="9582912" y="2913888"/>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Foundry Studio</a:t>
            </a:r>
            <a:endParaRPr lang="en-US" sz="1200" dirty="0"/>
          </a:p>
        </p:txBody>
      </p:sp>
      <p:sp>
        <p:nvSpPr>
          <p:cNvPr id="47" name="Shape 45"/>
          <p:cNvSpPr/>
          <p:nvPr/>
        </p:nvSpPr>
        <p:spPr>
          <a:xfrm>
            <a:off x="304800" y="3499104"/>
            <a:ext cx="2438400" cy="585216"/>
          </a:xfrm>
          <a:prstGeom prst="rect">
            <a:avLst/>
          </a:prstGeom>
          <a:solidFill>
            <a:srgbClr val="FFFFFF"/>
          </a:solidFill>
          <a:ln w="6350">
            <a:solidFill>
              <a:srgbClr val="D0D8E8"/>
            </a:solidFill>
            <a:prstDash val="solid"/>
          </a:ln>
        </p:spPr>
        <p:txBody>
          <a:bodyPr/>
          <a:lstStyle/>
          <a:p>
            <a:endParaRPr lang="en-IN" sz="2400"/>
          </a:p>
        </p:txBody>
      </p:sp>
      <p:sp>
        <p:nvSpPr>
          <p:cNvPr id="48" name="Text 46"/>
          <p:cNvSpPr/>
          <p:nvPr/>
        </p:nvSpPr>
        <p:spPr>
          <a:xfrm>
            <a:off x="377952" y="3499104"/>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Cloud Support</a:t>
            </a:r>
            <a:endParaRPr lang="en-US" sz="1267" dirty="0"/>
          </a:p>
        </p:txBody>
      </p:sp>
      <p:sp>
        <p:nvSpPr>
          <p:cNvPr id="49" name="Shape 47"/>
          <p:cNvSpPr/>
          <p:nvPr/>
        </p:nvSpPr>
        <p:spPr>
          <a:xfrm>
            <a:off x="2743200" y="3499104"/>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50" name="Text 48"/>
          <p:cNvSpPr/>
          <p:nvPr/>
        </p:nvSpPr>
        <p:spPr>
          <a:xfrm>
            <a:off x="2816352" y="3499104"/>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LangSmith</a:t>
            </a:r>
            <a:endParaRPr lang="en-US" sz="1200" dirty="0"/>
          </a:p>
        </p:txBody>
      </p:sp>
      <p:sp>
        <p:nvSpPr>
          <p:cNvPr id="51" name="Shape 49"/>
          <p:cNvSpPr/>
          <p:nvPr/>
        </p:nvSpPr>
        <p:spPr>
          <a:xfrm>
            <a:off x="4998720" y="3499104"/>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52" name="Text 50"/>
          <p:cNvSpPr/>
          <p:nvPr/>
        </p:nvSpPr>
        <p:spPr>
          <a:xfrm>
            <a:off x="5071872" y="3499104"/>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3rd Party</a:t>
            </a:r>
            <a:endParaRPr lang="en-US" sz="1200" dirty="0"/>
          </a:p>
        </p:txBody>
      </p:sp>
      <p:sp>
        <p:nvSpPr>
          <p:cNvPr id="53" name="Shape 51"/>
          <p:cNvSpPr/>
          <p:nvPr/>
        </p:nvSpPr>
        <p:spPr>
          <a:xfrm>
            <a:off x="7254240" y="3499104"/>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54" name="Text 52"/>
          <p:cNvSpPr/>
          <p:nvPr/>
        </p:nvSpPr>
        <p:spPr>
          <a:xfrm>
            <a:off x="7327392" y="3499104"/>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Cloud / self-host</a:t>
            </a:r>
            <a:endParaRPr lang="en-US" sz="1200" dirty="0"/>
          </a:p>
        </p:txBody>
      </p:sp>
      <p:sp>
        <p:nvSpPr>
          <p:cNvPr id="55" name="Shape 53"/>
          <p:cNvSpPr/>
          <p:nvPr/>
        </p:nvSpPr>
        <p:spPr>
          <a:xfrm>
            <a:off x="9509760" y="3499104"/>
            <a:ext cx="2255520" cy="585216"/>
          </a:xfrm>
          <a:prstGeom prst="rect">
            <a:avLst/>
          </a:prstGeom>
          <a:solidFill>
            <a:srgbClr val="F0FAFA"/>
          </a:solidFill>
          <a:ln w="6350">
            <a:solidFill>
              <a:srgbClr val="00897B"/>
            </a:solidFill>
            <a:prstDash val="solid"/>
          </a:ln>
        </p:spPr>
        <p:txBody>
          <a:bodyPr/>
          <a:lstStyle/>
          <a:p>
            <a:endParaRPr lang="en-IN" sz="2400"/>
          </a:p>
        </p:txBody>
      </p:sp>
      <p:sp>
        <p:nvSpPr>
          <p:cNvPr id="56" name="Text 54"/>
          <p:cNvSpPr/>
          <p:nvPr/>
        </p:nvSpPr>
        <p:spPr>
          <a:xfrm>
            <a:off x="9582912" y="3499104"/>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Azure AI Foundry</a:t>
            </a:r>
            <a:endParaRPr lang="en-US" sz="1200" dirty="0"/>
          </a:p>
        </p:txBody>
      </p:sp>
      <p:sp>
        <p:nvSpPr>
          <p:cNvPr id="57" name="Shape 55"/>
          <p:cNvSpPr/>
          <p:nvPr/>
        </p:nvSpPr>
        <p:spPr>
          <a:xfrm>
            <a:off x="304800" y="4084320"/>
            <a:ext cx="2438400" cy="585216"/>
          </a:xfrm>
          <a:prstGeom prst="rect">
            <a:avLst/>
          </a:prstGeom>
          <a:solidFill>
            <a:srgbClr val="F8FAFF"/>
          </a:solidFill>
          <a:ln w="6350">
            <a:solidFill>
              <a:srgbClr val="D0D8E8"/>
            </a:solidFill>
            <a:prstDash val="solid"/>
          </a:ln>
        </p:spPr>
        <p:txBody>
          <a:bodyPr/>
          <a:lstStyle/>
          <a:p>
            <a:endParaRPr lang="en-IN" sz="2400"/>
          </a:p>
        </p:txBody>
      </p:sp>
      <p:sp>
        <p:nvSpPr>
          <p:cNvPr id="58" name="Text 56"/>
          <p:cNvSpPr/>
          <p:nvPr/>
        </p:nvSpPr>
        <p:spPr>
          <a:xfrm>
            <a:off x="377952" y="4084320"/>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Orchestration</a:t>
            </a:r>
            <a:endParaRPr lang="en-US" sz="1267" dirty="0"/>
          </a:p>
        </p:txBody>
      </p:sp>
      <p:sp>
        <p:nvSpPr>
          <p:cNvPr id="59" name="Shape 57"/>
          <p:cNvSpPr/>
          <p:nvPr/>
        </p:nvSpPr>
        <p:spPr>
          <a:xfrm>
            <a:off x="2743200" y="4084320"/>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60" name="Text 58"/>
          <p:cNvSpPr/>
          <p:nvPr/>
        </p:nvSpPr>
        <p:spPr>
          <a:xfrm>
            <a:off x="2816352" y="4084320"/>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All types</a:t>
            </a:r>
            <a:endParaRPr lang="en-US" sz="1200" dirty="0"/>
          </a:p>
        </p:txBody>
      </p:sp>
      <p:sp>
        <p:nvSpPr>
          <p:cNvPr id="61" name="Shape 59"/>
          <p:cNvSpPr/>
          <p:nvPr/>
        </p:nvSpPr>
        <p:spPr>
          <a:xfrm>
            <a:off x="4998720" y="4084320"/>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62" name="Text 60"/>
          <p:cNvSpPr/>
          <p:nvPr/>
        </p:nvSpPr>
        <p:spPr>
          <a:xfrm>
            <a:off x="5071872" y="4084320"/>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Role-based</a:t>
            </a:r>
            <a:endParaRPr lang="en-US" sz="1200" dirty="0"/>
          </a:p>
        </p:txBody>
      </p:sp>
      <p:sp>
        <p:nvSpPr>
          <p:cNvPr id="63" name="Shape 61"/>
          <p:cNvSpPr/>
          <p:nvPr/>
        </p:nvSpPr>
        <p:spPr>
          <a:xfrm>
            <a:off x="7254240" y="4084320"/>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64" name="Text 62"/>
          <p:cNvSpPr/>
          <p:nvPr/>
        </p:nvSpPr>
        <p:spPr>
          <a:xfrm>
            <a:off x="7327392" y="4084320"/>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Workflow-first</a:t>
            </a:r>
            <a:endParaRPr lang="en-US" sz="1200" dirty="0"/>
          </a:p>
        </p:txBody>
      </p:sp>
      <p:sp>
        <p:nvSpPr>
          <p:cNvPr id="65" name="Shape 63"/>
          <p:cNvSpPr/>
          <p:nvPr/>
        </p:nvSpPr>
        <p:spPr>
          <a:xfrm>
            <a:off x="9509760" y="4084320"/>
            <a:ext cx="2255520" cy="585216"/>
          </a:xfrm>
          <a:prstGeom prst="rect">
            <a:avLst/>
          </a:prstGeom>
          <a:solidFill>
            <a:srgbClr val="E0F2F1"/>
          </a:solidFill>
          <a:ln w="6350">
            <a:solidFill>
              <a:srgbClr val="00897B"/>
            </a:solidFill>
            <a:prstDash val="solid"/>
          </a:ln>
        </p:spPr>
        <p:txBody>
          <a:bodyPr/>
          <a:lstStyle/>
          <a:p>
            <a:endParaRPr lang="en-IN" sz="2400"/>
          </a:p>
        </p:txBody>
      </p:sp>
      <p:sp>
        <p:nvSpPr>
          <p:cNvPr id="66" name="Text 64"/>
          <p:cNvSpPr/>
          <p:nvPr/>
        </p:nvSpPr>
        <p:spPr>
          <a:xfrm>
            <a:off x="9582912" y="4084320"/>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All types</a:t>
            </a:r>
            <a:endParaRPr lang="en-US" sz="1200" dirty="0"/>
          </a:p>
        </p:txBody>
      </p:sp>
      <p:sp>
        <p:nvSpPr>
          <p:cNvPr id="67" name="Shape 65"/>
          <p:cNvSpPr/>
          <p:nvPr/>
        </p:nvSpPr>
        <p:spPr>
          <a:xfrm>
            <a:off x="304800" y="4669536"/>
            <a:ext cx="2438400" cy="585216"/>
          </a:xfrm>
          <a:prstGeom prst="rect">
            <a:avLst/>
          </a:prstGeom>
          <a:solidFill>
            <a:srgbClr val="FFFFFF"/>
          </a:solidFill>
          <a:ln w="6350">
            <a:solidFill>
              <a:srgbClr val="D0D8E8"/>
            </a:solidFill>
            <a:prstDash val="solid"/>
          </a:ln>
        </p:spPr>
        <p:txBody>
          <a:bodyPr/>
          <a:lstStyle/>
          <a:p>
            <a:endParaRPr lang="en-IN" sz="2400"/>
          </a:p>
        </p:txBody>
      </p:sp>
      <p:sp>
        <p:nvSpPr>
          <p:cNvPr id="68" name="Text 66"/>
          <p:cNvSpPr/>
          <p:nvPr/>
        </p:nvSpPr>
        <p:spPr>
          <a:xfrm>
            <a:off x="377952" y="4669536"/>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Enterprise Ready</a:t>
            </a:r>
            <a:endParaRPr lang="en-US" sz="1267" dirty="0"/>
          </a:p>
        </p:txBody>
      </p:sp>
      <p:sp>
        <p:nvSpPr>
          <p:cNvPr id="69" name="Shape 67"/>
          <p:cNvSpPr/>
          <p:nvPr/>
        </p:nvSpPr>
        <p:spPr>
          <a:xfrm>
            <a:off x="2743200" y="4669536"/>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70" name="Text 68"/>
          <p:cNvSpPr/>
          <p:nvPr/>
        </p:nvSpPr>
        <p:spPr>
          <a:xfrm>
            <a:off x="2816352" y="4669536"/>
            <a:ext cx="2133600" cy="585216"/>
          </a:xfrm>
          <a:prstGeom prst="rect">
            <a:avLst/>
          </a:prstGeom>
          <a:noFill/>
          <a:ln/>
        </p:spPr>
        <p:txBody>
          <a:bodyPr wrap="square" rtlCol="0" anchor="ctr"/>
          <a:lstStyle/>
          <a:p>
            <a:pPr algn="ctr"/>
            <a:r>
              <a:rPr lang="en-US" sz="1200" dirty="0">
                <a:solidFill>
                  <a:srgbClr val="16A34A"/>
                </a:solidFill>
                <a:latin typeface="Calibri" pitchFamily="34" charset="0"/>
                <a:ea typeface="Calibri" pitchFamily="34" charset="-122"/>
                <a:cs typeface="Calibri" pitchFamily="34" charset="-120"/>
              </a:rPr>
              <a:t>High</a:t>
            </a:r>
            <a:endParaRPr lang="en-US" sz="1200" dirty="0"/>
          </a:p>
        </p:txBody>
      </p:sp>
      <p:sp>
        <p:nvSpPr>
          <p:cNvPr id="71" name="Shape 69"/>
          <p:cNvSpPr/>
          <p:nvPr/>
        </p:nvSpPr>
        <p:spPr>
          <a:xfrm>
            <a:off x="4998720" y="4669536"/>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72" name="Text 70"/>
          <p:cNvSpPr/>
          <p:nvPr/>
        </p:nvSpPr>
        <p:spPr>
          <a:xfrm>
            <a:off x="5071872" y="4669536"/>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Medium</a:t>
            </a:r>
            <a:endParaRPr lang="en-US" sz="1200" dirty="0"/>
          </a:p>
        </p:txBody>
      </p:sp>
      <p:sp>
        <p:nvSpPr>
          <p:cNvPr id="73" name="Shape 71"/>
          <p:cNvSpPr/>
          <p:nvPr/>
        </p:nvSpPr>
        <p:spPr>
          <a:xfrm>
            <a:off x="7254240" y="4669536"/>
            <a:ext cx="2255520" cy="585216"/>
          </a:xfrm>
          <a:prstGeom prst="rect">
            <a:avLst/>
          </a:prstGeom>
          <a:solidFill>
            <a:srgbClr val="FFFFFF"/>
          </a:solidFill>
          <a:ln w="6350">
            <a:solidFill>
              <a:srgbClr val="D0D8E8"/>
            </a:solidFill>
            <a:prstDash val="solid"/>
          </a:ln>
        </p:spPr>
        <p:txBody>
          <a:bodyPr/>
          <a:lstStyle/>
          <a:p>
            <a:endParaRPr lang="en-IN" sz="2400"/>
          </a:p>
        </p:txBody>
      </p:sp>
      <p:sp>
        <p:nvSpPr>
          <p:cNvPr id="74" name="Text 72"/>
          <p:cNvSpPr/>
          <p:nvPr/>
        </p:nvSpPr>
        <p:spPr>
          <a:xfrm>
            <a:off x="7327392" y="4669536"/>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Medium</a:t>
            </a:r>
            <a:endParaRPr lang="en-US" sz="1200" dirty="0"/>
          </a:p>
        </p:txBody>
      </p:sp>
      <p:sp>
        <p:nvSpPr>
          <p:cNvPr id="75" name="Shape 73"/>
          <p:cNvSpPr/>
          <p:nvPr/>
        </p:nvSpPr>
        <p:spPr>
          <a:xfrm>
            <a:off x="9509760" y="4669536"/>
            <a:ext cx="2255520" cy="585216"/>
          </a:xfrm>
          <a:prstGeom prst="rect">
            <a:avLst/>
          </a:prstGeom>
          <a:solidFill>
            <a:srgbClr val="F0FAFA"/>
          </a:solidFill>
          <a:ln w="6350">
            <a:solidFill>
              <a:srgbClr val="00897B"/>
            </a:solidFill>
            <a:prstDash val="solid"/>
          </a:ln>
        </p:spPr>
        <p:txBody>
          <a:bodyPr/>
          <a:lstStyle/>
          <a:p>
            <a:endParaRPr lang="en-IN" sz="2400"/>
          </a:p>
        </p:txBody>
      </p:sp>
      <p:sp>
        <p:nvSpPr>
          <p:cNvPr id="76" name="Text 74"/>
          <p:cNvSpPr/>
          <p:nvPr/>
        </p:nvSpPr>
        <p:spPr>
          <a:xfrm>
            <a:off x="9582912" y="4669536"/>
            <a:ext cx="2133600" cy="585216"/>
          </a:xfrm>
          <a:prstGeom prst="rect">
            <a:avLst/>
          </a:prstGeom>
          <a:noFill/>
          <a:ln/>
        </p:spPr>
        <p:txBody>
          <a:bodyPr wrap="square" rtlCol="0" anchor="ctr"/>
          <a:lstStyle/>
          <a:p>
            <a:pPr algn="ctr"/>
            <a:r>
              <a:rPr lang="en-US" sz="1200" b="1" dirty="0">
                <a:solidFill>
                  <a:srgbClr val="16A34A"/>
                </a:solidFill>
                <a:latin typeface="Calibri" pitchFamily="34" charset="0"/>
                <a:ea typeface="Calibri" pitchFamily="34" charset="-122"/>
                <a:cs typeface="Calibri" pitchFamily="34" charset="-120"/>
              </a:rPr>
              <a:t>★ High (native)</a:t>
            </a:r>
            <a:endParaRPr lang="en-US" sz="1200" dirty="0"/>
          </a:p>
        </p:txBody>
      </p:sp>
      <p:sp>
        <p:nvSpPr>
          <p:cNvPr id="77" name="Shape 75"/>
          <p:cNvSpPr/>
          <p:nvPr/>
        </p:nvSpPr>
        <p:spPr>
          <a:xfrm>
            <a:off x="304800" y="5254752"/>
            <a:ext cx="2438400" cy="585216"/>
          </a:xfrm>
          <a:prstGeom prst="rect">
            <a:avLst/>
          </a:prstGeom>
          <a:solidFill>
            <a:srgbClr val="F8FAFF"/>
          </a:solidFill>
          <a:ln w="6350">
            <a:solidFill>
              <a:srgbClr val="D0D8E8"/>
            </a:solidFill>
            <a:prstDash val="solid"/>
          </a:ln>
        </p:spPr>
        <p:txBody>
          <a:bodyPr/>
          <a:lstStyle/>
          <a:p>
            <a:endParaRPr lang="en-IN" sz="2400"/>
          </a:p>
        </p:txBody>
      </p:sp>
      <p:sp>
        <p:nvSpPr>
          <p:cNvPr id="78" name="Text 76"/>
          <p:cNvSpPr/>
          <p:nvPr/>
        </p:nvSpPr>
        <p:spPr>
          <a:xfrm>
            <a:off x="377952" y="5254752"/>
            <a:ext cx="2316480" cy="585216"/>
          </a:xfrm>
          <a:prstGeom prst="rect">
            <a:avLst/>
          </a:prstGeom>
          <a:noFill/>
          <a:ln/>
        </p:spPr>
        <p:txBody>
          <a:bodyPr wrap="square" rtlCol="0" anchor="ctr"/>
          <a:lstStyle/>
          <a:p>
            <a:r>
              <a:rPr lang="en-US" sz="1267" b="1" dirty="0">
                <a:solidFill>
                  <a:srgbClr val="1E293B"/>
                </a:solidFill>
                <a:latin typeface="Calibri" pitchFamily="34" charset="0"/>
                <a:ea typeface="Calibri" pitchFamily="34" charset="-122"/>
                <a:cs typeface="Calibri" pitchFamily="34" charset="-120"/>
              </a:rPr>
              <a:t>Best For</a:t>
            </a:r>
            <a:endParaRPr lang="en-US" sz="1267" dirty="0"/>
          </a:p>
        </p:txBody>
      </p:sp>
      <p:sp>
        <p:nvSpPr>
          <p:cNvPr id="79" name="Shape 77"/>
          <p:cNvSpPr/>
          <p:nvPr/>
        </p:nvSpPr>
        <p:spPr>
          <a:xfrm>
            <a:off x="2743200" y="5254752"/>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80" name="Text 78"/>
          <p:cNvSpPr/>
          <p:nvPr/>
        </p:nvSpPr>
        <p:spPr>
          <a:xfrm>
            <a:off x="2816352" y="525475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Stateful</a:t>
            </a:r>
            <a:endParaRPr lang="en-US" sz="1200" dirty="0"/>
          </a:p>
          <a:p>
            <a:pPr algn="ctr"/>
            <a:r>
              <a:rPr lang="en-US" sz="1200" dirty="0">
                <a:solidFill>
                  <a:srgbClr val="1E293B"/>
                </a:solidFill>
                <a:latin typeface="Calibri" pitchFamily="34" charset="0"/>
                <a:ea typeface="Calibri" pitchFamily="34" charset="-122"/>
                <a:cs typeface="Calibri" pitchFamily="34" charset="-120"/>
              </a:rPr>
              <a:t>flows</a:t>
            </a:r>
            <a:endParaRPr lang="en-US" sz="1200" dirty="0"/>
          </a:p>
        </p:txBody>
      </p:sp>
      <p:sp>
        <p:nvSpPr>
          <p:cNvPr id="81" name="Shape 79"/>
          <p:cNvSpPr/>
          <p:nvPr/>
        </p:nvSpPr>
        <p:spPr>
          <a:xfrm>
            <a:off x="4998720" y="5254752"/>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82" name="Text 80"/>
          <p:cNvSpPr/>
          <p:nvPr/>
        </p:nvSpPr>
        <p:spPr>
          <a:xfrm>
            <a:off x="5071872" y="5254752"/>
            <a:ext cx="2133600" cy="585216"/>
          </a:xfrm>
          <a:prstGeom prst="rect">
            <a:avLst/>
          </a:prstGeom>
          <a:noFill/>
          <a:ln/>
        </p:spPr>
        <p:txBody>
          <a:bodyPr wrap="square" rtlCol="0" anchor="ctr"/>
          <a:lstStyle/>
          <a:p>
            <a:pPr algn="ctr"/>
            <a:r>
              <a:rPr lang="en-US" sz="1200" dirty="0">
                <a:solidFill>
                  <a:srgbClr val="D97706"/>
                </a:solidFill>
                <a:latin typeface="Calibri" pitchFamily="34" charset="0"/>
                <a:ea typeface="Calibri" pitchFamily="34" charset="-122"/>
                <a:cs typeface="Calibri" pitchFamily="34" charset="-120"/>
              </a:rPr>
              <a:t>Role-based</a:t>
            </a:r>
            <a:endParaRPr lang="en-US" sz="1200" dirty="0"/>
          </a:p>
          <a:p>
            <a:pPr algn="ctr"/>
            <a:r>
              <a:rPr lang="en-US" sz="1200" dirty="0">
                <a:solidFill>
                  <a:srgbClr val="D97706"/>
                </a:solidFill>
                <a:latin typeface="Calibri" pitchFamily="34" charset="0"/>
                <a:ea typeface="Calibri" pitchFamily="34" charset="-122"/>
                <a:cs typeface="Calibri" pitchFamily="34" charset="-120"/>
              </a:rPr>
              <a:t>teams</a:t>
            </a:r>
            <a:endParaRPr lang="en-US" sz="1200" dirty="0"/>
          </a:p>
        </p:txBody>
      </p:sp>
      <p:sp>
        <p:nvSpPr>
          <p:cNvPr id="83" name="Shape 81"/>
          <p:cNvSpPr/>
          <p:nvPr/>
        </p:nvSpPr>
        <p:spPr>
          <a:xfrm>
            <a:off x="7254240" y="5254752"/>
            <a:ext cx="2255520" cy="585216"/>
          </a:xfrm>
          <a:prstGeom prst="rect">
            <a:avLst/>
          </a:prstGeom>
          <a:solidFill>
            <a:srgbClr val="F8FAFF"/>
          </a:solidFill>
          <a:ln w="6350">
            <a:solidFill>
              <a:srgbClr val="D0D8E8"/>
            </a:solidFill>
            <a:prstDash val="solid"/>
          </a:ln>
        </p:spPr>
        <p:txBody>
          <a:bodyPr/>
          <a:lstStyle/>
          <a:p>
            <a:endParaRPr lang="en-IN" sz="2400"/>
          </a:p>
        </p:txBody>
      </p:sp>
      <p:sp>
        <p:nvSpPr>
          <p:cNvPr id="84" name="Text 82"/>
          <p:cNvSpPr/>
          <p:nvPr/>
        </p:nvSpPr>
        <p:spPr>
          <a:xfrm>
            <a:off x="7327392" y="525475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Low-code</a:t>
            </a:r>
            <a:endParaRPr lang="en-US" sz="1200" dirty="0"/>
          </a:p>
          <a:p>
            <a:pPr algn="ctr"/>
            <a:r>
              <a:rPr lang="en-US" sz="1200" dirty="0">
                <a:solidFill>
                  <a:srgbClr val="1E293B"/>
                </a:solidFill>
                <a:latin typeface="Calibri" pitchFamily="34" charset="0"/>
                <a:ea typeface="Calibri" pitchFamily="34" charset="-122"/>
                <a:cs typeface="Calibri" pitchFamily="34" charset="-120"/>
              </a:rPr>
              <a:t>automation</a:t>
            </a:r>
            <a:endParaRPr lang="en-US" sz="1200" dirty="0"/>
          </a:p>
        </p:txBody>
      </p:sp>
      <p:sp>
        <p:nvSpPr>
          <p:cNvPr id="85" name="Shape 83"/>
          <p:cNvSpPr/>
          <p:nvPr/>
        </p:nvSpPr>
        <p:spPr>
          <a:xfrm>
            <a:off x="9509760" y="5254752"/>
            <a:ext cx="2255520" cy="585216"/>
          </a:xfrm>
          <a:prstGeom prst="rect">
            <a:avLst/>
          </a:prstGeom>
          <a:solidFill>
            <a:srgbClr val="E0F2F1"/>
          </a:solidFill>
          <a:ln w="6350">
            <a:solidFill>
              <a:srgbClr val="00897B"/>
            </a:solidFill>
            <a:prstDash val="solid"/>
          </a:ln>
        </p:spPr>
        <p:txBody>
          <a:bodyPr/>
          <a:lstStyle/>
          <a:p>
            <a:endParaRPr lang="en-IN" sz="2400"/>
          </a:p>
        </p:txBody>
      </p:sp>
      <p:sp>
        <p:nvSpPr>
          <p:cNvPr id="86" name="Text 84"/>
          <p:cNvSpPr/>
          <p:nvPr/>
        </p:nvSpPr>
        <p:spPr>
          <a:xfrm>
            <a:off x="9582912" y="5254752"/>
            <a:ext cx="2133600" cy="585216"/>
          </a:xfrm>
          <a:prstGeom prst="rect">
            <a:avLst/>
          </a:prstGeom>
          <a:noFill/>
          <a:ln/>
        </p:spPr>
        <p:txBody>
          <a:bodyPr wrap="square" rtlCol="0" anchor="ctr"/>
          <a:lstStyle/>
          <a:p>
            <a:pPr algn="ctr"/>
            <a:r>
              <a:rPr lang="en-US" sz="1200" dirty="0">
                <a:solidFill>
                  <a:srgbClr val="1E293B"/>
                </a:solidFill>
                <a:latin typeface="Calibri" pitchFamily="34" charset="0"/>
                <a:ea typeface="Calibri" pitchFamily="34" charset="-122"/>
                <a:cs typeface="Calibri" pitchFamily="34" charset="-120"/>
              </a:rPr>
              <a:t>Azure / MSFT</a:t>
            </a:r>
            <a:endParaRPr lang="en-US" sz="1200" dirty="0"/>
          </a:p>
          <a:p>
            <a:pPr algn="ctr"/>
            <a:r>
              <a:rPr lang="en-US" sz="1200" dirty="0">
                <a:solidFill>
                  <a:srgbClr val="1E293B"/>
                </a:solidFill>
                <a:latin typeface="Calibri" pitchFamily="34" charset="0"/>
                <a:ea typeface="Calibri" pitchFamily="34" charset="-122"/>
                <a:cs typeface="Calibri" pitchFamily="34" charset="-120"/>
              </a:rPr>
              <a:t>stack</a:t>
            </a:r>
            <a:endParaRPr lang="en-US" sz="1200" dirty="0"/>
          </a:p>
        </p:txBody>
      </p:sp>
      <p:sp>
        <p:nvSpPr>
          <p:cNvPr id="87" name="Text 85"/>
          <p:cNvSpPr/>
          <p:nvPr/>
        </p:nvSpPr>
        <p:spPr>
          <a:xfrm>
            <a:off x="426720" y="5888736"/>
            <a:ext cx="2438400" cy="268224"/>
          </a:xfrm>
          <a:prstGeom prst="rect">
            <a:avLst/>
          </a:prstGeom>
          <a:noFill/>
          <a:ln/>
        </p:spPr>
        <p:txBody>
          <a:bodyPr wrap="square" rtlCol="0" anchor="ctr"/>
          <a:lstStyle/>
          <a:p>
            <a:r>
              <a:rPr lang="en-US" sz="1133" dirty="0">
                <a:solidFill>
                  <a:srgbClr val="16A34A"/>
                </a:solidFill>
                <a:latin typeface="Calibri" pitchFamily="34" charset="0"/>
                <a:ea typeface="Calibri" pitchFamily="34" charset="-122"/>
                <a:cs typeface="Calibri" pitchFamily="34" charset="-120"/>
              </a:rPr>
              <a:t>● High / Available</a:t>
            </a:r>
            <a:endParaRPr lang="en-US" sz="1133" dirty="0"/>
          </a:p>
        </p:txBody>
      </p:sp>
      <p:sp>
        <p:nvSpPr>
          <p:cNvPr id="88" name="Text 86"/>
          <p:cNvSpPr/>
          <p:nvPr/>
        </p:nvSpPr>
        <p:spPr>
          <a:xfrm>
            <a:off x="2987040" y="5888736"/>
            <a:ext cx="2438400" cy="268224"/>
          </a:xfrm>
          <a:prstGeom prst="rect">
            <a:avLst/>
          </a:prstGeom>
          <a:noFill/>
          <a:ln/>
        </p:spPr>
        <p:txBody>
          <a:bodyPr wrap="square" rtlCol="0" anchor="ctr"/>
          <a:lstStyle/>
          <a:p>
            <a:r>
              <a:rPr lang="en-US" sz="1133" dirty="0">
                <a:solidFill>
                  <a:srgbClr val="D97706"/>
                </a:solidFill>
                <a:latin typeface="Calibri" pitchFamily="34" charset="0"/>
                <a:ea typeface="Calibri" pitchFamily="34" charset="-122"/>
                <a:cs typeface="Calibri" pitchFamily="34" charset="-120"/>
              </a:rPr>
              <a:t>● Partial / Medium</a:t>
            </a:r>
            <a:endParaRPr lang="en-US" sz="1133" dirty="0"/>
          </a:p>
        </p:txBody>
      </p:sp>
      <p:sp>
        <p:nvSpPr>
          <p:cNvPr id="89" name="Text 87"/>
          <p:cNvSpPr/>
          <p:nvPr/>
        </p:nvSpPr>
        <p:spPr>
          <a:xfrm>
            <a:off x="5547360" y="5888736"/>
            <a:ext cx="6339840" cy="268224"/>
          </a:xfrm>
          <a:prstGeom prst="rect">
            <a:avLst/>
          </a:prstGeom>
          <a:noFill/>
          <a:ln/>
        </p:spPr>
        <p:txBody>
          <a:bodyPr wrap="square" rtlCol="0" anchor="ctr"/>
          <a:lstStyle/>
          <a:p>
            <a:r>
              <a:rPr lang="en-US" sz="1067" i="1" dirty="0">
                <a:solidFill>
                  <a:srgbClr val="00897B"/>
                </a:solidFill>
                <a:latin typeface="Calibri" pitchFamily="34" charset="0"/>
                <a:ea typeface="Calibri" pitchFamily="34" charset="-122"/>
                <a:cs typeface="Calibri" pitchFamily="34" charset="-120"/>
              </a:rPr>
              <a:t>★ Microsoft Agent Framework (public preview Oct 2025) is the official successor to both AutoGen and Semantic Kernel — both now in maintenance mode.</a:t>
            </a:r>
            <a:endParaRPr lang="en-US" sz="1067"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9FDC-2D99-F21D-E84D-91A09AC6DA5F}"/>
              </a:ext>
            </a:extLst>
          </p:cNvPr>
          <p:cNvSpPr>
            <a:spLocks noGrp="1"/>
          </p:cNvSpPr>
          <p:nvPr>
            <p:ph type="title"/>
          </p:nvPr>
        </p:nvSpPr>
        <p:spPr/>
        <p:txBody>
          <a:bodyPr/>
          <a:lstStyle/>
          <a:p>
            <a:r>
              <a:rPr lang="en-IN" dirty="0"/>
              <a:t>Governance, Observability &amp; Risk</a:t>
            </a:r>
          </a:p>
        </p:txBody>
      </p:sp>
      <p:sp>
        <p:nvSpPr>
          <p:cNvPr id="3" name="Text Placeholder 2">
            <a:extLst>
              <a:ext uri="{FF2B5EF4-FFF2-40B4-BE49-F238E27FC236}">
                <a16:creationId xmlns:a16="http://schemas.microsoft.com/office/drawing/2014/main" id="{07EC32D1-C346-F66F-F3A3-22217CD1489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83785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F78C95-47D3-07BF-D31B-DD5D039F02DC}"/>
              </a:ext>
            </a:extLst>
          </p:cNvPr>
          <p:cNvSpPr>
            <a:spLocks noGrp="1"/>
          </p:cNvSpPr>
          <p:nvPr>
            <p:ph type="body" idx="1"/>
          </p:nvPr>
        </p:nvSpPr>
        <p:spPr>
          <a:xfrm>
            <a:off x="236376" y="1590870"/>
            <a:ext cx="5791200" cy="4525963"/>
          </a:xfrm>
        </p:spPr>
        <p:txBody>
          <a:bodyPr/>
          <a:lstStyle/>
          <a:p>
            <a:r>
              <a:rPr lang="en-US" sz="2400" dirty="0"/>
              <a:t>Loops without guardrails → runaway API calls.</a:t>
            </a:r>
          </a:p>
          <a:p>
            <a:r>
              <a:rPr lang="en-US" sz="2400" dirty="0"/>
              <a:t>Lack of reflection led to repeated failed tasks.</a:t>
            </a:r>
          </a:p>
          <a:p>
            <a:r>
              <a:rPr lang="en-US" sz="2400" dirty="0"/>
              <a:t>Missing MCP validation → unsafe actions.</a:t>
            </a:r>
          </a:p>
          <a:p>
            <a:r>
              <a:rPr lang="en-US" sz="2400" dirty="0"/>
              <a:t>Observability missing — couldn’t trace what went wrong</a:t>
            </a:r>
          </a:p>
          <a:p>
            <a:endParaRPr lang="en-US" sz="2400" dirty="0"/>
          </a:p>
          <a:p>
            <a:endParaRPr lang="en-US" sz="2400" dirty="0"/>
          </a:p>
          <a:p>
            <a:pPr marL="50800" indent="0">
              <a:buNone/>
            </a:pPr>
            <a:r>
              <a:rPr lang="en-US" sz="2400" dirty="0"/>
              <a:t>“Governance isn’t optional — it’s survival”</a:t>
            </a:r>
            <a:endParaRPr lang="en-IN" sz="2400" dirty="0"/>
          </a:p>
        </p:txBody>
      </p:sp>
      <p:pic>
        <p:nvPicPr>
          <p:cNvPr id="7" name="Picture 6">
            <a:extLst>
              <a:ext uri="{FF2B5EF4-FFF2-40B4-BE49-F238E27FC236}">
                <a16:creationId xmlns:a16="http://schemas.microsoft.com/office/drawing/2014/main" id="{7A93C481-14D3-EC99-BF92-F581AA738393}"/>
              </a:ext>
            </a:extLst>
          </p:cNvPr>
          <p:cNvPicPr>
            <a:picLocks noChangeAspect="1"/>
          </p:cNvPicPr>
          <p:nvPr/>
        </p:nvPicPr>
        <p:blipFill>
          <a:blip r:embed="rId2"/>
          <a:stretch>
            <a:fillRect/>
          </a:stretch>
        </p:blipFill>
        <p:spPr>
          <a:xfrm>
            <a:off x="6027576" y="1175817"/>
            <a:ext cx="6111102" cy="4506365"/>
          </a:xfrm>
          <a:prstGeom prst="rect">
            <a:avLst/>
          </a:prstGeom>
        </p:spPr>
      </p:pic>
    </p:spTree>
    <p:extLst>
      <p:ext uri="{BB962C8B-B14F-4D97-AF65-F5344CB8AC3E}">
        <p14:creationId xmlns:p14="http://schemas.microsoft.com/office/powerpoint/2010/main" val="1260071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A2EE-6146-AACD-D608-87D3D07EC9C5}"/>
              </a:ext>
            </a:extLst>
          </p:cNvPr>
          <p:cNvSpPr>
            <a:spLocks noGrp="1"/>
          </p:cNvSpPr>
          <p:nvPr>
            <p:ph type="title"/>
          </p:nvPr>
        </p:nvSpPr>
        <p:spPr/>
        <p:txBody>
          <a:bodyPr/>
          <a:lstStyle/>
          <a:p>
            <a:r>
              <a:rPr lang="en-IN" dirty="0"/>
              <a:t>Agent Governance</a:t>
            </a:r>
          </a:p>
        </p:txBody>
      </p:sp>
      <p:sp>
        <p:nvSpPr>
          <p:cNvPr id="3" name="Text Placeholder 2">
            <a:extLst>
              <a:ext uri="{FF2B5EF4-FFF2-40B4-BE49-F238E27FC236}">
                <a16:creationId xmlns:a16="http://schemas.microsoft.com/office/drawing/2014/main" id="{AD827891-892B-BC6B-BC0F-33CF1F71A609}"/>
              </a:ext>
            </a:extLst>
          </p:cNvPr>
          <p:cNvSpPr>
            <a:spLocks noGrp="1"/>
          </p:cNvSpPr>
          <p:nvPr>
            <p:ph type="body" idx="1"/>
          </p:nvPr>
        </p:nvSpPr>
        <p:spPr/>
        <p:txBody>
          <a:bodyPr/>
          <a:lstStyle/>
          <a:p>
            <a:pPr>
              <a:spcAft>
                <a:spcPts val="1000"/>
              </a:spcAft>
            </a:pPr>
            <a:r>
              <a:rPr lang="en-US" dirty="0"/>
              <a:t>Agents without reflection can spiral into infinite loops.</a:t>
            </a:r>
          </a:p>
          <a:p>
            <a:pPr>
              <a:spcAft>
                <a:spcPts val="1000"/>
              </a:spcAft>
            </a:pPr>
            <a:r>
              <a:rPr lang="en-US" dirty="0"/>
              <a:t>Missing cost caps → uncontrolled API calls = real money.</a:t>
            </a:r>
          </a:p>
          <a:p>
            <a:pPr>
              <a:spcAft>
                <a:spcPts val="1000"/>
              </a:spcAft>
            </a:pPr>
            <a:r>
              <a:rPr lang="en-US" dirty="0"/>
              <a:t>Lack of observability → no idea why things went wrong.</a:t>
            </a:r>
          </a:p>
          <a:p>
            <a:pPr>
              <a:spcAft>
                <a:spcPts val="1000"/>
              </a:spcAft>
            </a:pPr>
            <a:r>
              <a:rPr lang="en-US" dirty="0"/>
              <a:t>No MCP validation → unsafe tool actions.</a:t>
            </a:r>
            <a:endParaRPr lang="en-IN" dirty="0"/>
          </a:p>
        </p:txBody>
      </p:sp>
    </p:spTree>
    <p:extLst>
      <p:ext uri="{BB962C8B-B14F-4D97-AF65-F5344CB8AC3E}">
        <p14:creationId xmlns:p14="http://schemas.microsoft.com/office/powerpoint/2010/main" val="2073922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26720" y="85344"/>
            <a:ext cx="10363200" cy="512064"/>
          </a:xfrm>
          <a:prstGeom prst="rect">
            <a:avLst/>
          </a:prstGeom>
          <a:noFill/>
          <a:ln/>
        </p:spPr>
        <p:txBody>
          <a:bodyPr wrap="square" lIns="0" tIns="0" rIns="0" bIns="0" rtlCol="0" anchor="ctr"/>
          <a:lstStyle/>
          <a:p>
            <a:r>
              <a:rPr lang="en-US" sz="3200" b="1" dirty="0">
                <a:latin typeface="Calibri" pitchFamily="34" charset="0"/>
                <a:ea typeface="Calibri" pitchFamily="34" charset="-122"/>
                <a:cs typeface="Calibri" pitchFamily="34" charset="-120"/>
              </a:rPr>
              <a:t>Observability &amp; Debugging — Seeing Inside Your Agent</a:t>
            </a:r>
            <a:endParaRPr lang="en-US" sz="3200" dirty="0"/>
          </a:p>
        </p:txBody>
      </p:sp>
      <p:sp>
        <p:nvSpPr>
          <p:cNvPr id="6" name="Text 4"/>
          <p:cNvSpPr/>
          <p:nvPr/>
        </p:nvSpPr>
        <p:spPr>
          <a:xfrm>
            <a:off x="402336" y="682752"/>
            <a:ext cx="5824168" cy="341376"/>
          </a:xfrm>
          <a:prstGeom prst="rect">
            <a:avLst/>
          </a:prstGeom>
          <a:noFill/>
          <a:ln/>
        </p:spPr>
        <p:txBody>
          <a:bodyPr wrap="square" rtlCol="0" anchor="ctr"/>
          <a:lstStyle/>
          <a:p>
            <a:r>
              <a:rPr lang="en-US" sz="1333" i="1" dirty="0">
                <a:solidFill>
                  <a:srgbClr val="6B7280"/>
                </a:solidFill>
                <a:latin typeface="Calibri" pitchFamily="34" charset="0"/>
                <a:ea typeface="Calibri" pitchFamily="34" charset="-122"/>
                <a:cs typeface="Calibri" pitchFamily="34" charset="-120"/>
              </a:rPr>
              <a:t>Multi-agent systems fail in subtle ways. Observability is how you find out why.</a:t>
            </a:r>
            <a:endParaRPr lang="en-US" sz="1333" dirty="0"/>
          </a:p>
        </p:txBody>
      </p:sp>
      <p:sp>
        <p:nvSpPr>
          <p:cNvPr id="7" name="Shape 5"/>
          <p:cNvSpPr/>
          <p:nvPr/>
        </p:nvSpPr>
        <p:spPr>
          <a:xfrm>
            <a:off x="365760" y="1170432"/>
            <a:ext cx="5242560" cy="1146048"/>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8" name="Shape 6"/>
          <p:cNvSpPr/>
          <p:nvPr/>
        </p:nvSpPr>
        <p:spPr>
          <a:xfrm>
            <a:off x="365760" y="1170432"/>
            <a:ext cx="73152" cy="1146048"/>
          </a:xfrm>
          <a:prstGeom prst="rect">
            <a:avLst/>
          </a:prstGeom>
          <a:solidFill>
            <a:srgbClr val="0F6CBD"/>
          </a:solidFill>
          <a:ln w="12700">
            <a:solidFill>
              <a:srgbClr val="0F6CBD"/>
            </a:solidFill>
            <a:prstDash val="solid"/>
          </a:ln>
        </p:spPr>
        <p:txBody>
          <a:bodyPr/>
          <a:lstStyle/>
          <a:p>
            <a:endParaRPr lang="en-IN" sz="2400"/>
          </a:p>
        </p:txBody>
      </p:sp>
      <p:sp>
        <p:nvSpPr>
          <p:cNvPr id="9" name="Text 7"/>
          <p:cNvSpPr/>
          <p:nvPr/>
        </p:nvSpPr>
        <p:spPr>
          <a:xfrm>
            <a:off x="560832" y="1219200"/>
            <a:ext cx="4754880" cy="268224"/>
          </a:xfrm>
          <a:prstGeom prst="rect">
            <a:avLst/>
          </a:prstGeom>
          <a:noFill/>
          <a:ln/>
        </p:spPr>
        <p:txBody>
          <a:bodyPr wrap="square" rtlCol="0" anchor="ctr"/>
          <a:lstStyle/>
          <a:p>
            <a:r>
              <a:rPr lang="en-US" sz="1467" b="1" dirty="0">
                <a:solidFill>
                  <a:srgbClr val="0F6CBD"/>
                </a:solidFill>
                <a:latin typeface="Calibri" pitchFamily="34" charset="0"/>
                <a:ea typeface="Calibri" pitchFamily="34" charset="-122"/>
                <a:cs typeface="Calibri" pitchFamily="34" charset="-120"/>
              </a:rPr>
              <a:t>LangSmith</a:t>
            </a:r>
            <a:endParaRPr lang="en-US" sz="1467" dirty="0"/>
          </a:p>
        </p:txBody>
      </p:sp>
      <p:sp>
        <p:nvSpPr>
          <p:cNvPr id="10" name="Text 8"/>
          <p:cNvSpPr/>
          <p:nvPr/>
        </p:nvSpPr>
        <p:spPr>
          <a:xfrm>
            <a:off x="560832" y="1487424"/>
            <a:ext cx="4815840" cy="731520"/>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Comprehensive tracing and evaluation for LLM apps. Full agent interaction logs, prompt diffs, token counts, and latency breakdowns per step.</a:t>
            </a:r>
            <a:endParaRPr lang="en-US" sz="1200" dirty="0"/>
          </a:p>
        </p:txBody>
      </p:sp>
      <p:sp>
        <p:nvSpPr>
          <p:cNvPr id="11" name="Shape 9"/>
          <p:cNvSpPr/>
          <p:nvPr/>
        </p:nvSpPr>
        <p:spPr>
          <a:xfrm>
            <a:off x="365760" y="2414016"/>
            <a:ext cx="5242560" cy="1146048"/>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12" name="Shape 10"/>
          <p:cNvSpPr/>
          <p:nvPr/>
        </p:nvSpPr>
        <p:spPr>
          <a:xfrm>
            <a:off x="365760" y="2414016"/>
            <a:ext cx="73152" cy="1146048"/>
          </a:xfrm>
          <a:prstGeom prst="rect">
            <a:avLst/>
          </a:prstGeom>
          <a:solidFill>
            <a:srgbClr val="00897B"/>
          </a:solidFill>
          <a:ln w="12700">
            <a:solidFill>
              <a:srgbClr val="00897B"/>
            </a:solidFill>
            <a:prstDash val="solid"/>
          </a:ln>
        </p:spPr>
        <p:txBody>
          <a:bodyPr/>
          <a:lstStyle/>
          <a:p>
            <a:endParaRPr lang="en-IN" sz="2400"/>
          </a:p>
        </p:txBody>
      </p:sp>
      <p:sp>
        <p:nvSpPr>
          <p:cNvPr id="13" name="Text 11"/>
          <p:cNvSpPr/>
          <p:nvPr/>
        </p:nvSpPr>
        <p:spPr>
          <a:xfrm>
            <a:off x="560832" y="2462784"/>
            <a:ext cx="4754880" cy="268224"/>
          </a:xfrm>
          <a:prstGeom prst="rect">
            <a:avLst/>
          </a:prstGeom>
          <a:noFill/>
          <a:ln/>
        </p:spPr>
        <p:txBody>
          <a:bodyPr wrap="square" rtlCol="0" anchor="ctr"/>
          <a:lstStyle/>
          <a:p>
            <a:r>
              <a:rPr lang="en-US" sz="1467" b="1" dirty="0">
                <a:solidFill>
                  <a:srgbClr val="00897B"/>
                </a:solidFill>
                <a:latin typeface="Calibri" pitchFamily="34" charset="0"/>
                <a:ea typeface="Calibri" pitchFamily="34" charset="-122"/>
                <a:cs typeface="Calibri" pitchFamily="34" charset="-120"/>
              </a:rPr>
              <a:t>LangFuse  (open-source)</a:t>
            </a:r>
            <a:endParaRPr lang="en-US" sz="1467" dirty="0"/>
          </a:p>
        </p:txBody>
      </p:sp>
      <p:sp>
        <p:nvSpPr>
          <p:cNvPr id="14" name="Text 12"/>
          <p:cNvSpPr/>
          <p:nvPr/>
        </p:nvSpPr>
        <p:spPr>
          <a:xfrm>
            <a:off x="560832" y="2731008"/>
            <a:ext cx="4815840" cy="731520"/>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Self-hostable observability with cost tracking and automated evaluations. Python/JS SDK — drop-in if you can't send data to external SaaS.</a:t>
            </a:r>
            <a:endParaRPr lang="en-US" sz="1200" dirty="0"/>
          </a:p>
        </p:txBody>
      </p:sp>
      <p:sp>
        <p:nvSpPr>
          <p:cNvPr id="15" name="Shape 13"/>
          <p:cNvSpPr/>
          <p:nvPr/>
        </p:nvSpPr>
        <p:spPr>
          <a:xfrm>
            <a:off x="365760" y="3657600"/>
            <a:ext cx="5242560" cy="877824"/>
          </a:xfrm>
          <a:prstGeom prst="rect">
            <a:avLst/>
          </a:prstGeom>
          <a:solidFill>
            <a:srgbClr val="EFF6FF"/>
          </a:solidFill>
          <a:ln w="12700">
            <a:solidFill>
              <a:srgbClr val="0F6CBD"/>
            </a:solidFill>
            <a:prstDash val="solid"/>
          </a:ln>
          <a:effectLst>
            <a:outerShdw blurRad="63500" dist="25400" dir="8100000" algn="bl" rotWithShape="0">
              <a:srgbClr val="000000">
                <a:alpha val="10000"/>
              </a:srgbClr>
            </a:outerShdw>
          </a:effectLst>
        </p:spPr>
        <p:txBody>
          <a:bodyPr/>
          <a:lstStyle/>
          <a:p>
            <a:endParaRPr lang="en-IN" sz="2400"/>
          </a:p>
        </p:txBody>
      </p:sp>
      <p:sp>
        <p:nvSpPr>
          <p:cNvPr id="16" name="Text 14"/>
          <p:cNvSpPr/>
          <p:nvPr/>
        </p:nvSpPr>
        <p:spPr>
          <a:xfrm>
            <a:off x="560832" y="3730752"/>
            <a:ext cx="4754880" cy="243840"/>
          </a:xfrm>
          <a:prstGeom prst="rect">
            <a:avLst/>
          </a:prstGeom>
          <a:noFill/>
          <a:ln/>
        </p:spPr>
        <p:txBody>
          <a:bodyPr wrap="square" rtlCol="0" anchor="ctr"/>
          <a:lstStyle/>
          <a:p>
            <a:r>
              <a:rPr lang="en-US" sz="1333" b="1" dirty="0">
                <a:solidFill>
                  <a:srgbClr val="0F6CBD"/>
                </a:solidFill>
                <a:latin typeface="Calibri" pitchFamily="34" charset="0"/>
                <a:ea typeface="Calibri" pitchFamily="34" charset="-122"/>
                <a:cs typeface="Calibri" pitchFamily="34" charset="-120"/>
              </a:rPr>
              <a:t>Azure Application Insights</a:t>
            </a:r>
            <a:endParaRPr lang="en-US" sz="1333" dirty="0"/>
          </a:p>
        </p:txBody>
      </p:sp>
      <p:sp>
        <p:nvSpPr>
          <p:cNvPr id="17" name="Text 15"/>
          <p:cNvSpPr/>
          <p:nvPr/>
        </p:nvSpPr>
        <p:spPr>
          <a:xfrm>
            <a:off x="560832" y="3998976"/>
            <a:ext cx="4815840" cy="438912"/>
          </a:xfrm>
          <a:prstGeom prst="rect">
            <a:avLst/>
          </a:prstGeom>
          <a:noFill/>
          <a:ln/>
        </p:spPr>
        <p:txBody>
          <a:bodyPr wrap="square" rtlCol="0" anchor="ctr"/>
          <a:lstStyle/>
          <a:p>
            <a:r>
              <a:rPr lang="en-US" sz="1133" dirty="0">
                <a:solidFill>
                  <a:srgbClr val="1E293B"/>
                </a:solidFill>
                <a:latin typeface="Calibri" pitchFamily="34" charset="0"/>
                <a:ea typeface="Calibri" pitchFamily="34" charset="-122"/>
                <a:cs typeface="Calibri" pitchFamily="34" charset="-120"/>
              </a:rPr>
              <a:t>For Microsoft-stack deployments — instrument agent loops with OpenTelemetry; traces flow into App Insights dashboards natively.</a:t>
            </a:r>
            <a:endParaRPr lang="en-US" sz="1133" dirty="0"/>
          </a:p>
        </p:txBody>
      </p:sp>
      <p:sp>
        <p:nvSpPr>
          <p:cNvPr id="18" name="Shape 16"/>
          <p:cNvSpPr/>
          <p:nvPr/>
        </p:nvSpPr>
        <p:spPr>
          <a:xfrm>
            <a:off x="365760" y="4657344"/>
            <a:ext cx="2621280" cy="755904"/>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19" name="Shape 17"/>
          <p:cNvSpPr/>
          <p:nvPr/>
        </p:nvSpPr>
        <p:spPr>
          <a:xfrm>
            <a:off x="365760" y="4657344"/>
            <a:ext cx="2621280" cy="73152"/>
          </a:xfrm>
          <a:prstGeom prst="rect">
            <a:avLst/>
          </a:prstGeom>
          <a:solidFill>
            <a:srgbClr val="0F6CBD"/>
          </a:solidFill>
          <a:ln w="12700">
            <a:solidFill>
              <a:srgbClr val="0F6CBD"/>
            </a:solidFill>
            <a:prstDash val="solid"/>
          </a:ln>
        </p:spPr>
        <p:txBody>
          <a:bodyPr/>
          <a:lstStyle/>
          <a:p>
            <a:endParaRPr lang="en-IN" sz="2400"/>
          </a:p>
        </p:txBody>
      </p:sp>
      <p:sp>
        <p:nvSpPr>
          <p:cNvPr id="20" name="Text 18"/>
          <p:cNvSpPr/>
          <p:nvPr/>
        </p:nvSpPr>
        <p:spPr>
          <a:xfrm>
            <a:off x="463296" y="4767072"/>
            <a:ext cx="2414016" cy="243840"/>
          </a:xfrm>
          <a:prstGeom prst="rect">
            <a:avLst/>
          </a:prstGeom>
          <a:noFill/>
          <a:ln/>
        </p:spPr>
        <p:txBody>
          <a:bodyPr wrap="square" rtlCol="0" anchor="ctr"/>
          <a:lstStyle/>
          <a:p>
            <a:r>
              <a:rPr lang="en-US" sz="1200" b="1" dirty="0">
                <a:solidFill>
                  <a:srgbClr val="0F6CBD"/>
                </a:solidFill>
                <a:latin typeface="Calibri" pitchFamily="34" charset="0"/>
                <a:ea typeface="Calibri" pitchFamily="34" charset="-122"/>
                <a:cs typeface="Calibri" pitchFamily="34" charset="-120"/>
              </a:rPr>
              <a:t>Trace Multi-Agent Runs</a:t>
            </a:r>
            <a:endParaRPr lang="en-US" sz="1200" dirty="0"/>
          </a:p>
        </p:txBody>
      </p:sp>
      <p:sp>
        <p:nvSpPr>
          <p:cNvPr id="21" name="Text 19"/>
          <p:cNvSpPr/>
          <p:nvPr/>
        </p:nvSpPr>
        <p:spPr>
          <a:xfrm>
            <a:off x="463296" y="5023104"/>
            <a:ext cx="2414016" cy="316992"/>
          </a:xfrm>
          <a:prstGeom prst="rect">
            <a:avLst/>
          </a:prstGeom>
          <a:noFill/>
          <a:ln/>
        </p:spPr>
        <p:txBody>
          <a:bodyPr wrap="square" rtlCol="0" anchor="ctr"/>
          <a:lstStyle/>
          <a:p>
            <a:r>
              <a:rPr lang="en-US" sz="1067" dirty="0">
                <a:solidFill>
                  <a:srgbClr val="1E293B"/>
                </a:solidFill>
                <a:latin typeface="Calibri" pitchFamily="34" charset="0"/>
                <a:ea typeface="Calibri" pitchFamily="34" charset="-122"/>
                <a:cs typeface="Calibri" pitchFamily="34" charset="-120"/>
              </a:rPr>
              <a:t>Visualize full interaction graphs</a:t>
            </a:r>
            <a:endParaRPr lang="en-US" sz="1067" dirty="0"/>
          </a:p>
        </p:txBody>
      </p:sp>
      <p:sp>
        <p:nvSpPr>
          <p:cNvPr id="22" name="Shape 20"/>
          <p:cNvSpPr/>
          <p:nvPr/>
        </p:nvSpPr>
        <p:spPr>
          <a:xfrm>
            <a:off x="3108960" y="4657344"/>
            <a:ext cx="2621280" cy="755904"/>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23" name="Shape 21"/>
          <p:cNvSpPr/>
          <p:nvPr/>
        </p:nvSpPr>
        <p:spPr>
          <a:xfrm>
            <a:off x="3108960" y="4657344"/>
            <a:ext cx="2621280" cy="73152"/>
          </a:xfrm>
          <a:prstGeom prst="rect">
            <a:avLst/>
          </a:prstGeom>
          <a:solidFill>
            <a:srgbClr val="00897B"/>
          </a:solidFill>
          <a:ln w="12700">
            <a:solidFill>
              <a:srgbClr val="00897B"/>
            </a:solidFill>
            <a:prstDash val="solid"/>
          </a:ln>
        </p:spPr>
        <p:txBody>
          <a:bodyPr/>
          <a:lstStyle/>
          <a:p>
            <a:endParaRPr lang="en-IN" sz="2400"/>
          </a:p>
        </p:txBody>
      </p:sp>
      <p:sp>
        <p:nvSpPr>
          <p:cNvPr id="24" name="Text 22"/>
          <p:cNvSpPr/>
          <p:nvPr/>
        </p:nvSpPr>
        <p:spPr>
          <a:xfrm>
            <a:off x="3206496" y="4767072"/>
            <a:ext cx="2414016" cy="243840"/>
          </a:xfrm>
          <a:prstGeom prst="rect">
            <a:avLst/>
          </a:prstGeom>
          <a:noFill/>
          <a:ln/>
        </p:spPr>
        <p:txBody>
          <a:bodyPr wrap="square" rtlCol="0" anchor="ctr"/>
          <a:lstStyle/>
          <a:p>
            <a:r>
              <a:rPr lang="en-US" sz="1200" b="1" dirty="0">
                <a:solidFill>
                  <a:srgbClr val="00897B"/>
                </a:solidFill>
                <a:latin typeface="Calibri" pitchFamily="34" charset="0"/>
                <a:ea typeface="Calibri" pitchFamily="34" charset="-122"/>
                <a:cs typeface="Calibri" pitchFamily="34" charset="-120"/>
              </a:rPr>
              <a:t>Debug Transitions</a:t>
            </a:r>
            <a:endParaRPr lang="en-US" sz="1200" dirty="0"/>
          </a:p>
        </p:txBody>
      </p:sp>
      <p:sp>
        <p:nvSpPr>
          <p:cNvPr id="25" name="Text 23"/>
          <p:cNvSpPr/>
          <p:nvPr/>
        </p:nvSpPr>
        <p:spPr>
          <a:xfrm>
            <a:off x="3206496" y="5023104"/>
            <a:ext cx="2414016" cy="316992"/>
          </a:xfrm>
          <a:prstGeom prst="rect">
            <a:avLst/>
          </a:prstGeom>
          <a:noFill/>
          <a:ln/>
        </p:spPr>
        <p:txBody>
          <a:bodyPr wrap="square" rtlCol="0" anchor="ctr"/>
          <a:lstStyle/>
          <a:p>
            <a:r>
              <a:rPr lang="en-US" sz="1067" dirty="0">
                <a:solidFill>
                  <a:srgbClr val="1E293B"/>
                </a:solidFill>
                <a:latin typeface="Calibri" pitchFamily="34" charset="0"/>
                <a:ea typeface="Calibri" pitchFamily="34" charset="-122"/>
                <a:cs typeface="Calibri" pitchFamily="34" charset="-120"/>
              </a:rPr>
              <a:t>Find where handoffs break down</a:t>
            </a:r>
            <a:endParaRPr lang="en-US" sz="1067" dirty="0"/>
          </a:p>
        </p:txBody>
      </p:sp>
      <p:sp>
        <p:nvSpPr>
          <p:cNvPr id="26" name="Shape 24"/>
          <p:cNvSpPr/>
          <p:nvPr/>
        </p:nvSpPr>
        <p:spPr>
          <a:xfrm>
            <a:off x="365760" y="5535168"/>
            <a:ext cx="2621280" cy="755904"/>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27" name="Shape 25"/>
          <p:cNvSpPr/>
          <p:nvPr/>
        </p:nvSpPr>
        <p:spPr>
          <a:xfrm>
            <a:off x="365760" y="5535168"/>
            <a:ext cx="2621280" cy="73152"/>
          </a:xfrm>
          <a:prstGeom prst="rect">
            <a:avLst/>
          </a:prstGeom>
          <a:solidFill>
            <a:srgbClr val="2D3561"/>
          </a:solidFill>
          <a:ln w="12700">
            <a:solidFill>
              <a:srgbClr val="2D3561"/>
            </a:solidFill>
            <a:prstDash val="solid"/>
          </a:ln>
        </p:spPr>
        <p:txBody>
          <a:bodyPr/>
          <a:lstStyle/>
          <a:p>
            <a:endParaRPr lang="en-IN" sz="2400"/>
          </a:p>
        </p:txBody>
      </p:sp>
      <p:sp>
        <p:nvSpPr>
          <p:cNvPr id="28" name="Text 26"/>
          <p:cNvSpPr/>
          <p:nvPr/>
        </p:nvSpPr>
        <p:spPr>
          <a:xfrm>
            <a:off x="463296" y="5644896"/>
            <a:ext cx="2414016" cy="243840"/>
          </a:xfrm>
          <a:prstGeom prst="rect">
            <a:avLst/>
          </a:prstGeom>
          <a:noFill/>
          <a:ln/>
        </p:spPr>
        <p:txBody>
          <a:bodyPr wrap="square" rtlCol="0" anchor="ctr"/>
          <a:lstStyle/>
          <a:p>
            <a:r>
              <a:rPr lang="en-US" sz="1200" b="1" dirty="0">
                <a:solidFill>
                  <a:srgbClr val="2D3561"/>
                </a:solidFill>
                <a:latin typeface="Calibri" pitchFamily="34" charset="0"/>
                <a:ea typeface="Calibri" pitchFamily="34" charset="-122"/>
                <a:cs typeface="Calibri" pitchFamily="34" charset="-120"/>
              </a:rPr>
              <a:t>Performance Analytics</a:t>
            </a:r>
            <a:endParaRPr lang="en-US" sz="1200" dirty="0"/>
          </a:p>
        </p:txBody>
      </p:sp>
      <p:sp>
        <p:nvSpPr>
          <p:cNvPr id="29" name="Text 27"/>
          <p:cNvSpPr/>
          <p:nvPr/>
        </p:nvSpPr>
        <p:spPr>
          <a:xfrm>
            <a:off x="463296" y="5900928"/>
            <a:ext cx="2414016" cy="316992"/>
          </a:xfrm>
          <a:prstGeom prst="rect">
            <a:avLst/>
          </a:prstGeom>
          <a:noFill/>
          <a:ln/>
        </p:spPr>
        <p:txBody>
          <a:bodyPr wrap="square" rtlCol="0" anchor="ctr"/>
          <a:lstStyle/>
          <a:p>
            <a:r>
              <a:rPr lang="en-US" sz="1067" dirty="0">
                <a:solidFill>
                  <a:srgbClr val="1E293B"/>
                </a:solidFill>
                <a:latin typeface="Calibri" pitchFamily="34" charset="0"/>
                <a:ea typeface="Calibri" pitchFamily="34" charset="-122"/>
                <a:cs typeface="Calibri" pitchFamily="34" charset="-120"/>
              </a:rPr>
              <a:t>Track latency &amp; cost per step</a:t>
            </a:r>
            <a:endParaRPr lang="en-US" sz="1067" dirty="0"/>
          </a:p>
        </p:txBody>
      </p:sp>
      <p:sp>
        <p:nvSpPr>
          <p:cNvPr id="30" name="Shape 28"/>
          <p:cNvSpPr/>
          <p:nvPr/>
        </p:nvSpPr>
        <p:spPr>
          <a:xfrm>
            <a:off x="3108960" y="5535168"/>
            <a:ext cx="2621280" cy="755904"/>
          </a:xfrm>
          <a:prstGeom prst="rect">
            <a:avLst/>
          </a:prstGeom>
          <a:solidFill>
            <a:srgbClr val="FFFFFF"/>
          </a:solidFill>
          <a:ln w="12700">
            <a:solidFill>
              <a:srgbClr val="D0D8E8"/>
            </a:solidFill>
            <a:prstDash val="solid"/>
          </a:ln>
          <a:effectLst>
            <a:outerShdw blurRad="63500" dist="25400" dir="8100000" algn="bl" rotWithShape="0">
              <a:srgbClr val="000000">
                <a:alpha val="10000"/>
              </a:srgbClr>
            </a:outerShdw>
          </a:effectLst>
        </p:spPr>
        <p:txBody>
          <a:bodyPr/>
          <a:lstStyle/>
          <a:p>
            <a:endParaRPr lang="en-IN" sz="2400"/>
          </a:p>
        </p:txBody>
      </p:sp>
      <p:sp>
        <p:nvSpPr>
          <p:cNvPr id="31" name="Shape 29"/>
          <p:cNvSpPr/>
          <p:nvPr/>
        </p:nvSpPr>
        <p:spPr>
          <a:xfrm>
            <a:off x="3108960" y="5535168"/>
            <a:ext cx="2621280" cy="73152"/>
          </a:xfrm>
          <a:prstGeom prst="rect">
            <a:avLst/>
          </a:prstGeom>
          <a:solidFill>
            <a:srgbClr val="7B5EA7"/>
          </a:solidFill>
          <a:ln w="12700">
            <a:solidFill>
              <a:srgbClr val="7B5EA7"/>
            </a:solidFill>
            <a:prstDash val="solid"/>
          </a:ln>
        </p:spPr>
        <p:txBody>
          <a:bodyPr/>
          <a:lstStyle/>
          <a:p>
            <a:endParaRPr lang="en-IN" sz="2400"/>
          </a:p>
        </p:txBody>
      </p:sp>
      <p:sp>
        <p:nvSpPr>
          <p:cNvPr id="32" name="Text 30"/>
          <p:cNvSpPr/>
          <p:nvPr/>
        </p:nvSpPr>
        <p:spPr>
          <a:xfrm>
            <a:off x="3206496" y="5644896"/>
            <a:ext cx="2414016" cy="243840"/>
          </a:xfrm>
          <a:prstGeom prst="rect">
            <a:avLst/>
          </a:prstGeom>
          <a:noFill/>
          <a:ln/>
        </p:spPr>
        <p:txBody>
          <a:bodyPr wrap="square" rtlCol="0" anchor="ctr"/>
          <a:lstStyle/>
          <a:p>
            <a:r>
              <a:rPr lang="en-US" sz="1200" b="1" dirty="0">
                <a:solidFill>
                  <a:srgbClr val="7B5EA7"/>
                </a:solidFill>
                <a:latin typeface="Calibri" pitchFamily="34" charset="0"/>
                <a:ea typeface="Calibri" pitchFamily="34" charset="-122"/>
                <a:cs typeface="Calibri" pitchFamily="34" charset="-120"/>
              </a:rPr>
              <a:t>Compare Strategies</a:t>
            </a:r>
            <a:endParaRPr lang="en-US" sz="1200" dirty="0"/>
          </a:p>
        </p:txBody>
      </p:sp>
      <p:sp>
        <p:nvSpPr>
          <p:cNvPr id="33" name="Text 31"/>
          <p:cNvSpPr/>
          <p:nvPr/>
        </p:nvSpPr>
        <p:spPr>
          <a:xfrm>
            <a:off x="3206496" y="5900928"/>
            <a:ext cx="2414016" cy="316992"/>
          </a:xfrm>
          <a:prstGeom prst="rect">
            <a:avLst/>
          </a:prstGeom>
          <a:noFill/>
          <a:ln/>
        </p:spPr>
        <p:txBody>
          <a:bodyPr wrap="square" rtlCol="0" anchor="ctr"/>
          <a:lstStyle/>
          <a:p>
            <a:r>
              <a:rPr lang="en-US" sz="1067" dirty="0">
                <a:solidFill>
                  <a:srgbClr val="1E293B"/>
                </a:solidFill>
                <a:latin typeface="Calibri" pitchFamily="34" charset="0"/>
                <a:ea typeface="Calibri" pitchFamily="34" charset="-122"/>
                <a:cs typeface="Calibri" pitchFamily="34" charset="-120"/>
              </a:rPr>
              <a:t>A/B test orchestration patterns</a:t>
            </a:r>
            <a:endParaRPr lang="en-US" sz="1067" dirty="0"/>
          </a:p>
        </p:txBody>
      </p:sp>
      <p:sp>
        <p:nvSpPr>
          <p:cNvPr id="40" name="Text 38"/>
          <p:cNvSpPr/>
          <p:nvPr/>
        </p:nvSpPr>
        <p:spPr>
          <a:xfrm>
            <a:off x="9899904" y="1584960"/>
            <a:ext cx="1828800" cy="341376"/>
          </a:xfrm>
          <a:prstGeom prst="rect">
            <a:avLst/>
          </a:prstGeom>
          <a:noFill/>
          <a:ln/>
        </p:spPr>
        <p:txBody>
          <a:bodyPr wrap="square" rtlCol="0" anchor="ctr"/>
          <a:lstStyle/>
          <a:p>
            <a:pPr algn="ctr"/>
            <a:r>
              <a:rPr lang="en-US" sz="1867" b="1" dirty="0">
                <a:solidFill>
                  <a:srgbClr val="00897B"/>
                </a:solidFill>
                <a:latin typeface="Calibri" pitchFamily="34" charset="0"/>
                <a:ea typeface="Calibri" pitchFamily="34" charset="-122"/>
                <a:cs typeface="Calibri" pitchFamily="34" charset="-120"/>
              </a:rPr>
              <a:t>$0.032</a:t>
            </a:r>
            <a:endParaRPr lang="en-US" sz="1867" dirty="0"/>
          </a:p>
        </p:txBody>
      </p:sp>
      <p:sp>
        <p:nvSpPr>
          <p:cNvPr id="41" name="Text 39"/>
          <p:cNvSpPr/>
          <p:nvPr/>
        </p:nvSpPr>
        <p:spPr>
          <a:xfrm>
            <a:off x="9899904" y="1926336"/>
            <a:ext cx="1828800" cy="195072"/>
          </a:xfrm>
          <a:prstGeom prst="rect">
            <a:avLst/>
          </a:prstGeom>
          <a:noFill/>
          <a:ln/>
        </p:spPr>
        <p:txBody>
          <a:bodyPr wrap="square" rtlCol="0" anchor="ctr"/>
          <a:lstStyle/>
          <a:p>
            <a:pPr algn="ctr"/>
            <a:r>
              <a:rPr lang="en-US" sz="867" dirty="0">
                <a:solidFill>
                  <a:srgbClr val="6B7280"/>
                </a:solidFill>
                <a:latin typeface="Calibri" pitchFamily="34" charset="0"/>
                <a:ea typeface="Calibri" pitchFamily="34" charset="-122"/>
                <a:cs typeface="Calibri" pitchFamily="34" charset="-120"/>
              </a:rPr>
              <a:t>Cost Per Run</a:t>
            </a:r>
            <a:endParaRPr lang="en-US" sz="867" dirty="0"/>
          </a:p>
        </p:txBody>
      </p:sp>
      <p:grpSp>
        <p:nvGrpSpPr>
          <p:cNvPr id="62" name="Group 61">
            <a:extLst>
              <a:ext uri="{FF2B5EF4-FFF2-40B4-BE49-F238E27FC236}">
                <a16:creationId xmlns:a16="http://schemas.microsoft.com/office/drawing/2014/main" id="{46AB2DDC-394A-B0E1-9681-72E5A692B7C5}"/>
              </a:ext>
            </a:extLst>
          </p:cNvPr>
          <p:cNvGrpSpPr/>
          <p:nvPr/>
        </p:nvGrpSpPr>
        <p:grpSpPr>
          <a:xfrm>
            <a:off x="5944097" y="1487424"/>
            <a:ext cx="5998464" cy="4218432"/>
            <a:chOff x="5766816" y="963168"/>
            <a:chExt cx="5998464" cy="4218432"/>
          </a:xfrm>
        </p:grpSpPr>
        <p:sp>
          <p:nvSpPr>
            <p:cNvPr id="34" name="Shape 32"/>
            <p:cNvSpPr/>
            <p:nvPr/>
          </p:nvSpPr>
          <p:spPr>
            <a:xfrm>
              <a:off x="5766816" y="963168"/>
              <a:ext cx="5998464" cy="4218432"/>
            </a:xfrm>
            <a:prstGeom prst="rect">
              <a:avLst/>
            </a:prstGeom>
            <a:solidFill>
              <a:srgbClr val="1E293B"/>
            </a:solidFill>
            <a:ln w="12700">
              <a:solidFill>
                <a:srgbClr val="374151"/>
              </a:solidFill>
              <a:prstDash val="solid"/>
            </a:ln>
            <a:effectLst>
              <a:outerShdw blurRad="63500" dist="25400" dir="8100000" algn="bl" rotWithShape="0">
                <a:srgbClr val="000000">
                  <a:alpha val="10000"/>
                </a:srgbClr>
              </a:outerShdw>
            </a:effectLst>
          </p:spPr>
          <p:txBody>
            <a:bodyPr/>
            <a:lstStyle/>
            <a:p>
              <a:endParaRPr lang="en-IN" sz="2400"/>
            </a:p>
          </p:txBody>
        </p:sp>
        <p:grpSp>
          <p:nvGrpSpPr>
            <p:cNvPr id="61" name="Group 60">
              <a:extLst>
                <a:ext uri="{FF2B5EF4-FFF2-40B4-BE49-F238E27FC236}">
                  <a16:creationId xmlns:a16="http://schemas.microsoft.com/office/drawing/2014/main" id="{5B2D082D-5989-B8E8-7EEB-F7E955EC64A0}"/>
                </a:ext>
              </a:extLst>
            </p:cNvPr>
            <p:cNvGrpSpPr/>
            <p:nvPr/>
          </p:nvGrpSpPr>
          <p:grpSpPr>
            <a:xfrm>
              <a:off x="5998464" y="1243584"/>
              <a:ext cx="5608320" cy="2292096"/>
              <a:chOff x="5998464" y="1243584"/>
              <a:chExt cx="5608320" cy="2292096"/>
            </a:xfrm>
          </p:grpSpPr>
          <p:sp>
            <p:nvSpPr>
              <p:cNvPr id="35" name="Text 33"/>
              <p:cNvSpPr/>
              <p:nvPr/>
            </p:nvSpPr>
            <p:spPr>
              <a:xfrm>
                <a:off x="5998464" y="1243584"/>
                <a:ext cx="5608320" cy="292608"/>
              </a:xfrm>
              <a:prstGeom prst="rect">
                <a:avLst/>
              </a:prstGeom>
              <a:noFill/>
              <a:ln/>
            </p:spPr>
            <p:txBody>
              <a:bodyPr wrap="square" rtlCol="0" anchor="ctr"/>
              <a:lstStyle/>
              <a:p>
                <a:r>
                  <a:rPr lang="en-US" sz="1333" b="1" dirty="0">
                    <a:solidFill>
                      <a:srgbClr val="FFFFFF"/>
                    </a:solidFill>
                    <a:latin typeface="Calibri" pitchFamily="34" charset="0"/>
                    <a:ea typeface="Calibri" pitchFamily="34" charset="-122"/>
                    <a:cs typeface="Calibri" pitchFamily="34" charset="-120"/>
                  </a:rPr>
                  <a:t>Agent Orchestration Monitor</a:t>
                </a:r>
                <a:endParaRPr lang="en-US" sz="1333" dirty="0"/>
              </a:p>
            </p:txBody>
          </p:sp>
          <p:sp>
            <p:nvSpPr>
              <p:cNvPr id="36" name="Text 34"/>
              <p:cNvSpPr/>
              <p:nvPr/>
            </p:nvSpPr>
            <p:spPr>
              <a:xfrm>
                <a:off x="5998464" y="1584960"/>
                <a:ext cx="1828800" cy="341376"/>
              </a:xfrm>
              <a:prstGeom prst="rect">
                <a:avLst/>
              </a:prstGeom>
              <a:noFill/>
              <a:ln/>
            </p:spPr>
            <p:txBody>
              <a:bodyPr wrap="square" rtlCol="0" anchor="ctr"/>
              <a:lstStyle/>
              <a:p>
                <a:pPr algn="ctr"/>
                <a:r>
                  <a:rPr lang="en-US" sz="1867" b="1" dirty="0">
                    <a:solidFill>
                      <a:srgbClr val="00897B"/>
                    </a:solidFill>
                    <a:latin typeface="Calibri" pitchFamily="34" charset="0"/>
                    <a:ea typeface="Calibri" pitchFamily="34" charset="-122"/>
                    <a:cs typeface="Calibri" pitchFamily="34" charset="-120"/>
                  </a:rPr>
                  <a:t>98.2%</a:t>
                </a:r>
                <a:endParaRPr lang="en-US" sz="1867" dirty="0"/>
              </a:p>
            </p:txBody>
          </p:sp>
          <p:sp>
            <p:nvSpPr>
              <p:cNvPr id="37" name="Text 35"/>
              <p:cNvSpPr/>
              <p:nvPr/>
            </p:nvSpPr>
            <p:spPr>
              <a:xfrm>
                <a:off x="5998464" y="1926336"/>
                <a:ext cx="1828800" cy="195072"/>
              </a:xfrm>
              <a:prstGeom prst="rect">
                <a:avLst/>
              </a:prstGeom>
              <a:noFill/>
              <a:ln/>
            </p:spPr>
            <p:txBody>
              <a:bodyPr wrap="square" rtlCol="0" anchor="ctr"/>
              <a:lstStyle/>
              <a:p>
                <a:pPr algn="ctr"/>
                <a:r>
                  <a:rPr lang="en-US" sz="867" dirty="0">
                    <a:solidFill>
                      <a:srgbClr val="6B7280"/>
                    </a:solidFill>
                    <a:latin typeface="Calibri" pitchFamily="34" charset="0"/>
                    <a:ea typeface="Calibri" pitchFamily="34" charset="-122"/>
                    <a:cs typeface="Calibri" pitchFamily="34" charset="-120"/>
                  </a:rPr>
                  <a:t>Successful Handoffs</a:t>
                </a:r>
                <a:endParaRPr lang="en-US" sz="867" dirty="0"/>
              </a:p>
            </p:txBody>
          </p:sp>
          <p:sp>
            <p:nvSpPr>
              <p:cNvPr id="38" name="Text 36"/>
              <p:cNvSpPr/>
              <p:nvPr/>
            </p:nvSpPr>
            <p:spPr>
              <a:xfrm>
                <a:off x="7949184" y="1584960"/>
                <a:ext cx="1828800" cy="341376"/>
              </a:xfrm>
              <a:prstGeom prst="rect">
                <a:avLst/>
              </a:prstGeom>
              <a:noFill/>
              <a:ln/>
            </p:spPr>
            <p:txBody>
              <a:bodyPr wrap="square" rtlCol="0" anchor="ctr"/>
              <a:lstStyle/>
              <a:p>
                <a:pPr algn="ctr"/>
                <a:r>
                  <a:rPr lang="en-US" sz="1867" b="1" dirty="0">
                    <a:solidFill>
                      <a:srgbClr val="00897B"/>
                    </a:solidFill>
                    <a:latin typeface="Calibri" pitchFamily="34" charset="0"/>
                    <a:ea typeface="Calibri" pitchFamily="34" charset="-122"/>
                    <a:cs typeface="Calibri" pitchFamily="34" charset="-120"/>
                  </a:rPr>
                  <a:t>1.2s</a:t>
                </a:r>
                <a:endParaRPr lang="en-US" sz="1867" dirty="0"/>
              </a:p>
            </p:txBody>
          </p:sp>
          <p:sp>
            <p:nvSpPr>
              <p:cNvPr id="39" name="Text 37"/>
              <p:cNvSpPr/>
              <p:nvPr/>
            </p:nvSpPr>
            <p:spPr>
              <a:xfrm>
                <a:off x="7949184" y="1926336"/>
                <a:ext cx="1828800" cy="195072"/>
              </a:xfrm>
              <a:prstGeom prst="rect">
                <a:avLst/>
              </a:prstGeom>
              <a:noFill/>
              <a:ln/>
            </p:spPr>
            <p:txBody>
              <a:bodyPr wrap="square" rtlCol="0" anchor="ctr"/>
              <a:lstStyle/>
              <a:p>
                <a:pPr algn="ctr"/>
                <a:r>
                  <a:rPr lang="en-US" sz="867" dirty="0">
                    <a:solidFill>
                      <a:srgbClr val="6B7280"/>
                    </a:solidFill>
                    <a:latin typeface="Calibri" pitchFamily="34" charset="0"/>
                    <a:ea typeface="Calibri" pitchFamily="34" charset="-122"/>
                    <a:cs typeface="Calibri" pitchFamily="34" charset="-120"/>
                  </a:rPr>
                  <a:t>Avg. Response Time</a:t>
                </a:r>
                <a:endParaRPr lang="en-US" sz="867" dirty="0"/>
              </a:p>
            </p:txBody>
          </p:sp>
          <p:sp>
            <p:nvSpPr>
              <p:cNvPr id="42" name="Shape 40"/>
              <p:cNvSpPr/>
              <p:nvPr/>
            </p:nvSpPr>
            <p:spPr>
              <a:xfrm>
                <a:off x="5998464" y="2194560"/>
                <a:ext cx="5608320" cy="0"/>
              </a:xfrm>
              <a:prstGeom prst="line">
                <a:avLst/>
              </a:prstGeom>
              <a:noFill/>
              <a:ln w="9525">
                <a:solidFill>
                  <a:srgbClr val="374151"/>
                </a:solidFill>
                <a:prstDash val="solid"/>
              </a:ln>
            </p:spPr>
            <p:txBody>
              <a:bodyPr/>
              <a:lstStyle/>
              <a:p>
                <a:endParaRPr lang="en-IN" sz="2400"/>
              </a:p>
            </p:txBody>
          </p:sp>
          <p:sp>
            <p:nvSpPr>
              <p:cNvPr id="43" name="Shape 41"/>
              <p:cNvSpPr/>
              <p:nvPr/>
            </p:nvSpPr>
            <p:spPr>
              <a:xfrm>
                <a:off x="5998464" y="2389632"/>
                <a:ext cx="158496" cy="158496"/>
              </a:xfrm>
              <a:prstGeom prst="ellipse">
                <a:avLst/>
              </a:prstGeom>
              <a:solidFill>
                <a:srgbClr val="00897B"/>
              </a:solidFill>
              <a:ln w="12700">
                <a:solidFill>
                  <a:srgbClr val="00897B"/>
                </a:solidFill>
                <a:prstDash val="solid"/>
              </a:ln>
            </p:spPr>
            <p:txBody>
              <a:bodyPr/>
              <a:lstStyle/>
              <a:p>
                <a:endParaRPr lang="en-IN" sz="2400"/>
              </a:p>
            </p:txBody>
          </p:sp>
          <p:sp>
            <p:nvSpPr>
              <p:cNvPr id="44" name="Text 42"/>
              <p:cNvSpPr/>
              <p:nvPr/>
            </p:nvSpPr>
            <p:spPr>
              <a:xfrm>
                <a:off x="6217920" y="2316480"/>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Orchestrator</a:t>
                </a:r>
                <a:endParaRPr lang="en-US" sz="1067" dirty="0"/>
              </a:p>
            </p:txBody>
          </p:sp>
          <p:sp>
            <p:nvSpPr>
              <p:cNvPr id="45" name="Text 43"/>
              <p:cNvSpPr/>
              <p:nvPr/>
            </p:nvSpPr>
            <p:spPr>
              <a:xfrm>
                <a:off x="6217920" y="2511552"/>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Planning task sequence</a:t>
                </a:r>
                <a:endParaRPr lang="en-US" sz="933" dirty="0"/>
              </a:p>
            </p:txBody>
          </p:sp>
          <p:sp>
            <p:nvSpPr>
              <p:cNvPr id="46" name="Shape 44"/>
              <p:cNvSpPr/>
              <p:nvPr/>
            </p:nvSpPr>
            <p:spPr>
              <a:xfrm>
                <a:off x="5998464" y="2804160"/>
                <a:ext cx="158496" cy="158496"/>
              </a:xfrm>
              <a:prstGeom prst="ellipse">
                <a:avLst/>
              </a:prstGeom>
              <a:solidFill>
                <a:srgbClr val="00897B"/>
              </a:solidFill>
              <a:ln w="12700">
                <a:solidFill>
                  <a:srgbClr val="00897B"/>
                </a:solidFill>
                <a:prstDash val="solid"/>
              </a:ln>
            </p:spPr>
            <p:txBody>
              <a:bodyPr/>
              <a:lstStyle/>
              <a:p>
                <a:endParaRPr lang="en-IN" sz="2400"/>
              </a:p>
            </p:txBody>
          </p:sp>
          <p:sp>
            <p:nvSpPr>
              <p:cNvPr id="47" name="Text 45"/>
              <p:cNvSpPr/>
              <p:nvPr/>
            </p:nvSpPr>
            <p:spPr>
              <a:xfrm>
                <a:off x="6217920" y="2731008"/>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Data Agent</a:t>
                </a:r>
                <a:endParaRPr lang="en-US" sz="1067" dirty="0"/>
              </a:p>
            </p:txBody>
          </p:sp>
          <p:sp>
            <p:nvSpPr>
              <p:cNvPr id="48" name="Text 46"/>
              <p:cNvSpPr/>
              <p:nvPr/>
            </p:nvSpPr>
            <p:spPr>
              <a:xfrm>
                <a:off x="6217920" y="2926080"/>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Retrieved customer profile</a:t>
                </a:r>
                <a:endParaRPr lang="en-US" sz="933" dirty="0"/>
              </a:p>
            </p:txBody>
          </p:sp>
          <p:sp>
            <p:nvSpPr>
              <p:cNvPr id="49" name="Shape 47"/>
              <p:cNvSpPr/>
              <p:nvPr/>
            </p:nvSpPr>
            <p:spPr>
              <a:xfrm>
                <a:off x="5998464" y="3218688"/>
                <a:ext cx="158496" cy="158496"/>
              </a:xfrm>
              <a:prstGeom prst="ellipse">
                <a:avLst/>
              </a:prstGeom>
              <a:solidFill>
                <a:srgbClr val="00897B"/>
              </a:solidFill>
              <a:ln w="12700">
                <a:solidFill>
                  <a:srgbClr val="00897B"/>
                </a:solidFill>
                <a:prstDash val="solid"/>
              </a:ln>
            </p:spPr>
            <p:txBody>
              <a:bodyPr/>
              <a:lstStyle/>
              <a:p>
                <a:endParaRPr lang="en-IN" sz="2400"/>
              </a:p>
            </p:txBody>
          </p:sp>
          <p:sp>
            <p:nvSpPr>
              <p:cNvPr id="50" name="Text 48"/>
              <p:cNvSpPr/>
              <p:nvPr/>
            </p:nvSpPr>
            <p:spPr>
              <a:xfrm>
                <a:off x="6217920" y="3145536"/>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Analytics</a:t>
                </a:r>
                <a:endParaRPr lang="en-US" sz="1067" dirty="0"/>
              </a:p>
            </p:txBody>
          </p:sp>
          <p:sp>
            <p:nvSpPr>
              <p:cNvPr id="51" name="Text 49"/>
              <p:cNvSpPr/>
              <p:nvPr/>
            </p:nvSpPr>
            <p:spPr>
              <a:xfrm>
                <a:off x="6217920" y="3340608"/>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Processed historical data</a:t>
                </a:r>
                <a:endParaRPr lang="en-US" sz="933" dirty="0"/>
              </a:p>
            </p:txBody>
          </p:sp>
          <p:sp>
            <p:nvSpPr>
              <p:cNvPr id="52" name="Shape 50"/>
              <p:cNvSpPr/>
              <p:nvPr/>
            </p:nvSpPr>
            <p:spPr>
              <a:xfrm>
                <a:off x="8802624" y="2389632"/>
                <a:ext cx="158496" cy="158496"/>
              </a:xfrm>
              <a:prstGeom prst="ellipse">
                <a:avLst/>
              </a:prstGeom>
              <a:solidFill>
                <a:srgbClr val="F59E0B"/>
              </a:solidFill>
              <a:ln w="12700">
                <a:solidFill>
                  <a:srgbClr val="F59E0B"/>
                </a:solidFill>
                <a:prstDash val="solid"/>
              </a:ln>
            </p:spPr>
            <p:txBody>
              <a:bodyPr/>
              <a:lstStyle/>
              <a:p>
                <a:endParaRPr lang="en-IN" sz="2400"/>
              </a:p>
            </p:txBody>
          </p:sp>
          <p:sp>
            <p:nvSpPr>
              <p:cNvPr id="53" name="Text 51"/>
              <p:cNvSpPr/>
              <p:nvPr/>
            </p:nvSpPr>
            <p:spPr>
              <a:xfrm>
                <a:off x="9022080" y="2316480"/>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Content</a:t>
                </a:r>
                <a:endParaRPr lang="en-US" sz="1067" dirty="0"/>
              </a:p>
            </p:txBody>
          </p:sp>
          <p:sp>
            <p:nvSpPr>
              <p:cNvPr id="54" name="Text 52"/>
              <p:cNvSpPr/>
              <p:nvPr/>
            </p:nvSpPr>
            <p:spPr>
              <a:xfrm>
                <a:off x="9022080" y="2511552"/>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Generated response draft</a:t>
                </a:r>
                <a:endParaRPr lang="en-US" sz="933" dirty="0"/>
              </a:p>
            </p:txBody>
          </p:sp>
          <p:sp>
            <p:nvSpPr>
              <p:cNvPr id="55" name="Shape 53"/>
              <p:cNvSpPr/>
              <p:nvPr/>
            </p:nvSpPr>
            <p:spPr>
              <a:xfrm>
                <a:off x="8802624" y="2804160"/>
                <a:ext cx="158496" cy="158496"/>
              </a:xfrm>
              <a:prstGeom prst="ellipse">
                <a:avLst/>
              </a:prstGeom>
              <a:solidFill>
                <a:srgbClr val="F59E0B"/>
              </a:solidFill>
              <a:ln w="12700">
                <a:solidFill>
                  <a:srgbClr val="F59E0B"/>
                </a:solidFill>
                <a:prstDash val="solid"/>
              </a:ln>
            </p:spPr>
            <p:txBody>
              <a:bodyPr/>
              <a:lstStyle/>
              <a:p>
                <a:endParaRPr lang="en-IN" sz="2400"/>
              </a:p>
            </p:txBody>
          </p:sp>
          <p:sp>
            <p:nvSpPr>
              <p:cNvPr id="56" name="Text 54"/>
              <p:cNvSpPr/>
              <p:nvPr/>
            </p:nvSpPr>
            <p:spPr>
              <a:xfrm>
                <a:off x="9022080" y="2731008"/>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QA Agent</a:t>
                </a:r>
                <a:endParaRPr lang="en-US" sz="1067" dirty="0"/>
              </a:p>
            </p:txBody>
          </p:sp>
          <p:sp>
            <p:nvSpPr>
              <p:cNvPr id="57" name="Text 55"/>
              <p:cNvSpPr/>
              <p:nvPr/>
            </p:nvSpPr>
            <p:spPr>
              <a:xfrm>
                <a:off x="9022080" y="2926080"/>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Validated compliance</a:t>
                </a:r>
                <a:endParaRPr lang="en-US" sz="933" dirty="0"/>
              </a:p>
            </p:txBody>
          </p:sp>
          <p:sp>
            <p:nvSpPr>
              <p:cNvPr id="58" name="Shape 56"/>
              <p:cNvSpPr/>
              <p:nvPr/>
            </p:nvSpPr>
            <p:spPr>
              <a:xfrm>
                <a:off x="8802624" y="3218688"/>
                <a:ext cx="158496" cy="158496"/>
              </a:xfrm>
              <a:prstGeom prst="ellipse">
                <a:avLst/>
              </a:prstGeom>
              <a:solidFill>
                <a:srgbClr val="F59E0B"/>
              </a:solidFill>
              <a:ln w="12700">
                <a:solidFill>
                  <a:srgbClr val="F59E0B"/>
                </a:solidFill>
                <a:prstDash val="solid"/>
              </a:ln>
            </p:spPr>
            <p:txBody>
              <a:bodyPr/>
              <a:lstStyle/>
              <a:p>
                <a:endParaRPr lang="en-IN" sz="2400"/>
              </a:p>
            </p:txBody>
          </p:sp>
          <p:sp>
            <p:nvSpPr>
              <p:cNvPr id="59" name="Text 57"/>
              <p:cNvSpPr/>
              <p:nvPr/>
            </p:nvSpPr>
            <p:spPr>
              <a:xfrm>
                <a:off x="9022080" y="3145536"/>
                <a:ext cx="2438400" cy="219456"/>
              </a:xfrm>
              <a:prstGeom prst="rect">
                <a:avLst/>
              </a:prstGeom>
              <a:noFill/>
              <a:ln/>
            </p:spPr>
            <p:txBody>
              <a:bodyPr wrap="square" rtlCol="0" anchor="ctr"/>
              <a:lstStyle/>
              <a:p>
                <a:r>
                  <a:rPr lang="en-US" sz="1067" b="1" dirty="0">
                    <a:solidFill>
                      <a:srgbClr val="FFFFFF"/>
                    </a:solidFill>
                    <a:latin typeface="Calibri" pitchFamily="34" charset="0"/>
                    <a:ea typeface="Calibri" pitchFamily="34" charset="-122"/>
                    <a:cs typeface="Calibri" pitchFamily="34" charset="-120"/>
                  </a:rPr>
                  <a:t>Orchestrator</a:t>
                </a:r>
                <a:endParaRPr lang="en-US" sz="1067" dirty="0"/>
              </a:p>
            </p:txBody>
          </p:sp>
          <p:sp>
            <p:nvSpPr>
              <p:cNvPr id="60" name="Text 58"/>
              <p:cNvSpPr/>
              <p:nvPr/>
            </p:nvSpPr>
            <p:spPr>
              <a:xfrm>
                <a:off x="9022080" y="3340608"/>
                <a:ext cx="2438400" cy="195072"/>
              </a:xfrm>
              <a:prstGeom prst="rect">
                <a:avLst/>
              </a:prstGeom>
              <a:noFill/>
              <a:ln/>
            </p:spPr>
            <p:txBody>
              <a:bodyPr wrap="square" rtlCol="0" anchor="ctr"/>
              <a:lstStyle/>
              <a:p>
                <a:r>
                  <a:rPr lang="en-US" sz="933" dirty="0">
                    <a:solidFill>
                      <a:srgbClr val="6B7280"/>
                    </a:solidFill>
                    <a:latin typeface="Calibri" pitchFamily="34" charset="0"/>
                    <a:ea typeface="Calibri" pitchFamily="34" charset="-122"/>
                    <a:cs typeface="Calibri" pitchFamily="34" charset="-120"/>
                  </a:rPr>
                  <a:t>→ Final approval pending</a:t>
                </a:r>
                <a:endParaRPr lang="en-US" sz="933" dirty="0"/>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95FA952E-0CBF-1B35-7081-1CE9E697FD3E}"/>
              </a:ext>
            </a:extLst>
          </p:cNvPr>
          <p:cNvSpPr/>
          <p:nvPr/>
        </p:nvSpPr>
        <p:spPr>
          <a:xfrm>
            <a:off x="698104" y="1208683"/>
            <a:ext cx="10795793" cy="1540073"/>
          </a:xfrm>
          <a:prstGeom prst="rect">
            <a:avLst/>
          </a:prstGeom>
          <a:noFill/>
          <a:ln/>
        </p:spPr>
        <p:txBody>
          <a:bodyPr wrap="none" lIns="0" tIns="0" rIns="0" bIns="0" rtlCol="0" anchor="t"/>
          <a:lstStyle/>
          <a:p>
            <a:pPr>
              <a:lnSpc>
                <a:spcPts val="12125"/>
              </a:lnSpc>
            </a:pPr>
            <a:r>
              <a:rPr lang="en-US" sz="3667" b="1" dirty="0">
                <a:solidFill>
                  <a:srgbClr val="3371A5"/>
                </a:solidFill>
                <a:latin typeface="Aptos" panose="020B0004020202020204" pitchFamily="34" charset="0"/>
                <a:ea typeface="Source Serif 4 Semi Bold" pitchFamily="34" charset="-122"/>
                <a:cs typeface="Source Serif 4 Semi Bold" pitchFamily="34" charset="-120"/>
              </a:rPr>
              <a:t>Thank You</a:t>
            </a:r>
            <a:endParaRPr lang="en-US" sz="3667" b="1" dirty="0">
              <a:solidFill>
                <a:srgbClr val="3371A5"/>
              </a:solidFill>
              <a:latin typeface="Aptos" panose="020B0004020202020204" pitchFamily="34" charset="0"/>
            </a:endParaRPr>
          </a:p>
        </p:txBody>
      </p:sp>
      <p:sp>
        <p:nvSpPr>
          <p:cNvPr id="5" name="Text 2">
            <a:extLst>
              <a:ext uri="{FF2B5EF4-FFF2-40B4-BE49-F238E27FC236}">
                <a16:creationId xmlns:a16="http://schemas.microsoft.com/office/drawing/2014/main" id="{8FFC65EC-6FB1-E16A-C6CF-371A5E0AF00B}"/>
              </a:ext>
            </a:extLst>
          </p:cNvPr>
          <p:cNvSpPr/>
          <p:nvPr/>
        </p:nvSpPr>
        <p:spPr>
          <a:xfrm>
            <a:off x="698104" y="3010495"/>
            <a:ext cx="10795793" cy="349052"/>
          </a:xfrm>
          <a:prstGeom prst="rect">
            <a:avLst/>
          </a:prstGeom>
          <a:noFill/>
          <a:ln/>
        </p:spPr>
        <p:txBody>
          <a:bodyPr wrap="none" lIns="0" tIns="0" rIns="0" bIns="0" rtlCol="0" anchor="t"/>
          <a:lstStyle/>
          <a:p>
            <a:pPr>
              <a:lnSpc>
                <a:spcPts val="2708"/>
              </a:lnSpc>
            </a:pPr>
            <a:r>
              <a:rPr lang="en-US" sz="1708" dirty="0">
                <a:solidFill>
                  <a:srgbClr val="272525"/>
                </a:solidFill>
                <a:latin typeface="Aptos" panose="020B0004020202020204" pitchFamily="34" charset="0"/>
                <a:ea typeface="Source Sans 3" pitchFamily="34" charset="-122"/>
                <a:cs typeface="Source Sans 3" pitchFamily="34" charset="-120"/>
              </a:rPr>
              <a:t>We appreciate your time and look forward to your feedback on the session.</a:t>
            </a:r>
            <a:endParaRPr lang="en-US" sz="1708" dirty="0">
              <a:latin typeface="Aptos" panose="020B0004020202020204" pitchFamily="34" charset="0"/>
            </a:endParaRPr>
          </a:p>
        </p:txBody>
      </p:sp>
      <p:sp>
        <p:nvSpPr>
          <p:cNvPr id="6" name="Text 3">
            <a:extLst>
              <a:ext uri="{FF2B5EF4-FFF2-40B4-BE49-F238E27FC236}">
                <a16:creationId xmlns:a16="http://schemas.microsoft.com/office/drawing/2014/main" id="{E1CEE0C2-7123-CE89-40D7-7A5C9397DAB6}"/>
              </a:ext>
            </a:extLst>
          </p:cNvPr>
          <p:cNvSpPr/>
          <p:nvPr/>
        </p:nvSpPr>
        <p:spPr>
          <a:xfrm>
            <a:off x="698104" y="3555901"/>
            <a:ext cx="10795793" cy="558403"/>
          </a:xfrm>
          <a:prstGeom prst="rect">
            <a:avLst/>
          </a:prstGeom>
          <a:noFill/>
          <a:ln/>
        </p:spPr>
        <p:txBody>
          <a:bodyPr wrap="square" lIns="0" tIns="0" rIns="0" bIns="0" rtlCol="0" anchor="t"/>
          <a:lstStyle/>
          <a:p>
            <a:pPr>
              <a:lnSpc>
                <a:spcPts val="2167"/>
              </a:lnSpc>
            </a:pPr>
            <a:endParaRPr lang="en-US" sz="1333" dirty="0">
              <a:latin typeface="Aptos" panose="020B0004020202020204" pitchFamily="34" charset="0"/>
            </a:endParaRPr>
          </a:p>
        </p:txBody>
      </p:sp>
      <p:sp>
        <p:nvSpPr>
          <p:cNvPr id="7" name="Text 4">
            <a:extLst>
              <a:ext uri="{FF2B5EF4-FFF2-40B4-BE49-F238E27FC236}">
                <a16:creationId xmlns:a16="http://schemas.microsoft.com/office/drawing/2014/main" id="{0E06CE62-0BE4-A4E8-1ED0-F6BAECDDB932}"/>
              </a:ext>
            </a:extLst>
          </p:cNvPr>
          <p:cNvSpPr/>
          <p:nvPr/>
        </p:nvSpPr>
        <p:spPr>
          <a:xfrm>
            <a:off x="698103" y="4376044"/>
            <a:ext cx="2053432" cy="256679"/>
          </a:xfrm>
          <a:prstGeom prst="rect">
            <a:avLst/>
          </a:prstGeom>
          <a:noFill/>
          <a:ln/>
        </p:spPr>
        <p:txBody>
          <a:bodyPr wrap="none" lIns="0" tIns="0" rIns="0" bIns="0" rtlCol="0" anchor="t"/>
          <a:lstStyle/>
          <a:p>
            <a:pPr>
              <a:lnSpc>
                <a:spcPts val="2000"/>
              </a:lnSpc>
            </a:pPr>
            <a:endParaRPr lang="en-US" sz="1583" b="1" dirty="0">
              <a:latin typeface="Aptos" panose="020B0004020202020204" pitchFamily="34" charset="0"/>
            </a:endParaRPr>
          </a:p>
        </p:txBody>
      </p:sp>
      <p:sp>
        <p:nvSpPr>
          <p:cNvPr id="8" name="Text 5">
            <a:extLst>
              <a:ext uri="{FF2B5EF4-FFF2-40B4-BE49-F238E27FC236}">
                <a16:creationId xmlns:a16="http://schemas.microsoft.com/office/drawing/2014/main" id="{2E785DAF-10C4-8E23-8366-AE75AB96B43F}"/>
              </a:ext>
            </a:extLst>
          </p:cNvPr>
          <p:cNvSpPr/>
          <p:nvPr/>
        </p:nvSpPr>
        <p:spPr>
          <a:xfrm>
            <a:off x="698104" y="4894461"/>
            <a:ext cx="10795793" cy="279202"/>
          </a:xfrm>
          <a:prstGeom prst="rect">
            <a:avLst/>
          </a:prstGeom>
          <a:noFill/>
          <a:ln/>
        </p:spPr>
        <p:txBody>
          <a:bodyPr wrap="none" lIns="0" tIns="0" rIns="0" bIns="0" rtlCol="0" anchor="t"/>
          <a:lstStyle/>
          <a:p>
            <a:pPr>
              <a:lnSpc>
                <a:spcPts val="2167"/>
              </a:lnSpc>
            </a:pPr>
            <a:endParaRPr lang="en-US" sz="1333" dirty="0">
              <a:latin typeface="Aptos" panose="020B0004020202020204" pitchFamily="34" charset="0"/>
            </a:endParaRPr>
          </a:p>
        </p:txBody>
      </p:sp>
      <p:sp>
        <p:nvSpPr>
          <p:cNvPr id="9" name="Text 6">
            <a:extLst>
              <a:ext uri="{FF2B5EF4-FFF2-40B4-BE49-F238E27FC236}">
                <a16:creationId xmlns:a16="http://schemas.microsoft.com/office/drawing/2014/main" id="{FDF2E0B6-D26A-B06E-BDC9-B0F21A5B794D}"/>
              </a:ext>
            </a:extLst>
          </p:cNvPr>
          <p:cNvSpPr/>
          <p:nvPr/>
        </p:nvSpPr>
        <p:spPr>
          <a:xfrm>
            <a:off x="698104" y="5370017"/>
            <a:ext cx="10795793" cy="279202"/>
          </a:xfrm>
          <a:prstGeom prst="rect">
            <a:avLst/>
          </a:prstGeom>
          <a:noFill/>
          <a:ln/>
        </p:spPr>
        <p:txBody>
          <a:bodyPr wrap="none" lIns="0" tIns="0" rIns="0" bIns="0" rtlCol="0" anchor="t"/>
          <a:lstStyle/>
          <a:p>
            <a:pPr>
              <a:lnSpc>
                <a:spcPts val="2167"/>
              </a:lnSpc>
            </a:pPr>
            <a:endParaRPr lang="en-US" sz="1333" dirty="0">
              <a:latin typeface="Aptos" panose="020B0004020202020204" pitchFamily="34" charset="0"/>
            </a:endParaRPr>
          </a:p>
        </p:txBody>
      </p:sp>
      <p:sp>
        <p:nvSpPr>
          <p:cNvPr id="10" name="TextBox 9">
            <a:extLst>
              <a:ext uri="{FF2B5EF4-FFF2-40B4-BE49-F238E27FC236}">
                <a16:creationId xmlns:a16="http://schemas.microsoft.com/office/drawing/2014/main" id="{AFC2E06D-3706-D238-AD17-9018152C5588}"/>
              </a:ext>
            </a:extLst>
          </p:cNvPr>
          <p:cNvSpPr txBox="1"/>
          <p:nvPr/>
        </p:nvSpPr>
        <p:spPr>
          <a:xfrm>
            <a:off x="598713" y="4900438"/>
            <a:ext cx="9638762" cy="692626"/>
          </a:xfrm>
          <a:prstGeom prst="rect">
            <a:avLst/>
          </a:prstGeom>
          <a:noFill/>
        </p:spPr>
        <p:txBody>
          <a:bodyPr wrap="square" lIns="76200" tIns="38100" rIns="76200" bIns="38100" rtlCol="0" anchor="t">
            <a:spAutoFit/>
          </a:bodyPr>
          <a:lstStyle/>
          <a:p>
            <a:pPr defTabSz="571463">
              <a:lnSpc>
                <a:spcPct val="150000"/>
              </a:lnSpc>
              <a:spcBef>
                <a:spcPts val="833"/>
              </a:spcBef>
              <a:defRPr/>
            </a:pPr>
            <a:r>
              <a:rPr lang="en-US" sz="1667" b="1" dirty="0">
                <a:solidFill>
                  <a:sysClr val="windowText" lastClr="000000"/>
                </a:solidFill>
                <a:latin typeface="Aptos" panose="02110004020202020204"/>
              </a:rPr>
              <a:t>Contact us: </a:t>
            </a:r>
            <a:r>
              <a:rPr lang="en-US" sz="1667" dirty="0" err="1">
                <a:solidFill>
                  <a:sysClr val="windowText" lastClr="000000"/>
                </a:solidFill>
                <a:latin typeface="Aptos" panose="02110004020202020204"/>
              </a:rPr>
              <a:t>TekFrameworks</a:t>
            </a:r>
            <a:r>
              <a:rPr lang="en-US" sz="1667" dirty="0">
                <a:solidFill>
                  <a:sysClr val="windowText" lastClr="000000"/>
                </a:solidFill>
                <a:latin typeface="Aptos" panose="02110004020202020204"/>
              </a:rPr>
              <a:t> Consulting | info@tekFrameworks.com | </a:t>
            </a:r>
            <a:r>
              <a:rPr lang="en-US" sz="1667" dirty="0">
                <a:solidFill>
                  <a:sysClr val="windowText" lastClr="000000"/>
                </a:solidFill>
                <a:latin typeface="Aptos" panose="02110004020202020204"/>
                <a:hlinkClick r:id="rId2">
                  <a:extLst>
                    <a:ext uri="{A12FA001-AC4F-418D-AE19-62706E023703}">
                      <ahyp:hlinkClr xmlns:ahyp="http://schemas.microsoft.com/office/drawing/2018/hyperlinkcolor" val="tx"/>
                    </a:ext>
                  </a:extLst>
                </a:hlinkClick>
              </a:rPr>
              <a:t>www.tekFrameworks.com</a:t>
            </a:r>
            <a:endParaRPr lang="en-US" sz="1667" dirty="0">
              <a:solidFill>
                <a:sysClr val="windowText" lastClr="000000"/>
              </a:solidFill>
              <a:latin typeface="Aptos" panose="02110004020202020204"/>
            </a:endParaRPr>
          </a:p>
          <a:p>
            <a:endParaRPr lang="en-IN" sz="1500" dirty="0"/>
          </a:p>
        </p:txBody>
      </p:sp>
      <p:sp>
        <p:nvSpPr>
          <p:cNvPr id="11" name="TextBox 10">
            <a:extLst>
              <a:ext uri="{FF2B5EF4-FFF2-40B4-BE49-F238E27FC236}">
                <a16:creationId xmlns:a16="http://schemas.microsoft.com/office/drawing/2014/main" id="{33D20968-CEB0-7BBC-F240-F30F897D0EED}"/>
              </a:ext>
            </a:extLst>
          </p:cNvPr>
          <p:cNvSpPr txBox="1"/>
          <p:nvPr/>
        </p:nvSpPr>
        <p:spPr>
          <a:xfrm>
            <a:off x="615279" y="5389549"/>
            <a:ext cx="10978008" cy="631135"/>
          </a:xfrm>
          <a:prstGeom prst="rect">
            <a:avLst/>
          </a:prstGeom>
          <a:noFill/>
        </p:spPr>
        <p:txBody>
          <a:bodyPr wrap="square">
            <a:spAutoFit/>
          </a:bodyPr>
          <a:lstStyle/>
          <a:p>
            <a:r>
              <a:rPr lang="en-US" sz="1167" b="1" dirty="0">
                <a:solidFill>
                  <a:schemeClr val="tx1">
                    <a:lumMod val="50000"/>
                    <a:lumOff val="50000"/>
                  </a:schemeClr>
                </a:solidFill>
                <a:latin typeface="Aptos" panose="020B0004020202020204" pitchFamily="34" charset="0"/>
              </a:rPr>
              <a:t>Confidentiality Notice:</a:t>
            </a:r>
            <a:r>
              <a:rPr lang="en-US" sz="1167" dirty="0">
                <a:solidFill>
                  <a:schemeClr val="tx1">
                    <a:lumMod val="50000"/>
                    <a:lumOff val="50000"/>
                  </a:schemeClr>
                </a:solidFill>
                <a:latin typeface="Aptos" panose="020B0004020202020204" pitchFamily="34" charset="0"/>
              </a:rPr>
              <a:t> This proposal is proprietary to </a:t>
            </a:r>
            <a:r>
              <a:rPr lang="en-US" sz="1167" b="1" dirty="0" err="1">
                <a:solidFill>
                  <a:schemeClr val="tx1">
                    <a:lumMod val="50000"/>
                    <a:lumOff val="50000"/>
                  </a:schemeClr>
                </a:solidFill>
                <a:latin typeface="Aptos" panose="020B0004020202020204" pitchFamily="34" charset="0"/>
              </a:rPr>
              <a:t>TekFrameworks</a:t>
            </a:r>
            <a:r>
              <a:rPr lang="en-US" sz="1167" b="1" dirty="0">
                <a:solidFill>
                  <a:schemeClr val="tx1">
                    <a:lumMod val="50000"/>
                    <a:lumOff val="50000"/>
                  </a:schemeClr>
                </a:solidFill>
                <a:latin typeface="Aptos" panose="020B0004020202020204" pitchFamily="34" charset="0"/>
              </a:rPr>
              <a:t> Consulting Pvt. Ltd.</a:t>
            </a:r>
            <a:r>
              <a:rPr lang="en-US" sz="1167" dirty="0">
                <a:solidFill>
                  <a:schemeClr val="tx1">
                    <a:lumMod val="50000"/>
                    <a:lumOff val="50000"/>
                  </a:schemeClr>
                </a:solidFill>
                <a:latin typeface="Aptos" panose="020B0004020202020204" pitchFamily="34" charset="0"/>
              </a:rPr>
              <a:t> and is intended solely for the Client’s evaluation. It may not be shared with third parties. The contents are non-binding; any engagement will be governed by a separate written agreement. </a:t>
            </a:r>
            <a:r>
              <a:rPr lang="en-US" sz="1167" dirty="0">
                <a:solidFill>
                  <a:schemeClr val="tx1">
                    <a:lumMod val="50000"/>
                    <a:lumOff val="50000"/>
                  </a:schemeClr>
                </a:solidFill>
              </a:rPr>
              <a:t>For Client Use Only | </a:t>
            </a:r>
            <a:r>
              <a:rPr lang="en-US" sz="1167" dirty="0" err="1">
                <a:solidFill>
                  <a:schemeClr val="tx1">
                    <a:lumMod val="50000"/>
                    <a:lumOff val="50000"/>
                  </a:schemeClr>
                </a:solidFill>
              </a:rPr>
              <a:t>TekFrameworks</a:t>
            </a:r>
            <a:r>
              <a:rPr lang="en-US" sz="1167" dirty="0">
                <a:solidFill>
                  <a:schemeClr val="tx1">
                    <a:lumMod val="50000"/>
                    <a:lumOff val="50000"/>
                  </a:schemeClr>
                </a:solidFill>
              </a:rPr>
              <a:t> Consulting Pvt. Ltd.| </a:t>
            </a:r>
            <a:r>
              <a:rPr lang="en-US" sz="1167" dirty="0">
                <a:solidFill>
                  <a:schemeClr val="tx1">
                    <a:lumMod val="50000"/>
                    <a:lumOff val="50000"/>
                  </a:schemeClr>
                </a:solidFill>
                <a:latin typeface="Aptos" panose="020B0004020202020204" pitchFamily="34" charset="0"/>
                <a:ea typeface="Arimo" pitchFamily="34" charset="-122"/>
                <a:cs typeface="Arimo" pitchFamily="34" charset="-120"/>
              </a:rPr>
              <a:t>© 2025 </a:t>
            </a:r>
            <a:r>
              <a:rPr lang="en-US" sz="1167" dirty="0" err="1">
                <a:solidFill>
                  <a:schemeClr val="tx1">
                    <a:lumMod val="50000"/>
                    <a:lumOff val="50000"/>
                  </a:schemeClr>
                </a:solidFill>
                <a:latin typeface="Aptos" panose="020B0004020202020204" pitchFamily="34" charset="0"/>
                <a:ea typeface="Arimo" pitchFamily="34" charset="-122"/>
                <a:cs typeface="Arimo" pitchFamily="34" charset="-120"/>
              </a:rPr>
              <a:t>TekFrameworks</a:t>
            </a:r>
            <a:endParaRPr lang="en-US" sz="1167" dirty="0">
              <a:solidFill>
                <a:schemeClr val="tx1">
                  <a:lumMod val="50000"/>
                  <a:lumOff val="50000"/>
                </a:schemeClr>
              </a:solidFill>
              <a:latin typeface="Aptos" panose="020B0004020202020204" pitchFamily="34" charset="0"/>
            </a:endParaRPr>
          </a:p>
        </p:txBody>
      </p:sp>
    </p:spTree>
    <p:extLst>
      <p:ext uri="{BB962C8B-B14F-4D97-AF65-F5344CB8AC3E}">
        <p14:creationId xmlns:p14="http://schemas.microsoft.com/office/powerpoint/2010/main" val="87874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201F187EA96D45A77F35A83ED9C810" ma:contentTypeVersion="11" ma:contentTypeDescription="Create a new document." ma:contentTypeScope="" ma:versionID="eb7c4225b1d7acbf8013dd2961a7125c">
  <xsd:schema xmlns:xsd="http://www.w3.org/2001/XMLSchema" xmlns:xs="http://www.w3.org/2001/XMLSchema" xmlns:p="http://schemas.microsoft.com/office/2006/metadata/properties" xmlns:ns2="d72bb015-d30e-438f-bebd-9dcff434cd81" targetNamespace="http://schemas.microsoft.com/office/2006/metadata/properties" ma:root="true" ma:fieldsID="ed557a2eaf168b3c0eb41ea14ab70a57" ns2:_="">
    <xsd:import namespace="d72bb015-d30e-438f-bebd-9dcff434cd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2bb015-d30e-438f-bebd-9dcff434cd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5e9b2b4-0c22-4bb6-a936-3d840cce8f6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72bb015-d30e-438f-bebd-9dcff434cd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1E2007-4EAA-4A7B-9F5A-6B270509370A}"/>
</file>

<file path=customXml/itemProps2.xml><?xml version="1.0" encoding="utf-8"?>
<ds:datastoreItem xmlns:ds="http://schemas.openxmlformats.org/officeDocument/2006/customXml" ds:itemID="{A2AD82C5-375D-4277-ACDE-F9EEC7F226A4}">
  <ds:schemaRefs>
    <ds:schemaRef ds:uri="http://purl.org/dc/elements/1.1/"/>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purl.org/dc/terms/"/>
    <ds:schemaRef ds:uri="d72bb015-d30e-438f-bebd-9dcff434cd81"/>
    <ds:schemaRef ds:uri="http://www.w3.org/XML/1998/namespace"/>
    <ds:schemaRef ds:uri="http://schemas.microsoft.com/office/2006/metadata/properties"/>
  </ds:schemaRefs>
</ds:datastoreItem>
</file>

<file path=customXml/itemProps3.xml><?xml version="1.0" encoding="utf-8"?>
<ds:datastoreItem xmlns:ds="http://schemas.openxmlformats.org/officeDocument/2006/customXml" ds:itemID="{832A29B4-A177-4BC8-813D-BA4A99FA08C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4686</TotalTime>
  <Words>5358</Words>
  <Application>Microsoft Office PowerPoint</Application>
  <PresentationFormat>Widescreen</PresentationFormat>
  <Paragraphs>542</Paragraphs>
  <Slides>37</Slides>
  <Notes>21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Arial</vt:lpstr>
      <vt:lpstr>Calibri</vt:lpstr>
      <vt:lpstr>Calibri Light</vt:lpstr>
      <vt:lpstr>Consolas</vt:lpstr>
      <vt:lpstr>Roboto</vt:lpstr>
      <vt:lpstr>Wingdings</vt:lpstr>
      <vt:lpstr>Office Theme</vt:lpstr>
      <vt:lpstr>From Tools to Teammates: Creating Autonomous AI Agents</vt:lpstr>
      <vt:lpstr>PowerPoint Presentation</vt:lpstr>
      <vt:lpstr>Workflow automation isn’t enough…</vt:lpstr>
      <vt:lpstr>Workflow vs Agents</vt:lpstr>
      <vt:lpstr>Agent: Digital employee</vt:lpstr>
      <vt:lpstr>How intelligent systems reason</vt:lpstr>
      <vt:lpstr>Anatomy of an agentic flow</vt:lpstr>
      <vt:lpstr>Single vs Multi-Agent Systems</vt:lpstr>
      <vt:lpstr>Guardrails and Boundaries</vt:lpstr>
      <vt:lpstr>Agentic Workflow Design</vt:lpstr>
      <vt:lpstr>LangFlow: A Visual Agent Builder</vt:lpstr>
      <vt:lpstr>Mcp &amp; a2a</vt:lpstr>
      <vt:lpstr>The integration problem</vt:lpstr>
      <vt:lpstr>From APIs to MCP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Company Structures..</vt:lpstr>
      <vt:lpstr>PowerPoint Presentation</vt:lpstr>
      <vt:lpstr>PowerPoint Presentation</vt:lpstr>
      <vt:lpstr>Governance, Observability &amp; Risk</vt:lpstr>
      <vt:lpstr>PowerPoint Presentation</vt:lpstr>
      <vt:lpstr>Agent Governance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Murthy Kolluru</dc:creator>
  <cp:lastModifiedBy>Anand Jayaraman</cp:lastModifiedBy>
  <cp:revision>12</cp:revision>
  <dcterms:created xsi:type="dcterms:W3CDTF">2025-04-01T05:21:39Z</dcterms:created>
  <dcterms:modified xsi:type="dcterms:W3CDTF">2026-03-17T04:30:55Z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0x010100D6201F187EA96D45A77F35A83ED9C810</vt:lpwstr>
  </property>
  <property fmtid="{D5CDD505-2E9C-101B-9397-08002B2CF9AE}" pid="3" name="MediaServiceImageTags">
    <vt:lpwstr/>
  </property>
</Properties>
</file>